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77" r:id="rId6"/>
    <p:sldId id="279" r:id="rId7"/>
    <p:sldId id="276" r:id="rId8"/>
    <p:sldId id="280" r:id="rId9"/>
    <p:sldId id="262" r:id="rId10"/>
    <p:sldId id="278" r:id="rId11"/>
    <p:sldId id="282" r:id="rId12"/>
    <p:sldId id="284" r:id="rId13"/>
    <p:sldId id="285" r:id="rId14"/>
    <p:sldId id="265" r:id="rId15"/>
    <p:sldId id="273" r:id="rId16"/>
    <p:sldId id="275" r:id="rId17"/>
    <p:sldId id="268" r:id="rId18"/>
    <p:sldId id="267" r:id="rId19"/>
    <p:sldId id="274" r:id="rId20"/>
    <p:sldId id="270" r:id="rId21"/>
    <p:sldId id="271" r:id="rId22"/>
  </p:sldIdLst>
  <p:sldSz cx="12192000" cy="6858000"/>
  <p:notesSz cx="6858000" cy="9144000"/>
  <p:embeddedFontLst>
    <p:embeddedFont>
      <p:font typeface="Cambria Math" panose="02040503050406030204" pitchFamily="18" charset="0"/>
      <p:regular r:id="rId24"/>
    </p:embeddedFont>
    <p:embeddedFont>
      <p:font typeface="Candara" panose="020E0502030303020204" pitchFamily="34" charset="0"/>
      <p:regular r:id="rId25"/>
      <p:bold r:id="rId26"/>
      <p:italic r:id="rId27"/>
      <p:bold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E7E7"/>
    <a:srgbClr val="FF2C5A"/>
    <a:srgbClr val="FF764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458"/>
    <p:restoredTop sz="80740"/>
  </p:normalViewPr>
  <p:slideViewPr>
    <p:cSldViewPr snapToGrid="0">
      <p:cViewPr varScale="1">
        <p:scale>
          <a:sx n="85" d="100"/>
          <a:sy n="85" d="100"/>
        </p:scale>
        <p:origin x="70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469529-9877-6F48-8CA1-65625AABBD6A}" type="datetimeFigureOut">
              <a:rPr lang="en-US" smtClean="0"/>
              <a:t>12/7/25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4DCE83-FC53-BD40-9964-AEF35E8658D2}" type="slidenum">
              <a:rPr lang="en-US" smtClean="0"/>
              <a:t>‹#›</a:t>
            </a:fld>
            <a:endParaRPr lang="en-US"/>
          </a:p>
        </p:txBody>
      </p:sp>
    </p:spTree>
    <p:extLst>
      <p:ext uri="{BB962C8B-B14F-4D97-AF65-F5344CB8AC3E}">
        <p14:creationId xmlns:p14="http://schemas.microsoft.com/office/powerpoint/2010/main" val="21782844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First, let me introduce the settings of anonymous tokens.</a:t>
            </a:r>
          </a:p>
          <a:p>
            <a:pPr marL="228600" indent="-228600">
              <a:buAutoNum type="arabicPeriod"/>
            </a:pPr>
            <a:r>
              <a:rPr lang="en-US" dirty="0"/>
              <a:t>Here we have an issuer, user, verifier. The issuer has their own secret and public keys. We denote the user identity with some </a:t>
            </a:r>
            <a:r>
              <a:rPr lang="en-US" dirty="0" err="1"/>
              <a:t>pk_U</a:t>
            </a:r>
            <a:endParaRPr lang="en-US" dirty="0"/>
          </a:p>
          <a:p>
            <a:pPr marL="228600" indent="-228600">
              <a:buAutoNum type="arabicPeriod"/>
            </a:pPr>
            <a:r>
              <a:rPr lang="en-US" dirty="0"/>
              <a:t>Here, user and issuer interacts so that the user receives a token / token dispenser bound to the user identity. (Make it clear that token generator --  )</a:t>
            </a:r>
          </a:p>
          <a:p>
            <a:pPr marL="228600" indent="-228600">
              <a:buAutoNum type="arabicPeriod"/>
            </a:pPr>
            <a:r>
              <a:rPr lang="en-US" dirty="0"/>
              <a:t>Say the user wants to access some service provided by the verifier. The verifier might ask the users to authenticate that they are authorized by the issuer. The user then generates a token (which also contains a serial number) and send them to the verifier.</a:t>
            </a:r>
          </a:p>
          <a:p>
            <a:pPr marL="228600" indent="-228600">
              <a:buAutoNum type="arabicPeriod"/>
            </a:pPr>
            <a:r>
              <a:rPr lang="en-US" dirty="0"/>
              <a:t>We also require anonymity to hold, meaning even if the issuer and verifier collude, they cannot track/link the user’s activity.</a:t>
            </a:r>
          </a:p>
          <a:p>
            <a:pPr marL="228600" indent="-228600">
              <a:buAutoNum type="arabicPeriod"/>
            </a:pPr>
            <a:r>
              <a:rPr lang="en-US" dirty="0"/>
              <a:t>An example of this primitive is the Privacy pass protocol which is used to bypass captchas in browsers. </a:t>
            </a:r>
          </a:p>
          <a:p>
            <a:endParaRPr lang="en-US" dirty="0"/>
          </a:p>
          <a:p>
            <a:endParaRPr lang="en-US" dirty="0"/>
          </a:p>
        </p:txBody>
      </p:sp>
      <p:sp>
        <p:nvSpPr>
          <p:cNvPr id="4" name="Slide Number Placeholder 3"/>
          <p:cNvSpPr>
            <a:spLocks noGrp="1"/>
          </p:cNvSpPr>
          <p:nvPr>
            <p:ph type="sldNum" sz="quarter" idx="5"/>
          </p:nvPr>
        </p:nvSpPr>
        <p:spPr/>
        <p:txBody>
          <a:bodyPr/>
          <a:lstStyle/>
          <a:p>
            <a:fld id="{DD4DCE83-FC53-BD40-9964-AEF35E8658D2}" type="slidenum">
              <a:rPr lang="en-US" smtClean="0"/>
              <a:t>2</a:t>
            </a:fld>
            <a:endParaRPr lang="en-US"/>
          </a:p>
        </p:txBody>
      </p:sp>
    </p:spTree>
    <p:extLst>
      <p:ext uri="{BB962C8B-B14F-4D97-AF65-F5344CB8AC3E}">
        <p14:creationId xmlns:p14="http://schemas.microsoft.com/office/powerpoint/2010/main" val="1583782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some case, one might want to rate-limit the tokens: so that they can be used for specific context for a limited number of times.</a:t>
            </a:r>
          </a:p>
          <a:p>
            <a:pPr marL="228600" indent="-228600">
              <a:buAutoNum type="arabicPeriod"/>
            </a:pPr>
            <a:r>
              <a:rPr lang="en-US" dirty="0"/>
              <a:t>For Example: accessing website but for limited time per day or something</a:t>
            </a:r>
          </a:p>
          <a:p>
            <a:pPr marL="228600" indent="-228600">
              <a:buAutoNum type="arabicPeriod"/>
            </a:pPr>
            <a:r>
              <a:rPr lang="en-US" dirty="0"/>
              <a:t>The required security properties are unforgeability which says that (read out) and </a:t>
            </a:r>
            <a:r>
              <a:rPr lang="en-US" dirty="0" err="1"/>
              <a:t>linkability</a:t>
            </a:r>
            <a:r>
              <a:rPr lang="en-US" dirty="0"/>
              <a:t> which says that (read out)</a:t>
            </a:r>
          </a:p>
          <a:p>
            <a:pPr marL="0" indent="0">
              <a:buNone/>
            </a:pPr>
            <a:r>
              <a:rPr lang="en-US" dirty="0"/>
              <a:t>We note that the rate-limited primitives such as credentials are being standardized in the IETF</a:t>
            </a:r>
          </a:p>
          <a:p>
            <a:pPr marL="0" indent="0">
              <a:buNone/>
            </a:pPr>
            <a:endParaRPr lang="en-US" dirty="0"/>
          </a:p>
          <a:p>
            <a:pPr marL="0" indent="0">
              <a:buNone/>
            </a:pPr>
            <a:r>
              <a:rPr lang="en-US" dirty="0"/>
              <a:t>(Move things a bit closer--maybe out of bounds?)</a:t>
            </a:r>
          </a:p>
        </p:txBody>
      </p:sp>
      <p:sp>
        <p:nvSpPr>
          <p:cNvPr id="4" name="Slide Number Placeholder 3"/>
          <p:cNvSpPr>
            <a:spLocks noGrp="1"/>
          </p:cNvSpPr>
          <p:nvPr>
            <p:ph type="sldNum" sz="quarter" idx="5"/>
          </p:nvPr>
        </p:nvSpPr>
        <p:spPr/>
        <p:txBody>
          <a:bodyPr/>
          <a:lstStyle/>
          <a:p>
            <a:fld id="{DD4DCE83-FC53-BD40-9964-AEF35E8658D2}" type="slidenum">
              <a:rPr lang="en-US" smtClean="0"/>
              <a:t>3</a:t>
            </a:fld>
            <a:endParaRPr lang="en-US"/>
          </a:p>
        </p:txBody>
      </p:sp>
    </p:spTree>
    <p:extLst>
      <p:ext uri="{BB962C8B-B14F-4D97-AF65-F5344CB8AC3E}">
        <p14:creationId xmlns:p14="http://schemas.microsoft.com/office/powerpoint/2010/main" val="20172476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particular way to achieve this property as shown in the e-cash protocol by Camenisch Hohenberger and </a:t>
            </a:r>
            <a:r>
              <a:rPr lang="en-US" dirty="0" err="1"/>
              <a:t>Lysyanskaya</a:t>
            </a:r>
            <a:r>
              <a:rPr lang="en-US" dirty="0"/>
              <a:t> is as follows:</a:t>
            </a:r>
          </a:p>
          <a:p>
            <a:pPr marL="228600" indent="-228600">
              <a:buAutoNum type="arabicPeriod"/>
            </a:pPr>
            <a:r>
              <a:rPr lang="en-US" dirty="0"/>
              <a:t>In the issuance phase, the user samples a PRF key and interacts in a protocol where it receives a signature of the key and its identity. </a:t>
            </a:r>
          </a:p>
          <a:p>
            <a:pPr marL="228600" indent="-228600">
              <a:buAutoNum type="arabicPeriod"/>
            </a:pPr>
            <a:r>
              <a:rPr lang="en-US" dirty="0"/>
              <a:t>To produce tokens, it computes the “serial number” by evaluating the PRF on </a:t>
            </a:r>
            <a:r>
              <a:rPr lang="en-US" dirty="0" err="1"/>
              <a:t>ctxt</a:t>
            </a:r>
            <a:r>
              <a:rPr lang="en-US" dirty="0"/>
              <a:t> || counter. Along with a proof of knowledge of the (</a:t>
            </a:r>
            <a:r>
              <a:rPr lang="en-US" dirty="0" err="1"/>
              <a:t>prf</a:t>
            </a:r>
            <a:r>
              <a:rPr lang="en-US" dirty="0"/>
              <a:t> key, </a:t>
            </a:r>
            <a:r>
              <a:rPr lang="en-US" dirty="0" err="1"/>
              <a:t>coutner</a:t>
            </a:r>
            <a:r>
              <a:rPr lang="en-US" dirty="0"/>
              <a:t>, </a:t>
            </a:r>
            <a:r>
              <a:rPr lang="en-US" dirty="0" err="1"/>
              <a:t>pk_U</a:t>
            </a:r>
            <a:r>
              <a:rPr lang="en-US" dirty="0"/>
              <a:t>, signature) that (1) serial number is computed correctly, (2) </a:t>
            </a:r>
            <a:r>
              <a:rPr lang="en-US" dirty="0" err="1"/>
              <a:t>coutner</a:t>
            </a:r>
            <a:r>
              <a:rPr lang="en-US" dirty="0"/>
              <a:t> is bounded by the rate-limit N, (3) signature is valid for key, </a:t>
            </a:r>
            <a:r>
              <a:rPr lang="en-US" dirty="0" err="1"/>
              <a:t>pk_U</a:t>
            </a:r>
            <a:r>
              <a:rPr lang="en-US" dirty="0"/>
              <a:t> </a:t>
            </a:r>
            <a:r>
              <a:rPr lang="en-US" dirty="0" err="1"/>
              <a:t>w.r.t.</a:t>
            </a:r>
            <a:r>
              <a:rPr lang="en-US" dirty="0"/>
              <a:t> issuer’s key.</a:t>
            </a:r>
          </a:p>
          <a:p>
            <a:pPr marL="0" indent="0">
              <a:buNone/>
            </a:pPr>
            <a:r>
              <a:rPr lang="en-US" dirty="0"/>
              <a:t>I note that this construction however only achieves computational anonymity due to </a:t>
            </a:r>
            <a:r>
              <a:rPr lang="en-US" dirty="0" err="1"/>
              <a:t>sn</a:t>
            </a:r>
            <a:r>
              <a:rPr lang="en-US" dirty="0"/>
              <a:t> computationally </a:t>
            </a:r>
            <a:r>
              <a:rPr lang="en-US" dirty="0" err="1"/>
              <a:t>indist</a:t>
            </a:r>
            <a:r>
              <a:rPr lang="en-US" dirty="0"/>
              <a:t> from random. (Saying out loud why this is unforgeability -- counter is bounded... Domain of PRF...) (SMARK + AES) (lattice) or (group-based but comp)</a:t>
            </a:r>
          </a:p>
        </p:txBody>
      </p:sp>
      <p:sp>
        <p:nvSpPr>
          <p:cNvPr id="4" name="Slide Number Placeholder 3"/>
          <p:cNvSpPr>
            <a:spLocks noGrp="1"/>
          </p:cNvSpPr>
          <p:nvPr>
            <p:ph type="sldNum" sz="quarter" idx="5"/>
          </p:nvPr>
        </p:nvSpPr>
        <p:spPr/>
        <p:txBody>
          <a:bodyPr/>
          <a:lstStyle/>
          <a:p>
            <a:fld id="{DD4DCE83-FC53-BD40-9964-AEF35E8658D2}" type="slidenum">
              <a:rPr lang="en-US" smtClean="0"/>
              <a:t>4</a:t>
            </a:fld>
            <a:endParaRPr lang="en-US"/>
          </a:p>
        </p:txBody>
      </p:sp>
    </p:spTree>
    <p:extLst>
      <p:ext uri="{BB962C8B-B14F-4D97-AF65-F5344CB8AC3E}">
        <p14:creationId xmlns:p14="http://schemas.microsoft.com/office/powerpoint/2010/main" val="35851798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1A96F-8004-1CE2-54BA-F91824141D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7C2F4B-15E6-8CA3-6080-70844659B2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718C4F-449B-B1A4-64AB-335A2DE46CB9}"/>
              </a:ext>
            </a:extLst>
          </p:cNvPr>
          <p:cNvSpPr>
            <a:spLocks noGrp="1"/>
          </p:cNvSpPr>
          <p:nvPr>
            <p:ph type="body" idx="1"/>
          </p:nvPr>
        </p:nvSpPr>
        <p:spPr/>
        <p:txBody>
          <a:bodyPr/>
          <a:lstStyle/>
          <a:p>
            <a:r>
              <a:rPr lang="en-US" dirty="0"/>
              <a:t>Here is also some token size comparison with lattice-based constructions of similar primitives</a:t>
            </a:r>
          </a:p>
          <a:p>
            <a:pPr marL="171450" indent="-171450">
              <a:buFontTx/>
              <a:buChar char="-"/>
            </a:pPr>
            <a:r>
              <a:rPr lang="en-US" dirty="0"/>
              <a:t>Compared to blind signatures which are one-time rate-limiting: our token size is slightly smaller</a:t>
            </a:r>
          </a:p>
          <a:p>
            <a:pPr marL="171450" indent="-171450">
              <a:buFontTx/>
              <a:buChar char="-"/>
            </a:pPr>
            <a:r>
              <a:rPr lang="en-US" dirty="0"/>
              <a:t>To Batched blind signatures (which give similar guarantee to us without “context-based” rate-limiting), our sizes are much smaller.</a:t>
            </a:r>
          </a:p>
          <a:p>
            <a:pPr marL="171450" indent="-171450">
              <a:buFontTx/>
              <a:buChar char="-"/>
            </a:pPr>
            <a:r>
              <a:rPr lang="en-US" dirty="0"/>
              <a:t>Compared to anonymous credentials (without rate-limitation), we also have smaller sizes. </a:t>
            </a:r>
          </a:p>
          <a:p>
            <a:pPr marL="171450" indent="-171450">
              <a:buFontTx/>
              <a:buChar char="-"/>
            </a:pPr>
            <a:endParaRPr lang="en-US" dirty="0"/>
          </a:p>
          <a:p>
            <a:pPr marL="171450" indent="-171450">
              <a:buFontTx/>
              <a:buChar char="-"/>
            </a:pPr>
            <a:endParaRPr lang="en-US" dirty="0"/>
          </a:p>
        </p:txBody>
      </p:sp>
      <p:sp>
        <p:nvSpPr>
          <p:cNvPr id="4" name="Slide Number Placeholder 3">
            <a:extLst>
              <a:ext uri="{FF2B5EF4-FFF2-40B4-BE49-F238E27FC236}">
                <a16:creationId xmlns:a16="http://schemas.microsoft.com/office/drawing/2014/main" id="{381603BE-34E7-0C8D-672B-CA2800C35313}"/>
              </a:ext>
            </a:extLst>
          </p:cNvPr>
          <p:cNvSpPr>
            <a:spLocks noGrp="1"/>
          </p:cNvSpPr>
          <p:nvPr>
            <p:ph type="sldNum" sz="quarter" idx="5"/>
          </p:nvPr>
        </p:nvSpPr>
        <p:spPr/>
        <p:txBody>
          <a:bodyPr/>
          <a:lstStyle/>
          <a:p>
            <a:fld id="{DD4DCE83-FC53-BD40-9964-AEF35E8658D2}" type="slidenum">
              <a:rPr lang="en-US" smtClean="0"/>
              <a:t>7</a:t>
            </a:fld>
            <a:endParaRPr lang="en-US"/>
          </a:p>
        </p:txBody>
      </p:sp>
    </p:spTree>
    <p:extLst>
      <p:ext uri="{BB962C8B-B14F-4D97-AF65-F5344CB8AC3E}">
        <p14:creationId xmlns:p14="http://schemas.microsoft.com/office/powerpoint/2010/main" val="38493436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results is as follows:</a:t>
            </a:r>
          </a:p>
          <a:p>
            <a:pPr marL="171450" indent="-171450">
              <a:buFontTx/>
              <a:buChar char="-"/>
            </a:pPr>
            <a:r>
              <a:rPr lang="en-US" dirty="0"/>
              <a:t>We give a pairing-based construction with everlasting anonymity guarantee. Our unforgeability and </a:t>
            </a:r>
            <a:r>
              <a:rPr lang="en-US" dirty="0" err="1"/>
              <a:t>linkability</a:t>
            </a:r>
            <a:r>
              <a:rPr lang="en-US" dirty="0"/>
              <a:t> is based on q-type assumption + DDH + random oracle</a:t>
            </a:r>
          </a:p>
          <a:p>
            <a:pPr marL="171450" indent="-171450">
              <a:buFontTx/>
              <a:buChar char="-"/>
            </a:pPr>
            <a:r>
              <a:rPr lang="en-US" dirty="0"/>
              <a:t>Token generation time is independent of the bound on number of tokens per dispenser.</a:t>
            </a:r>
          </a:p>
        </p:txBody>
      </p:sp>
      <p:sp>
        <p:nvSpPr>
          <p:cNvPr id="4" name="Slide Number Placeholder 3"/>
          <p:cNvSpPr>
            <a:spLocks noGrp="1"/>
          </p:cNvSpPr>
          <p:nvPr>
            <p:ph type="sldNum" sz="quarter" idx="5"/>
          </p:nvPr>
        </p:nvSpPr>
        <p:spPr/>
        <p:txBody>
          <a:bodyPr/>
          <a:lstStyle/>
          <a:p>
            <a:fld id="{DD4DCE83-FC53-BD40-9964-AEF35E8658D2}" type="slidenum">
              <a:rPr lang="en-US" smtClean="0"/>
              <a:t>9</a:t>
            </a:fld>
            <a:endParaRPr lang="en-US"/>
          </a:p>
        </p:txBody>
      </p:sp>
    </p:spTree>
    <p:extLst>
      <p:ext uri="{BB962C8B-B14F-4D97-AF65-F5344CB8AC3E}">
        <p14:creationId xmlns:p14="http://schemas.microsoft.com/office/powerpoint/2010/main" val="31812403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FCF15-6832-7B8E-C640-BFAEB9910F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FAF476-8AAE-F8E4-16A4-065D983E82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563783-58F9-511C-66DE-0B8477508A3A}"/>
              </a:ext>
            </a:extLst>
          </p:cNvPr>
          <p:cNvSpPr>
            <a:spLocks noGrp="1"/>
          </p:cNvSpPr>
          <p:nvPr>
            <p:ph type="body" idx="1"/>
          </p:nvPr>
        </p:nvSpPr>
        <p:spPr/>
        <p:txBody>
          <a:bodyPr/>
          <a:lstStyle/>
          <a:p>
            <a:r>
              <a:rPr lang="en-US" dirty="0"/>
              <a:t>Here is also some token size comparison with lattice-based constructions of similar primitives</a:t>
            </a:r>
          </a:p>
          <a:p>
            <a:pPr marL="171450" indent="-171450">
              <a:buFontTx/>
              <a:buChar char="-"/>
            </a:pPr>
            <a:r>
              <a:rPr lang="en-US" dirty="0"/>
              <a:t>Compared to blind signatures which are one-time rate-limiting: our token size is slightly smaller</a:t>
            </a:r>
          </a:p>
          <a:p>
            <a:pPr marL="171450" indent="-171450">
              <a:buFontTx/>
              <a:buChar char="-"/>
            </a:pPr>
            <a:r>
              <a:rPr lang="en-US" dirty="0"/>
              <a:t>To Batched blind signatures (which give similar guarantee to us without “context-based” rate-limiting), our sizes are much smaller.</a:t>
            </a:r>
          </a:p>
          <a:p>
            <a:pPr marL="171450" indent="-171450">
              <a:buFontTx/>
              <a:buChar char="-"/>
            </a:pPr>
            <a:r>
              <a:rPr lang="en-US" dirty="0"/>
              <a:t>Compared to anonymous credentials (without rate-limitation), we also have smaller sizes. </a:t>
            </a:r>
          </a:p>
          <a:p>
            <a:pPr marL="171450" indent="-171450">
              <a:buFontTx/>
              <a:buChar char="-"/>
            </a:pPr>
            <a:endParaRPr lang="en-US" dirty="0"/>
          </a:p>
          <a:p>
            <a:pPr marL="171450" indent="-171450">
              <a:buFontTx/>
              <a:buChar char="-"/>
            </a:pPr>
            <a:endParaRPr lang="en-US" dirty="0"/>
          </a:p>
        </p:txBody>
      </p:sp>
      <p:sp>
        <p:nvSpPr>
          <p:cNvPr id="4" name="Slide Number Placeholder 3">
            <a:extLst>
              <a:ext uri="{FF2B5EF4-FFF2-40B4-BE49-F238E27FC236}">
                <a16:creationId xmlns:a16="http://schemas.microsoft.com/office/drawing/2014/main" id="{E745D597-B22B-7B20-DF84-F801295013E4}"/>
              </a:ext>
            </a:extLst>
          </p:cNvPr>
          <p:cNvSpPr>
            <a:spLocks noGrp="1"/>
          </p:cNvSpPr>
          <p:nvPr>
            <p:ph type="sldNum" sz="quarter" idx="5"/>
          </p:nvPr>
        </p:nvSpPr>
        <p:spPr/>
        <p:txBody>
          <a:bodyPr/>
          <a:lstStyle/>
          <a:p>
            <a:fld id="{DD4DCE83-FC53-BD40-9964-AEF35E8658D2}" type="slidenum">
              <a:rPr lang="en-US" smtClean="0"/>
              <a:t>10</a:t>
            </a:fld>
            <a:endParaRPr lang="en-US"/>
          </a:p>
        </p:txBody>
      </p:sp>
    </p:spTree>
    <p:extLst>
      <p:ext uri="{BB962C8B-B14F-4D97-AF65-F5344CB8AC3E}">
        <p14:creationId xmlns:p14="http://schemas.microsoft.com/office/powerpoint/2010/main" val="40025005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0B66E-3F14-C2E2-3C54-644F609DC6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8D747D-2936-9661-A69B-61ABEC69F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F46A4F-0C20-A6D0-A6AD-9A612B16DA50}"/>
              </a:ext>
            </a:extLst>
          </p:cNvPr>
          <p:cNvSpPr>
            <a:spLocks noGrp="1"/>
          </p:cNvSpPr>
          <p:nvPr>
            <p:ph type="body" idx="1"/>
          </p:nvPr>
        </p:nvSpPr>
        <p:spPr/>
        <p:txBody>
          <a:bodyPr/>
          <a:lstStyle/>
          <a:p>
            <a:r>
              <a:rPr lang="en-US" dirty="0"/>
              <a:t>Here is how we define everlasting anonymity (pretty hard to follow -- computational (version))</a:t>
            </a:r>
          </a:p>
          <a:p>
            <a:r>
              <a:rPr lang="en-US" dirty="0"/>
              <a:t>Not easy to follow. (power of the simulator) (Rationalize how we come up with it.) *** Spell out the real user, Show will use the token generator. (Merge with the next slide.)</a:t>
            </a:r>
          </a:p>
          <a:p>
            <a:r>
              <a:rPr lang="en-US" dirty="0"/>
              <a:t>(k how large? )</a:t>
            </a:r>
          </a:p>
          <a:p>
            <a:endParaRPr lang="en-US" dirty="0"/>
          </a:p>
          <a:p>
            <a:r>
              <a:rPr lang="en-US" dirty="0"/>
              <a:t>1. We have unbounded adversary acting as the issuer</a:t>
            </a:r>
          </a:p>
          <a:p>
            <a:r>
              <a:rPr lang="en-US" dirty="0"/>
              <a:t>2. it is given a CRS and can pick a malicious public key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 A’s goal is to guess which world (real, simulated) it is in correctly. To do so, it has access to the following oracles</a:t>
            </a:r>
          </a:p>
          <a:p>
            <a:r>
              <a:rPr lang="en-US" dirty="0"/>
              <a:t>4. It has access to a user oracle either interacting with a real or simulated user</a:t>
            </a:r>
          </a:p>
          <a:p>
            <a:r>
              <a:rPr lang="en-US" dirty="0"/>
              <a:t>5. Then, it has access to a show oracle where it can ask the user to produce tokens based on a specified context (again either real or simulated). </a:t>
            </a:r>
          </a:p>
          <a:p>
            <a:r>
              <a:rPr lang="en-US" dirty="0"/>
              <a:t>Note that the simulator in this case would not know the user's public key nor keep any state.</a:t>
            </a:r>
          </a:p>
          <a:p>
            <a:r>
              <a:rPr lang="en-US" dirty="0"/>
              <a:t>6. There is some restriction on this oracle in that the adv cannot query more that the rate-limit per context nor exceed some overall limit k per token dispenser. </a:t>
            </a:r>
          </a:p>
          <a:p>
            <a:endParaRPr lang="en-US" dirty="0"/>
          </a:p>
        </p:txBody>
      </p:sp>
      <p:sp>
        <p:nvSpPr>
          <p:cNvPr id="4" name="Slide Number Placeholder 3">
            <a:extLst>
              <a:ext uri="{FF2B5EF4-FFF2-40B4-BE49-F238E27FC236}">
                <a16:creationId xmlns:a16="http://schemas.microsoft.com/office/drawing/2014/main" id="{39B27327-233B-A09D-1901-F6447F8E9DF5}"/>
              </a:ext>
            </a:extLst>
          </p:cNvPr>
          <p:cNvSpPr>
            <a:spLocks noGrp="1"/>
          </p:cNvSpPr>
          <p:nvPr>
            <p:ph type="sldNum" sz="quarter" idx="5"/>
          </p:nvPr>
        </p:nvSpPr>
        <p:spPr/>
        <p:txBody>
          <a:bodyPr/>
          <a:lstStyle/>
          <a:p>
            <a:fld id="{DD4DCE83-FC53-BD40-9964-AEF35E8658D2}" type="slidenum">
              <a:rPr lang="en-US" smtClean="0"/>
              <a:t>11</a:t>
            </a:fld>
            <a:endParaRPr lang="en-US"/>
          </a:p>
        </p:txBody>
      </p:sp>
    </p:spTree>
    <p:extLst>
      <p:ext uri="{BB962C8B-B14F-4D97-AF65-F5344CB8AC3E}">
        <p14:creationId xmlns:p14="http://schemas.microsoft.com/office/powerpoint/2010/main" val="411182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DBB48-5CC2-1412-9C70-88C7D5CFF6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00C2F6-3367-2CE7-530F-348BC1CD03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6A934F-9AAB-D5C3-71B1-AC1D5D829B0D}"/>
              </a:ext>
            </a:extLst>
          </p:cNvPr>
          <p:cNvSpPr>
            <a:spLocks noGrp="1"/>
          </p:cNvSpPr>
          <p:nvPr>
            <p:ph type="body" idx="1"/>
          </p:nvPr>
        </p:nvSpPr>
        <p:spPr/>
        <p:txBody>
          <a:bodyPr/>
          <a:lstStyle/>
          <a:p>
            <a:r>
              <a:rPr lang="en-US" dirty="0"/>
              <a:t>Here is how we define everlasting anonymity (pretty hard to follow -- computational (version))</a:t>
            </a:r>
          </a:p>
          <a:p>
            <a:r>
              <a:rPr lang="en-US" dirty="0"/>
              <a:t>Not easy to follow. (power of the simulator) (Rationalize how we come up with it.) *** Spell out the real user, Show will use the token generator. (Merge with the next slide.)</a:t>
            </a:r>
          </a:p>
          <a:p>
            <a:r>
              <a:rPr lang="en-US" dirty="0"/>
              <a:t>(k how large? )</a:t>
            </a:r>
          </a:p>
          <a:p>
            <a:endParaRPr lang="en-US" dirty="0"/>
          </a:p>
          <a:p>
            <a:r>
              <a:rPr lang="en-US" dirty="0"/>
              <a:t>1. We have unbounded adversary acting as the issuer</a:t>
            </a:r>
          </a:p>
          <a:p>
            <a:r>
              <a:rPr lang="en-US" dirty="0"/>
              <a:t>2. it is given a CRS and can pick a malicious public key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 A’s goal is to guess which world (real, simulated) it is in correctly. To do so, it has access to the following oracles</a:t>
            </a:r>
          </a:p>
          <a:p>
            <a:r>
              <a:rPr lang="en-US" dirty="0"/>
              <a:t>4. It has access to a user oracle either interacting with a real or simulated user</a:t>
            </a:r>
          </a:p>
          <a:p>
            <a:r>
              <a:rPr lang="en-US" dirty="0"/>
              <a:t>5. Then, it has access to a show oracle where it can ask the user to produce tokens based on a specified context (again either real or simulated). </a:t>
            </a:r>
          </a:p>
          <a:p>
            <a:r>
              <a:rPr lang="en-US" dirty="0"/>
              <a:t>Note that the simulator in this case would not know the user's public key nor keep any state.</a:t>
            </a:r>
          </a:p>
          <a:p>
            <a:r>
              <a:rPr lang="en-US" dirty="0"/>
              <a:t>6. There is some restriction on this oracle in that the adv cannot query more that the rate-limit per context nor exceed some overall limit k per token dispenser. </a:t>
            </a:r>
          </a:p>
          <a:p>
            <a:endParaRPr lang="en-US" dirty="0"/>
          </a:p>
        </p:txBody>
      </p:sp>
      <p:sp>
        <p:nvSpPr>
          <p:cNvPr id="4" name="Slide Number Placeholder 3">
            <a:extLst>
              <a:ext uri="{FF2B5EF4-FFF2-40B4-BE49-F238E27FC236}">
                <a16:creationId xmlns:a16="http://schemas.microsoft.com/office/drawing/2014/main" id="{E92CCD71-1C92-0AEA-8827-49E1E8F08D39}"/>
              </a:ext>
            </a:extLst>
          </p:cNvPr>
          <p:cNvSpPr>
            <a:spLocks noGrp="1"/>
          </p:cNvSpPr>
          <p:nvPr>
            <p:ph type="sldNum" sz="quarter" idx="5"/>
          </p:nvPr>
        </p:nvSpPr>
        <p:spPr/>
        <p:txBody>
          <a:bodyPr/>
          <a:lstStyle/>
          <a:p>
            <a:fld id="{DD4DCE83-FC53-BD40-9964-AEF35E8658D2}" type="slidenum">
              <a:rPr lang="en-US" smtClean="0"/>
              <a:t>12</a:t>
            </a:fld>
            <a:endParaRPr lang="en-US"/>
          </a:p>
        </p:txBody>
      </p:sp>
    </p:spTree>
    <p:extLst>
      <p:ext uri="{BB962C8B-B14F-4D97-AF65-F5344CB8AC3E}">
        <p14:creationId xmlns:p14="http://schemas.microsoft.com/office/powerpoint/2010/main" val="15763881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3B86A-25A1-7F6F-4546-56E178873F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316C52-F73E-B69C-B462-86F5F499D0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529EBF-2B4D-B3BF-48BD-6220C6A3C134}"/>
              </a:ext>
            </a:extLst>
          </p:cNvPr>
          <p:cNvSpPr>
            <a:spLocks noGrp="1"/>
          </p:cNvSpPr>
          <p:nvPr>
            <p:ph type="body" idx="1"/>
          </p:nvPr>
        </p:nvSpPr>
        <p:spPr/>
        <p:txBody>
          <a:bodyPr/>
          <a:lstStyle/>
          <a:p>
            <a:r>
              <a:rPr lang="en-US" dirty="0"/>
              <a:t>Here is how we define everlasting anonymity (pretty hard to follow -- computational (version))</a:t>
            </a:r>
          </a:p>
          <a:p>
            <a:r>
              <a:rPr lang="en-US" dirty="0"/>
              <a:t>Not easy to follow. (power of the simulator) (Rationalize how we come up with it.) *** Spell out the real user, Show will use the token generator. (Merge with the next slide.)</a:t>
            </a:r>
          </a:p>
          <a:p>
            <a:r>
              <a:rPr lang="en-US" dirty="0"/>
              <a:t>(k how large? )</a:t>
            </a:r>
          </a:p>
          <a:p>
            <a:endParaRPr lang="en-US" dirty="0"/>
          </a:p>
          <a:p>
            <a:r>
              <a:rPr lang="en-US" dirty="0"/>
              <a:t>1. We have unbounded adversary acting as the issuer</a:t>
            </a:r>
          </a:p>
          <a:p>
            <a:r>
              <a:rPr lang="en-US" dirty="0"/>
              <a:t>2. it is given a CRS and can pick a malicious public key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 A’s goal is to guess which world (real, simulated) it is in correctly. To do so, it has access to the following oracles</a:t>
            </a:r>
          </a:p>
          <a:p>
            <a:r>
              <a:rPr lang="en-US" dirty="0"/>
              <a:t>4. It has access to a user oracle either interacting with a real or simulated user</a:t>
            </a:r>
          </a:p>
          <a:p>
            <a:r>
              <a:rPr lang="en-US" dirty="0"/>
              <a:t>5. Then, it has access to a show oracle where it can ask the user to produce tokens based on a specified context (again either real or simulated). </a:t>
            </a:r>
          </a:p>
          <a:p>
            <a:r>
              <a:rPr lang="en-US" dirty="0"/>
              <a:t>Note that the simulator in this case would not know the user's public key nor keep any state.</a:t>
            </a:r>
          </a:p>
          <a:p>
            <a:r>
              <a:rPr lang="en-US" dirty="0"/>
              <a:t>6. There is some restriction on this oracle in that the adv cannot query more that the rate-limit per context nor exceed some overall limit k per token dispenser. </a:t>
            </a:r>
          </a:p>
          <a:p>
            <a:endParaRPr lang="en-US" dirty="0"/>
          </a:p>
        </p:txBody>
      </p:sp>
      <p:sp>
        <p:nvSpPr>
          <p:cNvPr id="4" name="Slide Number Placeholder 3">
            <a:extLst>
              <a:ext uri="{FF2B5EF4-FFF2-40B4-BE49-F238E27FC236}">
                <a16:creationId xmlns:a16="http://schemas.microsoft.com/office/drawing/2014/main" id="{D7C23A62-478F-B40D-41FB-2F6A5CECB803}"/>
              </a:ext>
            </a:extLst>
          </p:cNvPr>
          <p:cNvSpPr>
            <a:spLocks noGrp="1"/>
          </p:cNvSpPr>
          <p:nvPr>
            <p:ph type="sldNum" sz="quarter" idx="5"/>
          </p:nvPr>
        </p:nvSpPr>
        <p:spPr/>
        <p:txBody>
          <a:bodyPr/>
          <a:lstStyle/>
          <a:p>
            <a:fld id="{DD4DCE83-FC53-BD40-9964-AEF35E8658D2}" type="slidenum">
              <a:rPr lang="en-US" smtClean="0"/>
              <a:t>13</a:t>
            </a:fld>
            <a:endParaRPr lang="en-US"/>
          </a:p>
        </p:txBody>
      </p:sp>
    </p:spTree>
    <p:extLst>
      <p:ext uri="{BB962C8B-B14F-4D97-AF65-F5344CB8AC3E}">
        <p14:creationId xmlns:p14="http://schemas.microsoft.com/office/powerpoint/2010/main" val="15812775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achieve everlasting anonymity, we first try to replace the PRF with a k-wise independent function, e.g., random degree-k polynomial. The key idea here is to ensure that the serial numbers will look random for at most k tokens.</a:t>
            </a:r>
          </a:p>
        </p:txBody>
      </p:sp>
      <p:sp>
        <p:nvSpPr>
          <p:cNvPr id="4" name="Slide Number Placeholder 3"/>
          <p:cNvSpPr>
            <a:spLocks noGrp="1"/>
          </p:cNvSpPr>
          <p:nvPr>
            <p:ph type="sldNum" sz="quarter" idx="5"/>
          </p:nvPr>
        </p:nvSpPr>
        <p:spPr/>
        <p:txBody>
          <a:bodyPr/>
          <a:lstStyle/>
          <a:p>
            <a:fld id="{DD4DCE83-FC53-BD40-9964-AEF35E8658D2}" type="slidenum">
              <a:rPr lang="en-US" smtClean="0"/>
              <a:t>14</a:t>
            </a:fld>
            <a:endParaRPr lang="en-US"/>
          </a:p>
        </p:txBody>
      </p:sp>
    </p:spTree>
    <p:extLst>
      <p:ext uri="{BB962C8B-B14F-4D97-AF65-F5344CB8AC3E}">
        <p14:creationId xmlns:p14="http://schemas.microsoft.com/office/powerpoint/2010/main" val="30085700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Fleshing this out, the user first sample the polynomial. </a:t>
            </a:r>
          </a:p>
          <a:p>
            <a:r>
              <a:rPr lang="en-US" dirty="0"/>
              <a:t>1. commit to it using a KZG commitment</a:t>
            </a:r>
          </a:p>
          <a:p>
            <a:r>
              <a:rPr lang="en-US" dirty="0"/>
              <a:t>2. Sign using structure preserving signatures (which signs group elements).</a:t>
            </a:r>
          </a:p>
          <a:p>
            <a:r>
              <a:rPr lang="en-US" dirty="0"/>
              <a:t>3. Using the signature we can produce the following proof of knowledge which proves similar relation to before, except that instead of proving that the computation of f is done correctly, we prove that the user “knows” a corresponding evaluation opening to the signed commitment instead. </a:t>
            </a:r>
          </a:p>
          <a:p>
            <a:r>
              <a:rPr lang="en-US" dirty="0"/>
              <a:t>4. Note that here we achieve anonymity through k-wise independence, statistical hiding of KZG commitment, and statistical ZK. </a:t>
            </a:r>
          </a:p>
          <a:p>
            <a:endParaRPr lang="en-US" dirty="0"/>
          </a:p>
          <a:p>
            <a:r>
              <a:rPr lang="en-US" dirty="0"/>
              <a:t>(Mention </a:t>
            </a:r>
            <a:r>
              <a:rPr lang="en-US" dirty="0" err="1"/>
              <a:t>Groth</a:t>
            </a:r>
            <a:r>
              <a:rPr lang="en-US" dirty="0"/>
              <a:t>-Sahai for the pairing-product equations check) </a:t>
            </a:r>
          </a:p>
          <a:p>
            <a:endParaRPr lang="en-US" dirty="0"/>
          </a:p>
        </p:txBody>
      </p:sp>
      <p:sp>
        <p:nvSpPr>
          <p:cNvPr id="4" name="Slide Number Placeholder 3"/>
          <p:cNvSpPr>
            <a:spLocks noGrp="1"/>
          </p:cNvSpPr>
          <p:nvPr>
            <p:ph type="sldNum" sz="quarter" idx="5"/>
          </p:nvPr>
        </p:nvSpPr>
        <p:spPr/>
        <p:txBody>
          <a:bodyPr/>
          <a:lstStyle/>
          <a:p>
            <a:fld id="{DD4DCE83-FC53-BD40-9964-AEF35E8658D2}" type="slidenum">
              <a:rPr lang="en-US" smtClean="0"/>
              <a:t>15</a:t>
            </a:fld>
            <a:endParaRPr lang="en-US"/>
          </a:p>
        </p:txBody>
      </p:sp>
    </p:spTree>
    <p:extLst>
      <p:ext uri="{BB962C8B-B14F-4D97-AF65-F5344CB8AC3E}">
        <p14:creationId xmlns:p14="http://schemas.microsoft.com/office/powerpoint/2010/main" val="11276274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downside of this construction, however, is that computing the serial number and opening now runs in time linear in this bound k “per each token generation”</a:t>
            </a:r>
          </a:p>
          <a:p>
            <a:endParaRPr lang="en-US" dirty="0"/>
          </a:p>
          <a:p>
            <a:r>
              <a:rPr lang="en-US" dirty="0" err="1"/>
              <a:t>open_f</a:t>
            </a:r>
            <a:r>
              <a:rPr lang="en-US" dirty="0"/>
              <a:t> fonts</a:t>
            </a:r>
          </a:p>
          <a:p>
            <a:endParaRPr lang="en-US" dirty="0"/>
          </a:p>
        </p:txBody>
      </p:sp>
      <p:sp>
        <p:nvSpPr>
          <p:cNvPr id="4" name="Slide Number Placeholder 3"/>
          <p:cNvSpPr>
            <a:spLocks noGrp="1"/>
          </p:cNvSpPr>
          <p:nvPr>
            <p:ph type="sldNum" sz="quarter" idx="5"/>
          </p:nvPr>
        </p:nvSpPr>
        <p:spPr/>
        <p:txBody>
          <a:bodyPr/>
          <a:lstStyle/>
          <a:p>
            <a:fld id="{DD4DCE83-FC53-BD40-9964-AEF35E8658D2}" type="slidenum">
              <a:rPr lang="en-US" smtClean="0"/>
              <a:t>16</a:t>
            </a:fld>
            <a:endParaRPr lang="en-US"/>
          </a:p>
        </p:txBody>
      </p:sp>
    </p:spTree>
    <p:extLst>
      <p:ext uri="{BB962C8B-B14F-4D97-AF65-F5344CB8AC3E}">
        <p14:creationId xmlns:p14="http://schemas.microsoft.com/office/powerpoint/2010/main" val="36994177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fix this, we do the following.</a:t>
            </a:r>
          </a:p>
          <a:p>
            <a:pPr marL="228600" indent="-228600">
              <a:buAutoNum type="arabicPeriod"/>
            </a:pPr>
            <a:r>
              <a:rPr lang="en-US" dirty="0"/>
              <a:t>We replace the polynomial with (almost) k-wise independent function with fast evaluation (make it clear that this is not defined yet, will mention next slide) -- Change naming?</a:t>
            </a:r>
          </a:p>
          <a:p>
            <a:pPr marL="228600" indent="-228600">
              <a:buAutoNum type="arabicPeriod"/>
            </a:pPr>
            <a:r>
              <a:rPr lang="en-US" dirty="0"/>
              <a:t>Still commit to function keys with KZG commitments, but due to the structure of the function keys, some openings can be precomputed, allowing for faster token generation time.</a:t>
            </a:r>
          </a:p>
          <a:p>
            <a:pPr marL="228600" indent="-228600">
              <a:buAutoNum type="arabicPeriod"/>
            </a:pPr>
            <a:r>
              <a:rPr lang="en-US" dirty="0"/>
              <a:t>Proof of knowledge is similar to before that showing knowledge of valid commitment and signatures, valid openings, and that these valid openings correspond to the correct evaluation of the function.</a:t>
            </a:r>
          </a:p>
          <a:p>
            <a:pPr marL="228600" indent="-228600">
              <a:buAutoNum type="arabicPeriod"/>
            </a:pPr>
            <a:endParaRPr lang="en-US" dirty="0"/>
          </a:p>
        </p:txBody>
      </p:sp>
      <p:sp>
        <p:nvSpPr>
          <p:cNvPr id="4" name="Slide Number Placeholder 3"/>
          <p:cNvSpPr>
            <a:spLocks noGrp="1"/>
          </p:cNvSpPr>
          <p:nvPr>
            <p:ph type="sldNum" sz="quarter" idx="5"/>
          </p:nvPr>
        </p:nvSpPr>
        <p:spPr/>
        <p:txBody>
          <a:bodyPr/>
          <a:lstStyle/>
          <a:p>
            <a:fld id="{DD4DCE83-FC53-BD40-9964-AEF35E8658D2}" type="slidenum">
              <a:rPr lang="en-US" smtClean="0"/>
              <a:t>17</a:t>
            </a:fld>
            <a:endParaRPr lang="en-US"/>
          </a:p>
        </p:txBody>
      </p:sp>
    </p:spTree>
    <p:extLst>
      <p:ext uri="{BB962C8B-B14F-4D97-AF65-F5344CB8AC3E}">
        <p14:creationId xmlns:p14="http://schemas.microsoft.com/office/powerpoint/2010/main" val="28309068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bit fast... on this slide...)</a:t>
            </a:r>
          </a:p>
          <a:p>
            <a:r>
              <a:rPr lang="en-US" dirty="0"/>
              <a:t>(Trimming down things--O(\lambda) degrees)</a:t>
            </a:r>
          </a:p>
          <a:p>
            <a:endParaRPr lang="en-US" dirty="0"/>
          </a:p>
          <a:p>
            <a:r>
              <a:rPr lang="en-US" dirty="0"/>
              <a:t>To give some idea on how the function works, </a:t>
            </a:r>
          </a:p>
          <a:p>
            <a:r>
              <a:rPr lang="en-US" dirty="0"/>
              <a:t>1. We have the input fed to three functions f1, f2, g</a:t>
            </a:r>
          </a:p>
          <a:p>
            <a:r>
              <a:rPr lang="en-US" dirty="0"/>
              <a:t>2. Then, the output of f1, f2 are used as an index to large look-up tables T1 T2.</a:t>
            </a:r>
          </a:p>
          <a:p>
            <a:r>
              <a:rPr lang="en-US" dirty="0"/>
              <a:t>3. Finally, the output of g and these table entries are summed together to the output</a:t>
            </a:r>
          </a:p>
          <a:p>
            <a:endParaRPr lang="en-US" dirty="0"/>
          </a:p>
          <a:p>
            <a:r>
              <a:rPr lang="en-US" dirty="0"/>
              <a:t>Note that in this construction, f1, f2, g are only security-parameter -wise independent functions and T1, T2 are random tables of size linear in k. Assuming that one can lookup the tables in constant time, the running time now only relates to computing f1,f2, g and doing the lookups. (in the RAM model). </a:t>
            </a:r>
          </a:p>
          <a:p>
            <a:endParaRPr lang="en-US" dirty="0"/>
          </a:p>
          <a:p>
            <a:r>
              <a:rPr lang="en-US" dirty="0"/>
              <a:t>It is already known that this construction satisfies "</a:t>
            </a:r>
            <a:r>
              <a:rPr lang="en-US" dirty="0" err="1"/>
              <a:t>pseudorandomness</a:t>
            </a:r>
            <a:r>
              <a:rPr lang="en-US" dirty="0"/>
              <a:t>" against unbounded </a:t>
            </a:r>
            <a:r>
              <a:rPr lang="en-US" dirty="0" err="1"/>
              <a:t>adveraries</a:t>
            </a:r>
            <a:r>
              <a:rPr lang="en-US" dirty="0"/>
              <a:t> with at most k adaptive query to evaluation oracle.   (Pseudorandom against ... w/o evaluation oracle... )</a:t>
            </a:r>
          </a:p>
        </p:txBody>
      </p:sp>
      <p:sp>
        <p:nvSpPr>
          <p:cNvPr id="4" name="Slide Number Placeholder 3"/>
          <p:cNvSpPr>
            <a:spLocks noGrp="1"/>
          </p:cNvSpPr>
          <p:nvPr>
            <p:ph type="sldNum" sz="quarter" idx="5"/>
          </p:nvPr>
        </p:nvSpPr>
        <p:spPr/>
        <p:txBody>
          <a:bodyPr/>
          <a:lstStyle/>
          <a:p>
            <a:fld id="{DD4DCE83-FC53-BD40-9964-AEF35E8658D2}" type="slidenum">
              <a:rPr lang="en-US" smtClean="0"/>
              <a:t>18</a:t>
            </a:fld>
            <a:endParaRPr lang="en-US"/>
          </a:p>
        </p:txBody>
      </p:sp>
    </p:spTree>
    <p:extLst>
      <p:ext uri="{BB962C8B-B14F-4D97-AF65-F5344CB8AC3E}">
        <p14:creationId xmlns:p14="http://schemas.microsoft.com/office/powerpoint/2010/main" val="42276676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the construction work with group-based techniques, we made some small modifications. </a:t>
            </a:r>
          </a:p>
          <a:p>
            <a:r>
              <a:rPr lang="en-US" dirty="0"/>
              <a:t>1. Domain and range are now </a:t>
            </a:r>
            <a:r>
              <a:rPr lang="en-US" dirty="0" err="1"/>
              <a:t>Zp</a:t>
            </a:r>
            <a:r>
              <a:rPr lang="en-US" dirty="0"/>
              <a:t>. f1, f2, g are </a:t>
            </a:r>
            <a:r>
              <a:rPr lang="en-US" dirty="0" err="1"/>
              <a:t>Zp</a:t>
            </a:r>
            <a:r>
              <a:rPr lang="en-US" dirty="0"/>
              <a:t>-polynomials. They will be committed to via KZG. Evaluating and computing will be in time O(\lambda)</a:t>
            </a:r>
          </a:p>
          <a:p>
            <a:r>
              <a:rPr lang="en-US" dirty="0"/>
              <a:t>2. The outputs of f1, f2 are modded down to the range [0, m-1] and used as indices to T1 T2. </a:t>
            </a:r>
          </a:p>
          <a:p>
            <a:r>
              <a:rPr lang="en-US" dirty="0"/>
              <a:t>3. These two tables are also committed to via KZG by committing to the polynomial which evaluates on each index to the corresponding entry. Note that since we know in advance where the openings are going to be, we can precompute these openings. </a:t>
            </a:r>
          </a:p>
          <a:p>
            <a:endParaRPr lang="en-US" dirty="0"/>
          </a:p>
          <a:p>
            <a:r>
              <a:rPr lang="en-US" dirty="0"/>
              <a:t>The modulo computation are more complicated but can be proved via inner-product argument with similar complexity to the range proof that was already used to prove validity of the counter.</a:t>
            </a:r>
          </a:p>
          <a:p>
            <a:endParaRPr lang="en-US" dirty="0"/>
          </a:p>
          <a:p>
            <a:r>
              <a:rPr lang="en-US" dirty="0"/>
              <a:t>(Trim words, inner product arguments, )</a:t>
            </a:r>
          </a:p>
        </p:txBody>
      </p:sp>
      <p:sp>
        <p:nvSpPr>
          <p:cNvPr id="4" name="Slide Number Placeholder 3"/>
          <p:cNvSpPr>
            <a:spLocks noGrp="1"/>
          </p:cNvSpPr>
          <p:nvPr>
            <p:ph type="sldNum" sz="quarter" idx="5"/>
          </p:nvPr>
        </p:nvSpPr>
        <p:spPr/>
        <p:txBody>
          <a:bodyPr/>
          <a:lstStyle/>
          <a:p>
            <a:fld id="{DD4DCE83-FC53-BD40-9964-AEF35E8658D2}" type="slidenum">
              <a:rPr lang="en-US" smtClean="0"/>
              <a:t>19</a:t>
            </a:fld>
            <a:endParaRPr lang="en-US"/>
          </a:p>
        </p:txBody>
      </p:sp>
    </p:spTree>
    <p:extLst>
      <p:ext uri="{BB962C8B-B14F-4D97-AF65-F5344CB8AC3E}">
        <p14:creationId xmlns:p14="http://schemas.microsoft.com/office/powerpoint/2010/main" val="4063024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just to give a summary. </a:t>
            </a:r>
          </a:p>
          <a:p>
            <a:r>
              <a:rPr lang="en-US" dirty="0"/>
              <a:t>- We improve from the strawman construction by eliminating the dependency on k per each token generation </a:t>
            </a:r>
          </a:p>
          <a:p>
            <a:r>
              <a:rPr lang="en-US" dirty="0"/>
              <a:t>- This is paid by larger token sizes and slightly larger user time at issuance</a:t>
            </a:r>
          </a:p>
          <a:p>
            <a:r>
              <a:rPr lang="en-US" dirty="0"/>
              <a:t>- In this talk, I omitted how we achieve other properties such as </a:t>
            </a:r>
            <a:r>
              <a:rPr lang="en-US" dirty="0" err="1"/>
              <a:t>linkability</a:t>
            </a:r>
            <a:r>
              <a:rPr lang="en-US" dirty="0"/>
              <a:t> and </a:t>
            </a:r>
            <a:r>
              <a:rPr lang="en-US" dirty="0" err="1"/>
              <a:t>exculpability</a:t>
            </a:r>
            <a:r>
              <a:rPr lang="en-US" dirty="0"/>
              <a:t>. The latter ensures that no malicious users can frame honest users for double spending.</a:t>
            </a:r>
          </a:p>
          <a:p>
            <a:endParaRPr lang="en-US" dirty="0"/>
          </a:p>
          <a:p>
            <a:r>
              <a:rPr lang="en-US" dirty="0"/>
              <a:t>(Put a check/symbol and cross)</a:t>
            </a:r>
          </a:p>
          <a:p>
            <a:r>
              <a:rPr lang="en-US" dirty="0"/>
              <a:t>(black and red is generally bad)</a:t>
            </a:r>
          </a:p>
          <a:p>
            <a:r>
              <a:rPr lang="en-US" dirty="0"/>
              <a:t>(More on what I expect k to be , N to be) k &gt;&gt; N</a:t>
            </a:r>
          </a:p>
          <a:p>
            <a:endParaRPr lang="en-US" dirty="0"/>
          </a:p>
          <a:p>
            <a:endParaRPr lang="en-US" dirty="0"/>
          </a:p>
        </p:txBody>
      </p:sp>
      <p:sp>
        <p:nvSpPr>
          <p:cNvPr id="4" name="Slide Number Placeholder 3"/>
          <p:cNvSpPr>
            <a:spLocks noGrp="1"/>
          </p:cNvSpPr>
          <p:nvPr>
            <p:ph type="sldNum" sz="quarter" idx="5"/>
          </p:nvPr>
        </p:nvSpPr>
        <p:spPr/>
        <p:txBody>
          <a:bodyPr/>
          <a:lstStyle/>
          <a:p>
            <a:fld id="{DD4DCE83-FC53-BD40-9964-AEF35E8658D2}" type="slidenum">
              <a:rPr lang="en-US" smtClean="0"/>
              <a:t>20</a:t>
            </a:fld>
            <a:endParaRPr lang="en-US"/>
          </a:p>
        </p:txBody>
      </p:sp>
    </p:spTree>
    <p:extLst>
      <p:ext uri="{BB962C8B-B14F-4D97-AF65-F5344CB8AC3E}">
        <p14:creationId xmlns:p14="http://schemas.microsoft.com/office/powerpoint/2010/main" val="5183049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a:t>
            </a:r>
          </a:p>
          <a:p>
            <a:r>
              <a:rPr lang="en-US" dirty="0"/>
              <a:t>- For everlasting anonymity (too quick)</a:t>
            </a:r>
          </a:p>
          <a:p>
            <a:r>
              <a:rPr lang="en-US" dirty="0"/>
              <a:t>- Wording of the last part: Lattice-based token construction with everlasting anonymity</a:t>
            </a:r>
          </a:p>
          <a:p>
            <a:r>
              <a:rPr lang="en-US" dirty="0"/>
              <a:t>- (Best of both worlds)</a:t>
            </a:r>
          </a:p>
          <a:p>
            <a:r>
              <a:rPr lang="en-US" dirty="0"/>
              <a:t>- Reduce texts</a:t>
            </a:r>
          </a:p>
          <a:p>
            <a:r>
              <a:rPr lang="en-US" dirty="0"/>
              <a:t>- Strawman construction... (What is a token dispenser, Why you get unforgeability, )</a:t>
            </a:r>
          </a:p>
        </p:txBody>
      </p:sp>
      <p:sp>
        <p:nvSpPr>
          <p:cNvPr id="4" name="Slide Number Placeholder 3"/>
          <p:cNvSpPr>
            <a:spLocks noGrp="1"/>
          </p:cNvSpPr>
          <p:nvPr>
            <p:ph type="sldNum" sz="quarter" idx="5"/>
          </p:nvPr>
        </p:nvSpPr>
        <p:spPr/>
        <p:txBody>
          <a:bodyPr/>
          <a:lstStyle/>
          <a:p>
            <a:fld id="{DD4DCE83-FC53-BD40-9964-AEF35E8658D2}" type="slidenum">
              <a:rPr lang="en-US" smtClean="0"/>
              <a:t>21</a:t>
            </a:fld>
            <a:endParaRPr lang="en-US"/>
          </a:p>
        </p:txBody>
      </p:sp>
    </p:spTree>
    <p:extLst>
      <p:ext uri="{BB962C8B-B14F-4D97-AF65-F5344CB8AC3E}">
        <p14:creationId xmlns:p14="http://schemas.microsoft.com/office/powerpoint/2010/main" val="34464138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7CF22-B19D-8F12-9165-26BA44AA8C3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3776725-F71C-41F8-9CCB-65A2958001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E895FE4-BB56-5438-0A69-525F3BB1A2A5}"/>
              </a:ext>
            </a:extLst>
          </p:cNvPr>
          <p:cNvSpPr>
            <a:spLocks noGrp="1"/>
          </p:cNvSpPr>
          <p:nvPr>
            <p:ph type="dt" sz="half" idx="10"/>
          </p:nvPr>
        </p:nvSpPr>
        <p:spPr/>
        <p:txBody>
          <a:bodyPr/>
          <a:lstStyle/>
          <a:p>
            <a:fld id="{B59D88ED-9E98-2641-9A56-A9AA953DC179}" type="datetimeFigureOut">
              <a:rPr lang="en-US" smtClean="0"/>
              <a:t>12/7/25</a:t>
            </a:fld>
            <a:endParaRPr lang="en-US"/>
          </a:p>
        </p:txBody>
      </p:sp>
      <p:sp>
        <p:nvSpPr>
          <p:cNvPr id="5" name="Footer Placeholder 4">
            <a:extLst>
              <a:ext uri="{FF2B5EF4-FFF2-40B4-BE49-F238E27FC236}">
                <a16:creationId xmlns:a16="http://schemas.microsoft.com/office/drawing/2014/main" id="{1FC63DB2-24A6-21D6-8704-7C4AC9922A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DB90D8-A403-A665-4A9C-3CDB0B94EF58}"/>
              </a:ext>
            </a:extLst>
          </p:cNvPr>
          <p:cNvSpPr>
            <a:spLocks noGrp="1"/>
          </p:cNvSpPr>
          <p:nvPr>
            <p:ph type="sldNum" sz="quarter" idx="12"/>
          </p:nvPr>
        </p:nvSpPr>
        <p:spPr/>
        <p:txBody>
          <a:bodyPr/>
          <a:lstStyle/>
          <a:p>
            <a:fld id="{9EFC5EAB-1B6E-294E-A754-4A49D6A874E6}" type="slidenum">
              <a:rPr lang="en-US" smtClean="0"/>
              <a:t>‹#›</a:t>
            </a:fld>
            <a:endParaRPr lang="en-US"/>
          </a:p>
        </p:txBody>
      </p:sp>
    </p:spTree>
    <p:extLst>
      <p:ext uri="{BB962C8B-B14F-4D97-AF65-F5344CB8AC3E}">
        <p14:creationId xmlns:p14="http://schemas.microsoft.com/office/powerpoint/2010/main" val="950880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CA7A4-01FF-2396-F305-E441F8AC51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AE6D96-D765-9378-8A95-2C1AA3708C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C3C2A6-BE0D-AFF9-0626-88CA7F0AAA33}"/>
              </a:ext>
            </a:extLst>
          </p:cNvPr>
          <p:cNvSpPr>
            <a:spLocks noGrp="1"/>
          </p:cNvSpPr>
          <p:nvPr>
            <p:ph type="dt" sz="half" idx="10"/>
          </p:nvPr>
        </p:nvSpPr>
        <p:spPr/>
        <p:txBody>
          <a:bodyPr/>
          <a:lstStyle/>
          <a:p>
            <a:fld id="{B59D88ED-9E98-2641-9A56-A9AA953DC179}" type="datetimeFigureOut">
              <a:rPr lang="en-US" smtClean="0"/>
              <a:t>12/7/25</a:t>
            </a:fld>
            <a:endParaRPr lang="en-US"/>
          </a:p>
        </p:txBody>
      </p:sp>
      <p:sp>
        <p:nvSpPr>
          <p:cNvPr id="5" name="Footer Placeholder 4">
            <a:extLst>
              <a:ext uri="{FF2B5EF4-FFF2-40B4-BE49-F238E27FC236}">
                <a16:creationId xmlns:a16="http://schemas.microsoft.com/office/drawing/2014/main" id="{CEB4B196-BD05-4178-1EC5-27B5CFCF65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214199-9145-C8C6-F943-BF2C99E5A879}"/>
              </a:ext>
            </a:extLst>
          </p:cNvPr>
          <p:cNvSpPr>
            <a:spLocks noGrp="1"/>
          </p:cNvSpPr>
          <p:nvPr>
            <p:ph type="sldNum" sz="quarter" idx="12"/>
          </p:nvPr>
        </p:nvSpPr>
        <p:spPr/>
        <p:txBody>
          <a:bodyPr/>
          <a:lstStyle/>
          <a:p>
            <a:fld id="{9EFC5EAB-1B6E-294E-A754-4A49D6A874E6}" type="slidenum">
              <a:rPr lang="en-US" smtClean="0"/>
              <a:t>‹#›</a:t>
            </a:fld>
            <a:endParaRPr lang="en-US"/>
          </a:p>
        </p:txBody>
      </p:sp>
    </p:spTree>
    <p:extLst>
      <p:ext uri="{BB962C8B-B14F-4D97-AF65-F5344CB8AC3E}">
        <p14:creationId xmlns:p14="http://schemas.microsoft.com/office/powerpoint/2010/main" val="958167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2DD0C-8B29-379A-CE6D-B918026526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C44DA9-E0B2-00C6-174F-8F14CEE3181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F9A7721-7C8F-055B-329C-857C4E981B6C}"/>
              </a:ext>
            </a:extLst>
          </p:cNvPr>
          <p:cNvSpPr>
            <a:spLocks noGrp="1"/>
          </p:cNvSpPr>
          <p:nvPr>
            <p:ph type="dt" sz="half" idx="10"/>
          </p:nvPr>
        </p:nvSpPr>
        <p:spPr/>
        <p:txBody>
          <a:bodyPr/>
          <a:lstStyle/>
          <a:p>
            <a:fld id="{B59D88ED-9E98-2641-9A56-A9AA953DC179}" type="datetimeFigureOut">
              <a:rPr lang="en-US" smtClean="0"/>
              <a:t>12/7/25</a:t>
            </a:fld>
            <a:endParaRPr lang="en-US"/>
          </a:p>
        </p:txBody>
      </p:sp>
      <p:sp>
        <p:nvSpPr>
          <p:cNvPr id="5" name="Footer Placeholder 4">
            <a:extLst>
              <a:ext uri="{FF2B5EF4-FFF2-40B4-BE49-F238E27FC236}">
                <a16:creationId xmlns:a16="http://schemas.microsoft.com/office/drawing/2014/main" id="{097AB31A-15D4-347C-28EC-727BB9CBB6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ED192A-5E70-2F2E-6301-1A90E46A696D}"/>
              </a:ext>
            </a:extLst>
          </p:cNvPr>
          <p:cNvSpPr>
            <a:spLocks noGrp="1"/>
          </p:cNvSpPr>
          <p:nvPr>
            <p:ph type="sldNum" sz="quarter" idx="12"/>
          </p:nvPr>
        </p:nvSpPr>
        <p:spPr/>
        <p:txBody>
          <a:bodyPr/>
          <a:lstStyle/>
          <a:p>
            <a:fld id="{9EFC5EAB-1B6E-294E-A754-4A49D6A874E6}" type="slidenum">
              <a:rPr lang="en-US" smtClean="0"/>
              <a:t>‹#›</a:t>
            </a:fld>
            <a:endParaRPr lang="en-US"/>
          </a:p>
        </p:txBody>
      </p:sp>
    </p:spTree>
    <p:extLst>
      <p:ext uri="{BB962C8B-B14F-4D97-AF65-F5344CB8AC3E}">
        <p14:creationId xmlns:p14="http://schemas.microsoft.com/office/powerpoint/2010/main" val="15444199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B9305-6BCC-3403-0992-2F3A5CE1B3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E6B407-D1B2-9FDB-DBD4-FD4E0CC08E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EECE9F1-6538-8EF1-59F7-060825C662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C50A42B-57CE-4B44-3FE9-D54B7D1F9E5D}"/>
              </a:ext>
            </a:extLst>
          </p:cNvPr>
          <p:cNvSpPr>
            <a:spLocks noGrp="1"/>
          </p:cNvSpPr>
          <p:nvPr>
            <p:ph type="dt" sz="half" idx="10"/>
          </p:nvPr>
        </p:nvSpPr>
        <p:spPr/>
        <p:txBody>
          <a:bodyPr/>
          <a:lstStyle/>
          <a:p>
            <a:fld id="{B59D88ED-9E98-2641-9A56-A9AA953DC179}" type="datetimeFigureOut">
              <a:rPr lang="en-US" smtClean="0"/>
              <a:t>12/7/25</a:t>
            </a:fld>
            <a:endParaRPr lang="en-US"/>
          </a:p>
        </p:txBody>
      </p:sp>
      <p:sp>
        <p:nvSpPr>
          <p:cNvPr id="6" name="Footer Placeholder 5">
            <a:extLst>
              <a:ext uri="{FF2B5EF4-FFF2-40B4-BE49-F238E27FC236}">
                <a16:creationId xmlns:a16="http://schemas.microsoft.com/office/drawing/2014/main" id="{31E5D657-FC6D-AC6B-68BF-013BBB6AF2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AE48F3-9D2B-BA15-40BC-96FDE38C780F}"/>
              </a:ext>
            </a:extLst>
          </p:cNvPr>
          <p:cNvSpPr>
            <a:spLocks noGrp="1"/>
          </p:cNvSpPr>
          <p:nvPr>
            <p:ph type="sldNum" sz="quarter" idx="12"/>
          </p:nvPr>
        </p:nvSpPr>
        <p:spPr/>
        <p:txBody>
          <a:bodyPr/>
          <a:lstStyle/>
          <a:p>
            <a:fld id="{9EFC5EAB-1B6E-294E-A754-4A49D6A874E6}" type="slidenum">
              <a:rPr lang="en-US" smtClean="0"/>
              <a:t>‹#›</a:t>
            </a:fld>
            <a:endParaRPr lang="en-US"/>
          </a:p>
        </p:txBody>
      </p:sp>
    </p:spTree>
    <p:extLst>
      <p:ext uri="{BB962C8B-B14F-4D97-AF65-F5344CB8AC3E}">
        <p14:creationId xmlns:p14="http://schemas.microsoft.com/office/powerpoint/2010/main" val="10227641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004BF-12AB-5847-078C-07EDBC597DD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57CA51F-C198-8A01-EA37-EF92BD0695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FA18BD-01DC-25BA-E99E-13289A0D30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881A08A-B612-958A-2B29-94CB52D493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D1DCF9-2FF6-DAB9-77B6-0CCC1C4763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294FB2-10A1-9AD3-E86B-561E4FAF1836}"/>
              </a:ext>
            </a:extLst>
          </p:cNvPr>
          <p:cNvSpPr>
            <a:spLocks noGrp="1"/>
          </p:cNvSpPr>
          <p:nvPr>
            <p:ph type="dt" sz="half" idx="10"/>
          </p:nvPr>
        </p:nvSpPr>
        <p:spPr/>
        <p:txBody>
          <a:bodyPr/>
          <a:lstStyle/>
          <a:p>
            <a:fld id="{B59D88ED-9E98-2641-9A56-A9AA953DC179}" type="datetimeFigureOut">
              <a:rPr lang="en-US" smtClean="0"/>
              <a:t>12/7/25</a:t>
            </a:fld>
            <a:endParaRPr lang="en-US"/>
          </a:p>
        </p:txBody>
      </p:sp>
      <p:sp>
        <p:nvSpPr>
          <p:cNvPr id="8" name="Footer Placeholder 7">
            <a:extLst>
              <a:ext uri="{FF2B5EF4-FFF2-40B4-BE49-F238E27FC236}">
                <a16:creationId xmlns:a16="http://schemas.microsoft.com/office/drawing/2014/main" id="{9E60036A-C1C7-5B73-0BF0-58EE3582501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1E15984-4C27-0E78-D1A3-7E3773FA51B2}"/>
              </a:ext>
            </a:extLst>
          </p:cNvPr>
          <p:cNvSpPr>
            <a:spLocks noGrp="1"/>
          </p:cNvSpPr>
          <p:nvPr>
            <p:ph type="sldNum" sz="quarter" idx="12"/>
          </p:nvPr>
        </p:nvSpPr>
        <p:spPr/>
        <p:txBody>
          <a:bodyPr/>
          <a:lstStyle/>
          <a:p>
            <a:fld id="{9EFC5EAB-1B6E-294E-A754-4A49D6A874E6}" type="slidenum">
              <a:rPr lang="en-US" smtClean="0"/>
              <a:t>‹#›</a:t>
            </a:fld>
            <a:endParaRPr lang="en-US"/>
          </a:p>
        </p:txBody>
      </p:sp>
    </p:spTree>
    <p:extLst>
      <p:ext uri="{BB962C8B-B14F-4D97-AF65-F5344CB8AC3E}">
        <p14:creationId xmlns:p14="http://schemas.microsoft.com/office/powerpoint/2010/main" val="2550707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1D1C1-BB0F-4A7D-78FF-F2F34CCA908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6E0D5C-9408-F6B4-62D5-D8916A690396}"/>
              </a:ext>
            </a:extLst>
          </p:cNvPr>
          <p:cNvSpPr>
            <a:spLocks noGrp="1"/>
          </p:cNvSpPr>
          <p:nvPr>
            <p:ph type="dt" sz="half" idx="10"/>
          </p:nvPr>
        </p:nvSpPr>
        <p:spPr/>
        <p:txBody>
          <a:bodyPr/>
          <a:lstStyle/>
          <a:p>
            <a:fld id="{B59D88ED-9E98-2641-9A56-A9AA953DC179}" type="datetimeFigureOut">
              <a:rPr lang="en-US" smtClean="0"/>
              <a:t>12/7/25</a:t>
            </a:fld>
            <a:endParaRPr lang="en-US"/>
          </a:p>
        </p:txBody>
      </p:sp>
      <p:sp>
        <p:nvSpPr>
          <p:cNvPr id="4" name="Footer Placeholder 3">
            <a:extLst>
              <a:ext uri="{FF2B5EF4-FFF2-40B4-BE49-F238E27FC236}">
                <a16:creationId xmlns:a16="http://schemas.microsoft.com/office/drawing/2014/main" id="{8617CB21-A015-A435-365C-F857655CF08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2EE26AB-BEEA-EBD6-F524-1DA2A285F770}"/>
              </a:ext>
            </a:extLst>
          </p:cNvPr>
          <p:cNvSpPr>
            <a:spLocks noGrp="1"/>
          </p:cNvSpPr>
          <p:nvPr>
            <p:ph type="sldNum" sz="quarter" idx="12"/>
          </p:nvPr>
        </p:nvSpPr>
        <p:spPr/>
        <p:txBody>
          <a:bodyPr/>
          <a:lstStyle/>
          <a:p>
            <a:fld id="{9EFC5EAB-1B6E-294E-A754-4A49D6A874E6}" type="slidenum">
              <a:rPr lang="en-US" smtClean="0"/>
              <a:t>‹#›</a:t>
            </a:fld>
            <a:endParaRPr lang="en-US"/>
          </a:p>
        </p:txBody>
      </p:sp>
    </p:spTree>
    <p:extLst>
      <p:ext uri="{BB962C8B-B14F-4D97-AF65-F5344CB8AC3E}">
        <p14:creationId xmlns:p14="http://schemas.microsoft.com/office/powerpoint/2010/main" val="348620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4B2923-192E-B102-9E21-0A6A6BA89B21}"/>
              </a:ext>
            </a:extLst>
          </p:cNvPr>
          <p:cNvSpPr>
            <a:spLocks noGrp="1"/>
          </p:cNvSpPr>
          <p:nvPr>
            <p:ph type="dt" sz="half" idx="10"/>
          </p:nvPr>
        </p:nvSpPr>
        <p:spPr/>
        <p:txBody>
          <a:bodyPr/>
          <a:lstStyle/>
          <a:p>
            <a:fld id="{B59D88ED-9E98-2641-9A56-A9AA953DC179}" type="datetimeFigureOut">
              <a:rPr lang="en-US" smtClean="0"/>
              <a:t>12/7/25</a:t>
            </a:fld>
            <a:endParaRPr lang="en-US"/>
          </a:p>
        </p:txBody>
      </p:sp>
      <p:sp>
        <p:nvSpPr>
          <p:cNvPr id="3" name="Footer Placeholder 2">
            <a:extLst>
              <a:ext uri="{FF2B5EF4-FFF2-40B4-BE49-F238E27FC236}">
                <a16:creationId xmlns:a16="http://schemas.microsoft.com/office/drawing/2014/main" id="{DC1EB8E6-C9BC-9B30-4BC2-20A5E5846E3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51E831D-F7E7-9B97-2739-D2AC522B0B88}"/>
              </a:ext>
            </a:extLst>
          </p:cNvPr>
          <p:cNvSpPr>
            <a:spLocks noGrp="1"/>
          </p:cNvSpPr>
          <p:nvPr>
            <p:ph type="sldNum" sz="quarter" idx="12"/>
          </p:nvPr>
        </p:nvSpPr>
        <p:spPr/>
        <p:txBody>
          <a:bodyPr/>
          <a:lstStyle/>
          <a:p>
            <a:fld id="{9EFC5EAB-1B6E-294E-A754-4A49D6A874E6}" type="slidenum">
              <a:rPr lang="en-US" smtClean="0"/>
              <a:t>‹#›</a:t>
            </a:fld>
            <a:endParaRPr lang="en-US"/>
          </a:p>
        </p:txBody>
      </p:sp>
    </p:spTree>
    <p:extLst>
      <p:ext uri="{BB962C8B-B14F-4D97-AF65-F5344CB8AC3E}">
        <p14:creationId xmlns:p14="http://schemas.microsoft.com/office/powerpoint/2010/main" val="3402351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7CE13-DA47-126E-A6AB-7078ADEC94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F324919-ACF1-07AA-C972-7B9AE54655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FF13652-FC8B-4F0B-2E5F-4B0FEB380F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28843B-FFA8-88DB-E221-A238CF4AA334}"/>
              </a:ext>
            </a:extLst>
          </p:cNvPr>
          <p:cNvSpPr>
            <a:spLocks noGrp="1"/>
          </p:cNvSpPr>
          <p:nvPr>
            <p:ph type="dt" sz="half" idx="10"/>
          </p:nvPr>
        </p:nvSpPr>
        <p:spPr/>
        <p:txBody>
          <a:bodyPr/>
          <a:lstStyle/>
          <a:p>
            <a:fld id="{B59D88ED-9E98-2641-9A56-A9AA953DC179}" type="datetimeFigureOut">
              <a:rPr lang="en-US" smtClean="0"/>
              <a:t>12/7/25</a:t>
            </a:fld>
            <a:endParaRPr lang="en-US"/>
          </a:p>
        </p:txBody>
      </p:sp>
      <p:sp>
        <p:nvSpPr>
          <p:cNvPr id="6" name="Footer Placeholder 5">
            <a:extLst>
              <a:ext uri="{FF2B5EF4-FFF2-40B4-BE49-F238E27FC236}">
                <a16:creationId xmlns:a16="http://schemas.microsoft.com/office/drawing/2014/main" id="{42F4264B-1925-CF07-51D5-D71966E696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8F7AFC-E3D4-135E-776B-7B6FDEDDD74E}"/>
              </a:ext>
            </a:extLst>
          </p:cNvPr>
          <p:cNvSpPr>
            <a:spLocks noGrp="1"/>
          </p:cNvSpPr>
          <p:nvPr>
            <p:ph type="sldNum" sz="quarter" idx="12"/>
          </p:nvPr>
        </p:nvSpPr>
        <p:spPr/>
        <p:txBody>
          <a:bodyPr/>
          <a:lstStyle/>
          <a:p>
            <a:fld id="{9EFC5EAB-1B6E-294E-A754-4A49D6A874E6}" type="slidenum">
              <a:rPr lang="en-US" smtClean="0"/>
              <a:t>‹#›</a:t>
            </a:fld>
            <a:endParaRPr lang="en-US"/>
          </a:p>
        </p:txBody>
      </p:sp>
    </p:spTree>
    <p:extLst>
      <p:ext uri="{BB962C8B-B14F-4D97-AF65-F5344CB8AC3E}">
        <p14:creationId xmlns:p14="http://schemas.microsoft.com/office/powerpoint/2010/main" val="33520070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220B0-38DA-CE7D-0F7C-6B9D3280C1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5B690B-5418-05F6-BB6C-6D1452A261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CB3733E-F864-FF70-648C-ADB154C44C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B381BB-59FD-5704-099B-769315D11DED}"/>
              </a:ext>
            </a:extLst>
          </p:cNvPr>
          <p:cNvSpPr>
            <a:spLocks noGrp="1"/>
          </p:cNvSpPr>
          <p:nvPr>
            <p:ph type="dt" sz="half" idx="10"/>
          </p:nvPr>
        </p:nvSpPr>
        <p:spPr/>
        <p:txBody>
          <a:bodyPr/>
          <a:lstStyle/>
          <a:p>
            <a:fld id="{B59D88ED-9E98-2641-9A56-A9AA953DC179}" type="datetimeFigureOut">
              <a:rPr lang="en-US" smtClean="0"/>
              <a:t>12/7/25</a:t>
            </a:fld>
            <a:endParaRPr lang="en-US"/>
          </a:p>
        </p:txBody>
      </p:sp>
      <p:sp>
        <p:nvSpPr>
          <p:cNvPr id="6" name="Footer Placeholder 5">
            <a:extLst>
              <a:ext uri="{FF2B5EF4-FFF2-40B4-BE49-F238E27FC236}">
                <a16:creationId xmlns:a16="http://schemas.microsoft.com/office/drawing/2014/main" id="{10EE708C-CF14-0795-278A-ACD34012B4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B9204D-7BE3-9E3C-4EDD-E0C6CC82F58E}"/>
              </a:ext>
            </a:extLst>
          </p:cNvPr>
          <p:cNvSpPr>
            <a:spLocks noGrp="1"/>
          </p:cNvSpPr>
          <p:nvPr>
            <p:ph type="sldNum" sz="quarter" idx="12"/>
          </p:nvPr>
        </p:nvSpPr>
        <p:spPr/>
        <p:txBody>
          <a:bodyPr/>
          <a:lstStyle/>
          <a:p>
            <a:fld id="{9EFC5EAB-1B6E-294E-A754-4A49D6A874E6}" type="slidenum">
              <a:rPr lang="en-US" smtClean="0"/>
              <a:t>‹#›</a:t>
            </a:fld>
            <a:endParaRPr lang="en-US"/>
          </a:p>
        </p:txBody>
      </p:sp>
    </p:spTree>
    <p:extLst>
      <p:ext uri="{BB962C8B-B14F-4D97-AF65-F5344CB8AC3E}">
        <p14:creationId xmlns:p14="http://schemas.microsoft.com/office/powerpoint/2010/main" val="3715894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7369F-BFDA-3FAF-CF74-35625F3A474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E1AAEE-C4CA-9F65-2834-3A3BDA9377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1101B7-BE74-B0CE-A1A5-ED539BAFCA5C}"/>
              </a:ext>
            </a:extLst>
          </p:cNvPr>
          <p:cNvSpPr>
            <a:spLocks noGrp="1"/>
          </p:cNvSpPr>
          <p:nvPr>
            <p:ph type="dt" sz="half" idx="10"/>
          </p:nvPr>
        </p:nvSpPr>
        <p:spPr/>
        <p:txBody>
          <a:bodyPr/>
          <a:lstStyle/>
          <a:p>
            <a:fld id="{B59D88ED-9E98-2641-9A56-A9AA953DC179}" type="datetimeFigureOut">
              <a:rPr lang="en-US" smtClean="0"/>
              <a:t>12/7/25</a:t>
            </a:fld>
            <a:endParaRPr lang="en-US"/>
          </a:p>
        </p:txBody>
      </p:sp>
      <p:sp>
        <p:nvSpPr>
          <p:cNvPr id="5" name="Footer Placeholder 4">
            <a:extLst>
              <a:ext uri="{FF2B5EF4-FFF2-40B4-BE49-F238E27FC236}">
                <a16:creationId xmlns:a16="http://schemas.microsoft.com/office/drawing/2014/main" id="{B5900ECD-AA6A-6D6E-6066-9C9CED296E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30887B-3598-2976-F427-A2FE27CC0BFD}"/>
              </a:ext>
            </a:extLst>
          </p:cNvPr>
          <p:cNvSpPr>
            <a:spLocks noGrp="1"/>
          </p:cNvSpPr>
          <p:nvPr>
            <p:ph type="sldNum" sz="quarter" idx="12"/>
          </p:nvPr>
        </p:nvSpPr>
        <p:spPr/>
        <p:txBody>
          <a:bodyPr/>
          <a:lstStyle/>
          <a:p>
            <a:fld id="{9EFC5EAB-1B6E-294E-A754-4A49D6A874E6}" type="slidenum">
              <a:rPr lang="en-US" smtClean="0"/>
              <a:t>‹#›</a:t>
            </a:fld>
            <a:endParaRPr lang="en-US"/>
          </a:p>
        </p:txBody>
      </p:sp>
    </p:spTree>
    <p:extLst>
      <p:ext uri="{BB962C8B-B14F-4D97-AF65-F5344CB8AC3E}">
        <p14:creationId xmlns:p14="http://schemas.microsoft.com/office/powerpoint/2010/main" val="30606067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FC3A6D-3B34-2EEB-92B2-E16D4B2FA3D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A06DD9-FC8A-C033-1B19-19B1547057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7CAD8C-B949-0288-1AC8-858D89DCC0BD}"/>
              </a:ext>
            </a:extLst>
          </p:cNvPr>
          <p:cNvSpPr>
            <a:spLocks noGrp="1"/>
          </p:cNvSpPr>
          <p:nvPr>
            <p:ph type="dt" sz="half" idx="10"/>
          </p:nvPr>
        </p:nvSpPr>
        <p:spPr/>
        <p:txBody>
          <a:bodyPr/>
          <a:lstStyle/>
          <a:p>
            <a:fld id="{B59D88ED-9E98-2641-9A56-A9AA953DC179}" type="datetimeFigureOut">
              <a:rPr lang="en-US" smtClean="0"/>
              <a:t>12/7/25</a:t>
            </a:fld>
            <a:endParaRPr lang="en-US"/>
          </a:p>
        </p:txBody>
      </p:sp>
      <p:sp>
        <p:nvSpPr>
          <p:cNvPr id="5" name="Footer Placeholder 4">
            <a:extLst>
              <a:ext uri="{FF2B5EF4-FFF2-40B4-BE49-F238E27FC236}">
                <a16:creationId xmlns:a16="http://schemas.microsoft.com/office/drawing/2014/main" id="{F425C8D1-83A8-5091-874F-20287C6B8C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CA993F-348E-6701-BFE9-F07C86E2696E}"/>
              </a:ext>
            </a:extLst>
          </p:cNvPr>
          <p:cNvSpPr>
            <a:spLocks noGrp="1"/>
          </p:cNvSpPr>
          <p:nvPr>
            <p:ph type="sldNum" sz="quarter" idx="12"/>
          </p:nvPr>
        </p:nvSpPr>
        <p:spPr/>
        <p:txBody>
          <a:bodyPr/>
          <a:lstStyle/>
          <a:p>
            <a:fld id="{9EFC5EAB-1B6E-294E-A754-4A49D6A874E6}" type="slidenum">
              <a:rPr lang="en-US" smtClean="0"/>
              <a:t>‹#›</a:t>
            </a:fld>
            <a:endParaRPr lang="en-US"/>
          </a:p>
        </p:txBody>
      </p:sp>
    </p:spTree>
    <p:extLst>
      <p:ext uri="{BB962C8B-B14F-4D97-AF65-F5344CB8AC3E}">
        <p14:creationId xmlns:p14="http://schemas.microsoft.com/office/powerpoint/2010/main" val="1646009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942186-7A20-957C-14AE-97DBDE077D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4DE765C-8849-2D8B-8732-5523460826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E1526D-CED0-DD6A-2CB9-74E58E8165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59D88ED-9E98-2641-9A56-A9AA953DC179}" type="datetimeFigureOut">
              <a:rPr lang="en-US" smtClean="0"/>
              <a:t>12/7/25</a:t>
            </a:fld>
            <a:endParaRPr lang="en-US"/>
          </a:p>
        </p:txBody>
      </p:sp>
      <p:sp>
        <p:nvSpPr>
          <p:cNvPr id="5" name="Footer Placeholder 4">
            <a:extLst>
              <a:ext uri="{FF2B5EF4-FFF2-40B4-BE49-F238E27FC236}">
                <a16:creationId xmlns:a16="http://schemas.microsoft.com/office/drawing/2014/main" id="{2E8557E4-DDE3-0427-BC74-49B3647976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843BC82-8A0A-8CCF-E681-BA7A5FABFD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EFC5EAB-1B6E-294E-A754-4A49D6A874E6}" type="slidenum">
              <a:rPr lang="en-US" smtClean="0"/>
              <a:t>‹#›</a:t>
            </a:fld>
            <a:endParaRPr lang="en-US"/>
          </a:p>
        </p:txBody>
      </p:sp>
    </p:spTree>
    <p:extLst>
      <p:ext uri="{BB962C8B-B14F-4D97-AF65-F5344CB8AC3E}">
        <p14:creationId xmlns:p14="http://schemas.microsoft.com/office/powerpoint/2010/main" val="39927868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5.svg"/><Relationship Id="rId12" Type="http://schemas.openxmlformats.org/officeDocument/2006/relationships/image" Target="../media/image10.png"/><Relationship Id="rId17" Type="http://schemas.openxmlformats.org/officeDocument/2006/relationships/image" Target="../media/image15.sv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svg"/><Relationship Id="rId14" Type="http://schemas.openxmlformats.org/officeDocument/2006/relationships/image" Target="../media/image12.png"/></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2.png"/><Relationship Id="rId18" Type="http://schemas.openxmlformats.org/officeDocument/2006/relationships/image" Target="../media/image20.png"/><Relationship Id="rId3" Type="http://schemas.openxmlformats.org/officeDocument/2006/relationships/image" Target="../media/image9.png"/><Relationship Id="rId7" Type="http://schemas.openxmlformats.org/officeDocument/2006/relationships/image" Target="../media/image5.svg"/><Relationship Id="rId12" Type="http://schemas.openxmlformats.org/officeDocument/2006/relationships/image" Target="../media/image11.png"/><Relationship Id="rId17" Type="http://schemas.openxmlformats.org/officeDocument/2006/relationships/image" Target="../media/image15.svg"/><Relationship Id="rId2" Type="http://schemas.openxmlformats.org/officeDocument/2006/relationships/notesSlide" Target="../notesSlides/notesSlide2.xml"/><Relationship Id="rId16" Type="http://schemas.openxmlformats.org/officeDocument/2006/relationships/image" Target="../media/image14.png"/><Relationship Id="rId20"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10.png"/><Relationship Id="rId5" Type="http://schemas.openxmlformats.org/officeDocument/2006/relationships/image" Target="../media/image3.svg"/><Relationship Id="rId15" Type="http://schemas.openxmlformats.org/officeDocument/2006/relationships/image" Target="../media/image19.png"/><Relationship Id="rId19" Type="http://schemas.openxmlformats.org/officeDocument/2006/relationships/image" Target="../media/image21.png"/><Relationship Id="rId4" Type="http://schemas.openxmlformats.org/officeDocument/2006/relationships/image" Target="../media/image2.png"/><Relationship Id="rId9" Type="http://schemas.openxmlformats.org/officeDocument/2006/relationships/image" Target="../media/image7.svg"/><Relationship Id="rId14" Type="http://schemas.openxmlformats.org/officeDocument/2006/relationships/image" Target="../media/image18.png"/></Relationships>
</file>

<file path=ppt/slides/_rels/slide4.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7.svg"/><Relationship Id="rId3" Type="http://schemas.openxmlformats.org/officeDocument/2006/relationships/image" Target="../media/image4.png"/><Relationship Id="rId7" Type="http://schemas.openxmlformats.org/officeDocument/2006/relationships/image" Target="../media/image23.png"/><Relationship Id="rId12" Type="http://schemas.openxmlformats.org/officeDocument/2006/relationships/image" Target="../media/image6.png"/><Relationship Id="rId2" Type="http://schemas.openxmlformats.org/officeDocument/2006/relationships/notesSlide" Target="../notesSlides/notesSlide3.xml"/><Relationship Id="rId16"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svg"/><Relationship Id="rId11" Type="http://schemas.openxmlformats.org/officeDocument/2006/relationships/image" Target="../media/image27.png"/><Relationship Id="rId5" Type="http://schemas.openxmlformats.org/officeDocument/2006/relationships/image" Target="../media/image2.png"/><Relationship Id="rId15" Type="http://schemas.openxmlformats.org/officeDocument/2006/relationships/image" Target="../media/image29.png"/><Relationship Id="rId10" Type="http://schemas.openxmlformats.org/officeDocument/2006/relationships/image" Target="../media/image26.png"/><Relationship Id="rId4" Type="http://schemas.openxmlformats.org/officeDocument/2006/relationships/image" Target="../media/image5.svg"/><Relationship Id="rId9" Type="http://schemas.openxmlformats.org/officeDocument/2006/relationships/image" Target="../media/image25.png"/><Relationship Id="rId14" Type="http://schemas.openxmlformats.org/officeDocument/2006/relationships/image" Target="../media/image28.png"/></Relationships>
</file>

<file path=ppt/slides/_rels/slide5.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4.png"/><Relationship Id="rId7" Type="http://schemas.openxmlformats.org/officeDocument/2006/relationships/image" Target="../media/image33.svg"/><Relationship Id="rId2" Type="http://schemas.openxmlformats.org/officeDocument/2006/relationships/image" Target="../media/image22.jpe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5.svg"/><Relationship Id="rId9" Type="http://schemas.openxmlformats.org/officeDocument/2006/relationships/image" Target="../media/image35.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image" Target="../media/image370.png"/><Relationship Id="rId7" Type="http://schemas.openxmlformats.org/officeDocument/2006/relationships/image" Target="../media/image4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44.png"/><Relationship Id="rId5" Type="http://schemas.openxmlformats.org/officeDocument/2006/relationships/image" Target="../media/image39.png"/><Relationship Id="rId10" Type="http://schemas.openxmlformats.org/officeDocument/2006/relationships/image" Target="../media/image43.png"/><Relationship Id="rId4" Type="http://schemas.openxmlformats.org/officeDocument/2006/relationships/image" Target="../media/image38.png"/><Relationship Id="rId9" Type="http://schemas.openxmlformats.org/officeDocument/2006/relationships/image" Target="../media/image42.png"/></Relationships>
</file>

<file path=ppt/slides/_rels/slide12.xml.rels><?xml version="1.0" encoding="UTF-8" standalone="yes"?>
<Relationships xmlns="http://schemas.openxmlformats.org/package/2006/relationships"><Relationship Id="rId8" Type="http://schemas.openxmlformats.org/officeDocument/2006/relationships/image" Target="../media/image22.jpeg"/><Relationship Id="rId13" Type="http://schemas.openxmlformats.org/officeDocument/2006/relationships/image" Target="../media/image48.png"/><Relationship Id="rId3" Type="http://schemas.openxmlformats.org/officeDocument/2006/relationships/image" Target="../media/image370.png"/><Relationship Id="rId7" Type="http://schemas.openxmlformats.org/officeDocument/2006/relationships/image" Target="../media/image41.png"/><Relationship Id="rId12" Type="http://schemas.openxmlformats.org/officeDocument/2006/relationships/image" Target="../media/image4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46.png"/><Relationship Id="rId5" Type="http://schemas.openxmlformats.org/officeDocument/2006/relationships/image" Target="../media/image39.png"/><Relationship Id="rId10" Type="http://schemas.openxmlformats.org/officeDocument/2006/relationships/image" Target="../media/image45.png"/><Relationship Id="rId4" Type="http://schemas.openxmlformats.org/officeDocument/2006/relationships/image" Target="../media/image38.png"/><Relationship Id="rId9" Type="http://schemas.openxmlformats.org/officeDocument/2006/relationships/image" Target="../media/image42.png"/></Relationships>
</file>

<file path=ppt/slides/_rels/slide13.xml.rels><?xml version="1.0" encoding="UTF-8" standalone="yes"?>
<Relationships xmlns="http://schemas.openxmlformats.org/package/2006/relationships"><Relationship Id="rId8" Type="http://schemas.openxmlformats.org/officeDocument/2006/relationships/image" Target="../media/image22.jpeg"/><Relationship Id="rId13" Type="http://schemas.openxmlformats.org/officeDocument/2006/relationships/image" Target="../media/image52.png"/><Relationship Id="rId3" Type="http://schemas.openxmlformats.org/officeDocument/2006/relationships/image" Target="../media/image370.png"/><Relationship Id="rId7" Type="http://schemas.openxmlformats.org/officeDocument/2006/relationships/image" Target="../media/image41.png"/><Relationship Id="rId12" Type="http://schemas.openxmlformats.org/officeDocument/2006/relationships/image" Target="../media/image5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50.png"/><Relationship Id="rId5" Type="http://schemas.openxmlformats.org/officeDocument/2006/relationships/image" Target="../media/image39.png"/><Relationship Id="rId10" Type="http://schemas.openxmlformats.org/officeDocument/2006/relationships/image" Target="../media/image49.png"/><Relationship Id="rId4" Type="http://schemas.openxmlformats.org/officeDocument/2006/relationships/image" Target="../media/image38.png"/><Relationship Id="rId9" Type="http://schemas.openxmlformats.org/officeDocument/2006/relationships/image" Target="../media/image42.png"/></Relationships>
</file>

<file path=ppt/slides/_rels/slide14.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7.svg"/><Relationship Id="rId18" Type="http://schemas.openxmlformats.org/officeDocument/2006/relationships/image" Target="../media/image480.png"/><Relationship Id="rId3" Type="http://schemas.openxmlformats.org/officeDocument/2006/relationships/image" Target="../media/image4.png"/><Relationship Id="rId7" Type="http://schemas.openxmlformats.org/officeDocument/2006/relationships/image" Target="../media/image23.png"/><Relationship Id="rId12" Type="http://schemas.openxmlformats.org/officeDocument/2006/relationships/image" Target="../media/image6.png"/><Relationship Id="rId17" Type="http://schemas.openxmlformats.org/officeDocument/2006/relationships/image" Target="../media/image54.svg"/><Relationship Id="rId2" Type="http://schemas.openxmlformats.org/officeDocument/2006/relationships/notesSlide" Target="../notesSlides/notesSlide10.xml"/><Relationship Id="rId16"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3.svg"/><Relationship Id="rId11" Type="http://schemas.openxmlformats.org/officeDocument/2006/relationships/image" Target="../media/image27.png"/><Relationship Id="rId5" Type="http://schemas.openxmlformats.org/officeDocument/2006/relationships/image" Target="../media/image2.png"/><Relationship Id="rId15" Type="http://schemas.openxmlformats.org/officeDocument/2006/relationships/image" Target="../media/image450.png"/><Relationship Id="rId10" Type="http://schemas.openxmlformats.org/officeDocument/2006/relationships/image" Target="../media/image26.png"/><Relationship Id="rId19" Type="http://schemas.openxmlformats.org/officeDocument/2006/relationships/image" Target="../media/image490.png"/><Relationship Id="rId4" Type="http://schemas.openxmlformats.org/officeDocument/2006/relationships/image" Target="../media/image5.svg"/><Relationship Id="rId9" Type="http://schemas.openxmlformats.org/officeDocument/2006/relationships/image" Target="../media/image25.png"/><Relationship Id="rId14" Type="http://schemas.openxmlformats.org/officeDocument/2006/relationships/image" Target="../media/image28.png"/></Relationships>
</file>

<file path=ppt/slides/_rels/slide15.xml.rels><?xml version="1.0" encoding="UTF-8" standalone="yes"?>
<Relationships xmlns="http://schemas.openxmlformats.org/package/2006/relationships"><Relationship Id="rId8" Type="http://schemas.openxmlformats.org/officeDocument/2006/relationships/image" Target="../media/image500.png"/><Relationship Id="rId13" Type="http://schemas.openxmlformats.org/officeDocument/2006/relationships/image" Target="../media/image530.png"/><Relationship Id="rId18" Type="http://schemas.openxmlformats.org/officeDocument/2006/relationships/image" Target="../media/image58.png"/><Relationship Id="rId3" Type="http://schemas.openxmlformats.org/officeDocument/2006/relationships/image" Target="../media/image4.png"/><Relationship Id="rId7" Type="http://schemas.openxmlformats.org/officeDocument/2006/relationships/image" Target="../media/image23.png"/><Relationship Id="rId12" Type="http://schemas.openxmlformats.org/officeDocument/2006/relationships/image" Target="../media/image7.svg"/><Relationship Id="rId17" Type="http://schemas.openxmlformats.org/officeDocument/2006/relationships/image" Target="../media/image57.png"/><Relationship Id="rId2" Type="http://schemas.openxmlformats.org/officeDocument/2006/relationships/notesSlide" Target="../notesSlides/notesSlide11.xml"/><Relationship Id="rId16"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3.svg"/><Relationship Id="rId11" Type="http://schemas.openxmlformats.org/officeDocument/2006/relationships/image" Target="../media/image6.png"/><Relationship Id="rId5" Type="http://schemas.openxmlformats.org/officeDocument/2006/relationships/image" Target="../media/image2.png"/><Relationship Id="rId15" Type="http://schemas.openxmlformats.org/officeDocument/2006/relationships/image" Target="../media/image55.png"/><Relationship Id="rId10" Type="http://schemas.openxmlformats.org/officeDocument/2006/relationships/image" Target="../media/image520.png"/><Relationship Id="rId4" Type="http://schemas.openxmlformats.org/officeDocument/2006/relationships/image" Target="../media/image5.svg"/><Relationship Id="rId9" Type="http://schemas.openxmlformats.org/officeDocument/2006/relationships/image" Target="../media/image510.png"/><Relationship Id="rId14" Type="http://schemas.openxmlformats.org/officeDocument/2006/relationships/image" Target="../media/image54.png"/></Relationships>
</file>

<file path=ppt/slides/_rels/slide16.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7.svg"/><Relationship Id="rId18" Type="http://schemas.openxmlformats.org/officeDocument/2006/relationships/image" Target="../media/image57.png"/><Relationship Id="rId3" Type="http://schemas.openxmlformats.org/officeDocument/2006/relationships/image" Target="../media/image59.png"/><Relationship Id="rId7" Type="http://schemas.openxmlformats.org/officeDocument/2006/relationships/image" Target="../media/image3.svg"/><Relationship Id="rId12" Type="http://schemas.openxmlformats.org/officeDocument/2006/relationships/image" Target="../media/image6.png"/><Relationship Id="rId17" Type="http://schemas.openxmlformats.org/officeDocument/2006/relationships/image" Target="../media/image56.png"/><Relationship Id="rId2" Type="http://schemas.openxmlformats.org/officeDocument/2006/relationships/notesSlide" Target="../notesSlides/notesSlide12.xml"/><Relationship Id="rId16" Type="http://schemas.openxmlformats.org/officeDocument/2006/relationships/image" Target="../media/image590.png"/><Relationship Id="rId1" Type="http://schemas.openxmlformats.org/officeDocument/2006/relationships/slideLayout" Target="../slideLayouts/slideLayout2.xml"/><Relationship Id="rId6" Type="http://schemas.openxmlformats.org/officeDocument/2006/relationships/image" Target="../media/image2.png"/><Relationship Id="rId11" Type="http://schemas.openxmlformats.org/officeDocument/2006/relationships/image" Target="../media/image520.png"/><Relationship Id="rId5" Type="http://schemas.openxmlformats.org/officeDocument/2006/relationships/image" Target="../media/image5.svg"/><Relationship Id="rId15" Type="http://schemas.openxmlformats.org/officeDocument/2006/relationships/image" Target="../media/image54.png"/><Relationship Id="rId10" Type="http://schemas.openxmlformats.org/officeDocument/2006/relationships/image" Target="../media/image510.png"/><Relationship Id="rId19" Type="http://schemas.openxmlformats.org/officeDocument/2006/relationships/image" Target="../media/image60.png"/><Relationship Id="rId4" Type="http://schemas.openxmlformats.org/officeDocument/2006/relationships/image" Target="../media/image4.png"/><Relationship Id="rId9" Type="http://schemas.openxmlformats.org/officeDocument/2006/relationships/image" Target="../media/image500.png"/><Relationship Id="rId14" Type="http://schemas.openxmlformats.org/officeDocument/2006/relationships/image" Target="../media/image53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2.png"/><Relationship Id="rId3" Type="http://schemas.openxmlformats.org/officeDocument/2006/relationships/image" Target="../media/image62.png"/><Relationship Id="rId7" Type="http://schemas.openxmlformats.org/officeDocument/2006/relationships/image" Target="../media/image66.png"/><Relationship Id="rId12" Type="http://schemas.openxmlformats.org/officeDocument/2006/relationships/image" Target="../media/image71.png"/><Relationship Id="rId17" Type="http://schemas.openxmlformats.org/officeDocument/2006/relationships/image" Target="../media/image74.png"/><Relationship Id="rId2" Type="http://schemas.openxmlformats.org/officeDocument/2006/relationships/notesSlide" Target="../notesSlides/notesSlide14.xml"/><Relationship Id="rId16"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62.svg"/><Relationship Id="rId11" Type="http://schemas.openxmlformats.org/officeDocument/2006/relationships/image" Target="../media/image70.png"/><Relationship Id="rId5" Type="http://schemas.openxmlformats.org/officeDocument/2006/relationships/image" Target="../media/image61.png"/><Relationship Id="rId15" Type="http://schemas.openxmlformats.org/officeDocument/2006/relationships/image" Target="../media/image64.pn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png"/><Relationship Id="rId14" Type="http://schemas.openxmlformats.org/officeDocument/2006/relationships/image" Target="../media/image73.png"/></Relationships>
</file>

<file path=ppt/slides/_rels/slide19.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9.png"/><Relationship Id="rId18" Type="http://schemas.openxmlformats.org/officeDocument/2006/relationships/image" Target="../media/image80.png"/><Relationship Id="rId3" Type="http://schemas.openxmlformats.org/officeDocument/2006/relationships/image" Target="../media/image76.png"/><Relationship Id="rId7" Type="http://schemas.openxmlformats.org/officeDocument/2006/relationships/image" Target="../media/image66.png"/><Relationship Id="rId12" Type="http://schemas.openxmlformats.org/officeDocument/2006/relationships/image" Target="../media/image78.png"/><Relationship Id="rId17" Type="http://schemas.openxmlformats.org/officeDocument/2006/relationships/image" Target="../media/image82.png"/><Relationship Id="rId2" Type="http://schemas.openxmlformats.org/officeDocument/2006/relationships/notesSlide" Target="../notesSlides/notesSlide15.xml"/><Relationship Id="rId16" Type="http://schemas.openxmlformats.org/officeDocument/2006/relationships/image" Target="../media/image81.png"/><Relationship Id="rId1" Type="http://schemas.openxmlformats.org/officeDocument/2006/relationships/slideLayout" Target="../slideLayouts/slideLayout2.xml"/><Relationship Id="rId6" Type="http://schemas.openxmlformats.org/officeDocument/2006/relationships/image" Target="../media/image62.svg"/><Relationship Id="rId11" Type="http://schemas.openxmlformats.org/officeDocument/2006/relationships/image" Target="../media/image70.png"/><Relationship Id="rId5" Type="http://schemas.openxmlformats.org/officeDocument/2006/relationships/image" Target="../media/image61.png"/><Relationship Id="rId15" Type="http://schemas.openxmlformats.org/officeDocument/2006/relationships/image" Target="../media/image75.png"/><Relationship Id="rId10" Type="http://schemas.openxmlformats.org/officeDocument/2006/relationships/image" Target="../media/image69.png"/><Relationship Id="rId4" Type="http://schemas.openxmlformats.org/officeDocument/2006/relationships/image" Target="../media/image77.png"/><Relationship Id="rId9" Type="http://schemas.openxmlformats.org/officeDocument/2006/relationships/image" Target="../media/image68.png"/><Relationship Id="rId14" Type="http://schemas.openxmlformats.org/officeDocument/2006/relationships/image" Target="../media/image73.png"/></Relationships>
</file>

<file path=ppt/slides/_rels/slide2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42955-FF94-CE3D-EAEB-BE27C52EB9F4}"/>
              </a:ext>
            </a:extLst>
          </p:cNvPr>
          <p:cNvSpPr>
            <a:spLocks noGrp="1"/>
          </p:cNvSpPr>
          <p:nvPr>
            <p:ph type="ctrTitle"/>
          </p:nvPr>
        </p:nvSpPr>
        <p:spPr/>
        <p:txBody>
          <a:bodyPr/>
          <a:lstStyle/>
          <a:p>
            <a:r>
              <a:rPr lang="en-US" dirty="0">
                <a:latin typeface="Candara" panose="020E0502030303020204" pitchFamily="34" charset="0"/>
              </a:rPr>
              <a:t>Everlasting Anonymous  Rate-Limited Tokens</a:t>
            </a:r>
          </a:p>
        </p:txBody>
      </p:sp>
      <p:sp>
        <p:nvSpPr>
          <p:cNvPr id="3" name="Subtitle 2">
            <a:extLst>
              <a:ext uri="{FF2B5EF4-FFF2-40B4-BE49-F238E27FC236}">
                <a16:creationId xmlns:a16="http://schemas.microsoft.com/office/drawing/2014/main" id="{188E85B6-1CE1-5E83-FAD7-504D8DCA81D1}"/>
              </a:ext>
            </a:extLst>
          </p:cNvPr>
          <p:cNvSpPr>
            <a:spLocks noGrp="1"/>
          </p:cNvSpPr>
          <p:nvPr>
            <p:ph type="subTitle" idx="1"/>
          </p:nvPr>
        </p:nvSpPr>
        <p:spPr>
          <a:xfrm>
            <a:off x="1041399" y="4021137"/>
            <a:ext cx="9887155" cy="1985963"/>
          </a:xfrm>
        </p:spPr>
        <p:txBody>
          <a:bodyPr>
            <a:normAutofit fontScale="92500"/>
          </a:bodyPr>
          <a:lstStyle/>
          <a:p>
            <a:pPr algn="r"/>
            <a:r>
              <a:rPr lang="en-US" sz="2800" b="1" dirty="0">
                <a:solidFill>
                  <a:srgbClr val="7030A0"/>
                </a:solidFill>
                <a:latin typeface="Candara" panose="020E0502030303020204" pitchFamily="34" charset="0"/>
              </a:rPr>
              <a:t>Rutchathon (Champ) Chairattana-Apirom (University of Washington)</a:t>
            </a:r>
          </a:p>
          <a:p>
            <a:pPr algn="r"/>
            <a:r>
              <a:rPr lang="en-US" sz="2800" dirty="0">
                <a:latin typeface="Candara" panose="020E0502030303020204" pitchFamily="34" charset="0"/>
              </a:rPr>
              <a:t>Nico </a:t>
            </a:r>
            <a:r>
              <a:rPr lang="en-US" sz="2800" dirty="0" err="1">
                <a:latin typeface="Candara" panose="020E0502030303020204" pitchFamily="34" charset="0"/>
              </a:rPr>
              <a:t>Döttling</a:t>
            </a:r>
            <a:r>
              <a:rPr lang="en-US" sz="2800" dirty="0">
                <a:latin typeface="Candara" panose="020E0502030303020204" pitchFamily="34" charset="0"/>
              </a:rPr>
              <a:t> (CISPA)</a:t>
            </a:r>
          </a:p>
          <a:p>
            <a:pPr algn="r"/>
            <a:r>
              <a:rPr lang="en-US" sz="2800" dirty="0">
                <a:latin typeface="Candara" panose="020E0502030303020204" pitchFamily="34" charset="0"/>
              </a:rPr>
              <a:t>Anna </a:t>
            </a:r>
            <a:r>
              <a:rPr lang="en-US" sz="2800" dirty="0" err="1">
                <a:latin typeface="Candara" panose="020E0502030303020204" pitchFamily="34" charset="0"/>
              </a:rPr>
              <a:t>Lysyanskaya</a:t>
            </a:r>
            <a:r>
              <a:rPr lang="en-US" sz="2800" dirty="0">
                <a:latin typeface="Candara" panose="020E0502030303020204" pitchFamily="34" charset="0"/>
              </a:rPr>
              <a:t> (Brown University)</a:t>
            </a:r>
          </a:p>
          <a:p>
            <a:pPr algn="r"/>
            <a:r>
              <a:rPr lang="en-US" sz="2800" dirty="0">
                <a:latin typeface="Candara" panose="020E0502030303020204" pitchFamily="34" charset="0"/>
              </a:rPr>
              <a:t>Stefano Tessaro (University of Washington)</a:t>
            </a:r>
          </a:p>
        </p:txBody>
      </p:sp>
    </p:spTree>
    <p:extLst>
      <p:ext uri="{BB962C8B-B14F-4D97-AF65-F5344CB8AC3E}">
        <p14:creationId xmlns:p14="http://schemas.microsoft.com/office/powerpoint/2010/main" val="9653921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7B0FD-ADFD-D9BF-F603-AB5EA2A5B439}"/>
              </a:ext>
            </a:extLst>
          </p:cNvPr>
          <p:cNvSpPr>
            <a:spLocks noGrp="1"/>
          </p:cNvSpPr>
          <p:nvPr>
            <p:ph type="title"/>
          </p:nvPr>
        </p:nvSpPr>
        <p:spPr/>
        <p:txBody>
          <a:bodyPr/>
          <a:lstStyle/>
          <a:p>
            <a:r>
              <a:rPr lang="en-US" dirty="0">
                <a:latin typeface="Candara" panose="020E0502030303020204" pitchFamily="34" charset="0"/>
              </a:rPr>
              <a:t>Anonymous Tokens</a:t>
            </a:r>
          </a:p>
        </p:txBody>
      </p:sp>
      <mc:AlternateContent xmlns:mc="http://schemas.openxmlformats.org/markup-compatibility/2006" xmlns:a14="http://schemas.microsoft.com/office/drawing/2010/main">
        <mc:Choice Requires="a14">
          <p:sp>
            <p:nvSpPr>
              <p:cNvPr id="4" name="Rounded Rectangle 3">
                <a:extLst>
                  <a:ext uri="{FF2B5EF4-FFF2-40B4-BE49-F238E27FC236}">
                    <a16:creationId xmlns:a16="http://schemas.microsoft.com/office/drawing/2014/main" id="{CE1A61CB-6793-34F0-9E46-63F5EC0CE32B}"/>
                  </a:ext>
                </a:extLst>
              </p:cNvPr>
              <p:cNvSpPr/>
              <p:nvPr/>
            </p:nvSpPr>
            <p:spPr>
              <a:xfrm>
                <a:off x="5726222" y="5911375"/>
                <a:ext cx="2885660" cy="664485"/>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latin typeface="Candara" panose="020E0502030303020204" pitchFamily="34" charset="0"/>
                  </a:rPr>
                  <a:t>Token generator </a:t>
                </a:r>
                <a14:m>
                  <m:oMath xmlns:m="http://schemas.openxmlformats.org/officeDocument/2006/math">
                    <m:r>
                      <a:rPr lang="en-US" sz="2400" b="0" i="1" smtClean="0">
                        <a:solidFill>
                          <a:srgbClr val="C00000"/>
                        </a:solidFill>
                        <a:latin typeface="Cambria Math" panose="02040503050406030204" pitchFamily="18" charset="0"/>
                      </a:rPr>
                      <m:t>𝜎</m:t>
                    </m:r>
                  </m:oMath>
                </a14:m>
                <a:endParaRPr lang="en-US" sz="2400" dirty="0">
                  <a:solidFill>
                    <a:srgbClr val="C00000"/>
                  </a:solidFill>
                  <a:latin typeface="Candara" panose="020E0502030303020204" pitchFamily="34" charset="0"/>
                </a:endParaRPr>
              </a:p>
            </p:txBody>
          </p:sp>
        </mc:Choice>
        <mc:Fallback xmlns="">
          <p:sp>
            <p:nvSpPr>
              <p:cNvPr id="4" name="Rounded Rectangle 3">
                <a:extLst>
                  <a:ext uri="{FF2B5EF4-FFF2-40B4-BE49-F238E27FC236}">
                    <a16:creationId xmlns:a16="http://schemas.microsoft.com/office/drawing/2014/main" id="{CE1A61CB-6793-34F0-9E46-63F5EC0CE32B}"/>
                  </a:ext>
                </a:extLst>
              </p:cNvPr>
              <p:cNvSpPr>
                <a:spLocks noRot="1" noChangeAspect="1" noMove="1" noResize="1" noEditPoints="1" noAdjustHandles="1" noChangeArrowheads="1" noChangeShapeType="1" noTextEdit="1"/>
              </p:cNvSpPr>
              <p:nvPr/>
            </p:nvSpPr>
            <p:spPr>
              <a:xfrm>
                <a:off x="5726222" y="5911375"/>
                <a:ext cx="2885660" cy="664485"/>
              </a:xfrm>
              <a:prstGeom prst="roundRect">
                <a:avLst/>
              </a:prstGeom>
              <a:blipFill>
                <a:blip r:embed="rId3"/>
                <a:stretch>
                  <a:fillRect b="-5660"/>
                </a:stretch>
              </a:blipFill>
              <a:ln>
                <a:noFill/>
              </a:ln>
            </p:spPr>
            <p:txBody>
              <a:bodyPr/>
              <a:lstStyle/>
              <a:p>
                <a:r>
                  <a:rPr lang="en-US">
                    <a:noFill/>
                  </a:rPr>
                  <a:t> </a:t>
                </a:r>
              </a:p>
            </p:txBody>
          </p:sp>
        </mc:Fallback>
      </mc:AlternateContent>
      <p:pic>
        <p:nvPicPr>
          <p:cNvPr id="5" name="Graphic 4" descr="Bank outline">
            <a:extLst>
              <a:ext uri="{FF2B5EF4-FFF2-40B4-BE49-F238E27FC236}">
                <a16:creationId xmlns:a16="http://schemas.microsoft.com/office/drawing/2014/main" id="{7C0FA3DE-2E55-8327-8EFD-719CA7E4D19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872385" y="1901556"/>
            <a:ext cx="1634837" cy="1634837"/>
          </a:xfrm>
          <a:prstGeom prst="rect">
            <a:avLst/>
          </a:prstGeom>
        </p:spPr>
      </p:pic>
      <p:pic>
        <p:nvPicPr>
          <p:cNvPr id="6" name="Graphic 5" descr="User outline">
            <a:extLst>
              <a:ext uri="{FF2B5EF4-FFF2-40B4-BE49-F238E27FC236}">
                <a16:creationId xmlns:a16="http://schemas.microsoft.com/office/drawing/2014/main" id="{D2468BB9-2201-C2BD-C4B9-D7BDF524298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067282" y="4213155"/>
            <a:ext cx="1330036" cy="1330036"/>
          </a:xfrm>
          <a:prstGeom prst="rect">
            <a:avLst/>
          </a:prstGeom>
        </p:spPr>
      </p:pic>
      <p:pic>
        <p:nvPicPr>
          <p:cNvPr id="7" name="Graphic 6" descr="Store with solid fill">
            <a:extLst>
              <a:ext uri="{FF2B5EF4-FFF2-40B4-BE49-F238E27FC236}">
                <a16:creationId xmlns:a16="http://schemas.microsoft.com/office/drawing/2014/main" id="{873EDE9A-09DC-4967-EE3E-101AA399901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243908" y="1901555"/>
            <a:ext cx="1634837" cy="1634837"/>
          </a:xfrm>
          <a:prstGeom prst="rect">
            <a:avLst/>
          </a:prstGeom>
        </p:spPr>
      </p:pic>
      <p:sp>
        <p:nvSpPr>
          <p:cNvPr id="8" name="TextBox 7">
            <a:extLst>
              <a:ext uri="{FF2B5EF4-FFF2-40B4-BE49-F238E27FC236}">
                <a16:creationId xmlns:a16="http://schemas.microsoft.com/office/drawing/2014/main" id="{E1D9F25D-DD4F-16A2-9030-0C3460162679}"/>
              </a:ext>
            </a:extLst>
          </p:cNvPr>
          <p:cNvSpPr txBox="1"/>
          <p:nvPr/>
        </p:nvSpPr>
        <p:spPr>
          <a:xfrm>
            <a:off x="5330120" y="5426375"/>
            <a:ext cx="792205" cy="461665"/>
          </a:xfrm>
          <a:prstGeom prst="rect">
            <a:avLst/>
          </a:prstGeom>
          <a:noFill/>
        </p:spPr>
        <p:txBody>
          <a:bodyPr wrap="none" rtlCol="0">
            <a:spAutoFit/>
          </a:bodyPr>
          <a:lstStyle/>
          <a:p>
            <a:r>
              <a:rPr lang="en-US" sz="2400" b="1" dirty="0">
                <a:latin typeface="Candara" panose="020E0502030303020204" pitchFamily="34" charset="0"/>
              </a:rPr>
              <a:t>User</a:t>
            </a:r>
          </a:p>
        </p:txBody>
      </p:sp>
      <p:sp>
        <p:nvSpPr>
          <p:cNvPr id="9" name="TextBox 8">
            <a:extLst>
              <a:ext uri="{FF2B5EF4-FFF2-40B4-BE49-F238E27FC236}">
                <a16:creationId xmlns:a16="http://schemas.microsoft.com/office/drawing/2014/main" id="{9061F35E-8DC2-E4ED-C1F5-FCECE57AE8E3}"/>
              </a:ext>
            </a:extLst>
          </p:cNvPr>
          <p:cNvSpPr txBox="1"/>
          <p:nvPr/>
        </p:nvSpPr>
        <p:spPr>
          <a:xfrm>
            <a:off x="3073976" y="1581190"/>
            <a:ext cx="973343" cy="461665"/>
          </a:xfrm>
          <a:prstGeom prst="rect">
            <a:avLst/>
          </a:prstGeom>
          <a:noFill/>
        </p:spPr>
        <p:txBody>
          <a:bodyPr wrap="none" rtlCol="0">
            <a:spAutoFit/>
          </a:bodyPr>
          <a:lstStyle/>
          <a:p>
            <a:r>
              <a:rPr lang="en-US" sz="2400" b="1" dirty="0">
                <a:latin typeface="Candara" panose="020E0502030303020204" pitchFamily="34" charset="0"/>
              </a:rPr>
              <a:t>Issuer</a:t>
            </a:r>
          </a:p>
        </p:txBody>
      </p:sp>
      <p:sp>
        <p:nvSpPr>
          <p:cNvPr id="10" name="TextBox 9">
            <a:extLst>
              <a:ext uri="{FF2B5EF4-FFF2-40B4-BE49-F238E27FC236}">
                <a16:creationId xmlns:a16="http://schemas.microsoft.com/office/drawing/2014/main" id="{5461DB80-794F-C9CC-C243-B8B9B39D4AB7}"/>
              </a:ext>
            </a:extLst>
          </p:cNvPr>
          <p:cNvSpPr txBox="1"/>
          <p:nvPr/>
        </p:nvSpPr>
        <p:spPr>
          <a:xfrm>
            <a:off x="7463245" y="1596832"/>
            <a:ext cx="1196161" cy="461665"/>
          </a:xfrm>
          <a:prstGeom prst="rect">
            <a:avLst/>
          </a:prstGeom>
          <a:noFill/>
        </p:spPr>
        <p:txBody>
          <a:bodyPr wrap="none" rtlCol="0">
            <a:spAutoFit/>
          </a:bodyPr>
          <a:lstStyle/>
          <a:p>
            <a:r>
              <a:rPr lang="en-US" sz="2400" b="1" dirty="0">
                <a:latin typeface="Candara" panose="020E0502030303020204" pitchFamily="34" charset="0"/>
              </a:rPr>
              <a:t>Verifier</a:t>
            </a:r>
          </a:p>
        </p:txBody>
      </p:sp>
      <p:cxnSp>
        <p:nvCxnSpPr>
          <p:cNvPr id="11" name="Straight Arrow Connector 10">
            <a:extLst>
              <a:ext uri="{FF2B5EF4-FFF2-40B4-BE49-F238E27FC236}">
                <a16:creationId xmlns:a16="http://schemas.microsoft.com/office/drawing/2014/main" id="{6727046C-0F8E-50F9-21A0-CD4629F23094}"/>
              </a:ext>
            </a:extLst>
          </p:cNvPr>
          <p:cNvCxnSpPr>
            <a:cxnSpLocks/>
          </p:cNvCxnSpPr>
          <p:nvPr/>
        </p:nvCxnSpPr>
        <p:spPr>
          <a:xfrm>
            <a:off x="3965298" y="3632584"/>
            <a:ext cx="1111827" cy="1111827"/>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3" name="Oval Callout 12">
                <a:extLst>
                  <a:ext uri="{FF2B5EF4-FFF2-40B4-BE49-F238E27FC236}">
                    <a16:creationId xmlns:a16="http://schemas.microsoft.com/office/drawing/2014/main" id="{C25DE185-2F24-55A7-9F37-351509CBF262}"/>
                  </a:ext>
                </a:extLst>
              </p:cNvPr>
              <p:cNvSpPr/>
              <p:nvPr/>
            </p:nvSpPr>
            <p:spPr>
              <a:xfrm>
                <a:off x="9225367" y="1647242"/>
                <a:ext cx="3172091" cy="1251136"/>
              </a:xfrm>
              <a:prstGeom prst="wedgeEllipseCallout">
                <a:avLst>
                  <a:gd name="adj1" fmla="val -62541"/>
                  <a:gd name="adj2" fmla="val 1653"/>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Candara" panose="020E0502030303020204" pitchFamily="34" charset="0"/>
                  </a:rPr>
                  <a:t>I want to verify that you are authorized </a:t>
                </a:r>
                <a:r>
                  <a:rPr lang="en-US" dirty="0" err="1">
                    <a:solidFill>
                      <a:srgbClr val="C00000"/>
                    </a:solidFill>
                    <a:latin typeface="Candara" panose="020E0502030303020204" pitchFamily="34" charset="0"/>
                  </a:rPr>
                  <a:t>w.r.t.</a:t>
                </a:r>
                <a:r>
                  <a:rPr lang="en-US" dirty="0">
                    <a:solidFill>
                      <a:srgbClr val="C00000"/>
                    </a:solidFill>
                    <a:latin typeface="Candara" panose="020E0502030303020204" pitchFamily="34" charset="0"/>
                  </a:rPr>
                  <a:t> </a:t>
                </a:r>
                <a14:m>
                  <m:oMath xmlns:m="http://schemas.openxmlformats.org/officeDocument/2006/math">
                    <m:r>
                      <a:rPr lang="en-US" i="1">
                        <a:solidFill>
                          <a:srgbClr val="C00000"/>
                        </a:solidFill>
                        <a:latin typeface="Cambria Math" panose="02040503050406030204" pitchFamily="18" charset="0"/>
                      </a:rPr>
                      <m:t>𝑝</m:t>
                    </m:r>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𝑘</m:t>
                        </m:r>
                      </m:e>
                      <m:sub>
                        <m:r>
                          <a:rPr lang="en-US" i="1">
                            <a:solidFill>
                              <a:srgbClr val="C00000"/>
                            </a:solidFill>
                            <a:latin typeface="Cambria Math" panose="02040503050406030204" pitchFamily="18" charset="0"/>
                          </a:rPr>
                          <m:t>𝐼</m:t>
                        </m:r>
                      </m:sub>
                    </m:sSub>
                  </m:oMath>
                </a14:m>
                <a:r>
                  <a:rPr lang="en-US" dirty="0">
                    <a:solidFill>
                      <a:srgbClr val="C00000"/>
                    </a:solidFill>
                    <a:latin typeface="Candara" panose="020E0502030303020204" pitchFamily="34" charset="0"/>
                  </a:rPr>
                  <a:t>. </a:t>
                </a:r>
              </a:p>
            </p:txBody>
          </p:sp>
        </mc:Choice>
        <mc:Fallback xmlns="">
          <p:sp>
            <p:nvSpPr>
              <p:cNvPr id="13" name="Oval Callout 12">
                <a:extLst>
                  <a:ext uri="{FF2B5EF4-FFF2-40B4-BE49-F238E27FC236}">
                    <a16:creationId xmlns:a16="http://schemas.microsoft.com/office/drawing/2014/main" id="{C25DE185-2F24-55A7-9F37-351509CBF262}"/>
                  </a:ext>
                </a:extLst>
              </p:cNvPr>
              <p:cNvSpPr>
                <a:spLocks noRot="1" noChangeAspect="1" noMove="1" noResize="1" noEditPoints="1" noAdjustHandles="1" noChangeArrowheads="1" noChangeShapeType="1" noTextEdit="1"/>
              </p:cNvSpPr>
              <p:nvPr/>
            </p:nvSpPr>
            <p:spPr>
              <a:xfrm>
                <a:off x="9225367" y="1647242"/>
                <a:ext cx="3172091" cy="1251136"/>
              </a:xfrm>
              <a:prstGeom prst="wedgeEllipseCallout">
                <a:avLst>
                  <a:gd name="adj1" fmla="val -62541"/>
                  <a:gd name="adj2" fmla="val 1653"/>
                </a:avLst>
              </a:prstGeom>
              <a:blipFill>
                <a:blip r:embed="rId10"/>
                <a:stretch>
                  <a:fillRect/>
                </a:stretch>
              </a:blipFill>
              <a:ln>
                <a:noFill/>
              </a:ln>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20928815-9C50-9A5C-562E-CB156E2E8865}"/>
              </a:ext>
            </a:extLst>
          </p:cNvPr>
          <p:cNvCxnSpPr>
            <a:cxnSpLocks/>
          </p:cNvCxnSpPr>
          <p:nvPr/>
        </p:nvCxnSpPr>
        <p:spPr>
          <a:xfrm flipH="1" flipV="1">
            <a:off x="4198059" y="3486722"/>
            <a:ext cx="1066854" cy="1066854"/>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6" name="Rounded Rectangle 15">
                <a:extLst>
                  <a:ext uri="{FF2B5EF4-FFF2-40B4-BE49-F238E27FC236}">
                    <a16:creationId xmlns:a16="http://schemas.microsoft.com/office/drawing/2014/main" id="{99AE12F8-9B19-1587-B864-5193E035E0BB}"/>
                  </a:ext>
                </a:extLst>
              </p:cNvPr>
              <p:cNvSpPr/>
              <p:nvPr/>
            </p:nvSpPr>
            <p:spPr>
              <a:xfrm>
                <a:off x="2626024" y="5344961"/>
                <a:ext cx="2467491" cy="572045"/>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solidFill>
                      <a:srgbClr val="C00000"/>
                    </a:solidFill>
                    <a:latin typeface="Candara" panose="020E0502030303020204" pitchFamily="34" charset="0"/>
                  </a:rPr>
                  <a:t>User Identity </a:t>
                </a:r>
                <a14:m>
                  <m:oMath xmlns:m="http://schemas.openxmlformats.org/officeDocument/2006/math">
                    <m:r>
                      <a:rPr lang="en-US" sz="2000" i="1" smtClean="0">
                        <a:solidFill>
                          <a:srgbClr val="C00000"/>
                        </a:solidFill>
                        <a:latin typeface="Cambria Math" panose="02040503050406030204" pitchFamily="18" charset="0"/>
                      </a:rPr>
                      <m:t>𝑝</m:t>
                    </m:r>
                    <m:sSub>
                      <m:sSubPr>
                        <m:ctrlPr>
                          <a:rPr lang="en-US" sz="2000" b="0" i="1" smtClean="0">
                            <a:solidFill>
                              <a:srgbClr val="C00000"/>
                            </a:solidFill>
                            <a:latin typeface="Cambria Math" panose="02040503050406030204" pitchFamily="18" charset="0"/>
                          </a:rPr>
                        </m:ctrlPr>
                      </m:sSubPr>
                      <m:e>
                        <m:r>
                          <a:rPr lang="en-US" sz="2000" i="1">
                            <a:solidFill>
                              <a:srgbClr val="C00000"/>
                            </a:solidFill>
                            <a:latin typeface="Cambria Math" panose="02040503050406030204" pitchFamily="18" charset="0"/>
                          </a:rPr>
                          <m:t>𝑘</m:t>
                        </m:r>
                      </m:e>
                      <m:sub>
                        <m:r>
                          <a:rPr lang="en-US" sz="2000" b="0" i="1" smtClean="0">
                            <a:solidFill>
                              <a:srgbClr val="C00000"/>
                            </a:solidFill>
                            <a:latin typeface="Cambria Math" panose="02040503050406030204" pitchFamily="18" charset="0"/>
                          </a:rPr>
                          <m:t>𝑈</m:t>
                        </m:r>
                      </m:sub>
                    </m:sSub>
                  </m:oMath>
                </a14:m>
                <a:r>
                  <a:rPr lang="en-US" sz="2200" dirty="0">
                    <a:solidFill>
                      <a:srgbClr val="C00000"/>
                    </a:solidFill>
                    <a:latin typeface="Candara" panose="020E0502030303020204" pitchFamily="34" charset="0"/>
                  </a:rPr>
                  <a:t> </a:t>
                </a:r>
              </a:p>
            </p:txBody>
          </p:sp>
        </mc:Choice>
        <mc:Fallback xmlns="">
          <p:sp>
            <p:nvSpPr>
              <p:cNvPr id="16" name="Rounded Rectangle 15">
                <a:extLst>
                  <a:ext uri="{FF2B5EF4-FFF2-40B4-BE49-F238E27FC236}">
                    <a16:creationId xmlns:a16="http://schemas.microsoft.com/office/drawing/2014/main" id="{99AE12F8-9B19-1587-B864-5193E035E0BB}"/>
                  </a:ext>
                </a:extLst>
              </p:cNvPr>
              <p:cNvSpPr>
                <a:spLocks noRot="1" noChangeAspect="1" noMove="1" noResize="1" noEditPoints="1" noAdjustHandles="1" noChangeArrowheads="1" noChangeShapeType="1" noTextEdit="1"/>
              </p:cNvSpPr>
              <p:nvPr/>
            </p:nvSpPr>
            <p:spPr>
              <a:xfrm>
                <a:off x="2626024" y="5344961"/>
                <a:ext cx="2467491" cy="572045"/>
              </a:xfrm>
              <a:prstGeom prst="roundRect">
                <a:avLst/>
              </a:prstGeom>
              <a:blipFill>
                <a:blip r:embed="rId11"/>
                <a:stretch>
                  <a:fillRect b="-8511"/>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4575E93-AF79-34A4-CE38-96348D7E1BE9}"/>
                  </a:ext>
                </a:extLst>
              </p:cNvPr>
              <p:cNvSpPr txBox="1"/>
              <p:nvPr/>
            </p:nvSpPr>
            <p:spPr>
              <a:xfrm>
                <a:off x="2265332" y="2564883"/>
                <a:ext cx="67409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𝑠</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𝑘</m:t>
                          </m:r>
                        </m:e>
                        <m:sub>
                          <m:r>
                            <a:rPr lang="en-US" sz="2400" b="0" i="1" smtClean="0">
                              <a:solidFill>
                                <a:srgbClr val="C00000"/>
                              </a:solidFill>
                              <a:latin typeface="Cambria Math" panose="02040503050406030204" pitchFamily="18" charset="0"/>
                            </a:rPr>
                            <m:t>𝐼</m:t>
                          </m:r>
                        </m:sub>
                      </m:sSub>
                    </m:oMath>
                  </m:oMathPara>
                </a14:m>
                <a:endParaRPr lang="en-US" sz="2400" dirty="0">
                  <a:solidFill>
                    <a:srgbClr val="C00000"/>
                  </a:solidFill>
                  <a:latin typeface="Candara" panose="020E0502030303020204" pitchFamily="34" charset="0"/>
                </a:endParaRPr>
              </a:p>
            </p:txBody>
          </p:sp>
        </mc:Choice>
        <mc:Fallback xmlns="">
          <p:sp>
            <p:nvSpPr>
              <p:cNvPr id="18" name="TextBox 17">
                <a:extLst>
                  <a:ext uri="{FF2B5EF4-FFF2-40B4-BE49-F238E27FC236}">
                    <a16:creationId xmlns:a16="http://schemas.microsoft.com/office/drawing/2014/main" id="{B4575E93-AF79-34A4-CE38-96348D7E1BE9}"/>
                  </a:ext>
                </a:extLst>
              </p:cNvPr>
              <p:cNvSpPr txBox="1">
                <a:spLocks noRot="1" noChangeAspect="1" noMove="1" noResize="1" noEditPoints="1" noAdjustHandles="1" noChangeArrowheads="1" noChangeShapeType="1" noTextEdit="1"/>
              </p:cNvSpPr>
              <p:nvPr/>
            </p:nvSpPr>
            <p:spPr>
              <a:xfrm>
                <a:off x="2265332" y="2564883"/>
                <a:ext cx="674094" cy="461665"/>
              </a:xfrm>
              <a:prstGeom prst="rect">
                <a:avLst/>
              </a:prstGeom>
              <a:blipFill>
                <a:blip r:embed="rId12"/>
                <a:stretch>
                  <a:fillRect b="-27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E137645-5509-AAAE-BEAC-20F8F59FC405}"/>
                  </a:ext>
                </a:extLst>
              </p:cNvPr>
              <p:cNvSpPr txBox="1"/>
              <p:nvPr/>
            </p:nvSpPr>
            <p:spPr>
              <a:xfrm>
                <a:off x="4732456" y="5931582"/>
                <a:ext cx="70044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𝑝</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𝑘</m:t>
                          </m:r>
                        </m:e>
                        <m:sub>
                          <m:r>
                            <a:rPr lang="en-US" sz="2400" b="0" i="1" smtClean="0">
                              <a:solidFill>
                                <a:srgbClr val="C00000"/>
                              </a:solidFill>
                              <a:latin typeface="Cambria Math" panose="02040503050406030204" pitchFamily="18" charset="0"/>
                            </a:rPr>
                            <m:t>𝐼</m:t>
                          </m:r>
                        </m:sub>
                      </m:sSub>
                    </m:oMath>
                  </m:oMathPara>
                </a14:m>
                <a:endParaRPr lang="en-US" sz="2400" dirty="0">
                  <a:solidFill>
                    <a:srgbClr val="C00000"/>
                  </a:solidFill>
                  <a:latin typeface="Candara" panose="020E0502030303020204" pitchFamily="34" charset="0"/>
                </a:endParaRPr>
              </a:p>
            </p:txBody>
          </p:sp>
        </mc:Choice>
        <mc:Fallback xmlns="">
          <p:sp>
            <p:nvSpPr>
              <p:cNvPr id="19" name="TextBox 18">
                <a:extLst>
                  <a:ext uri="{FF2B5EF4-FFF2-40B4-BE49-F238E27FC236}">
                    <a16:creationId xmlns:a16="http://schemas.microsoft.com/office/drawing/2014/main" id="{0E137645-5509-AAAE-BEAC-20F8F59FC405}"/>
                  </a:ext>
                </a:extLst>
              </p:cNvPr>
              <p:cNvSpPr txBox="1">
                <a:spLocks noRot="1" noChangeAspect="1" noMove="1" noResize="1" noEditPoints="1" noAdjustHandles="1" noChangeArrowheads="1" noChangeShapeType="1" noTextEdit="1"/>
              </p:cNvSpPr>
              <p:nvPr/>
            </p:nvSpPr>
            <p:spPr>
              <a:xfrm>
                <a:off x="4732456" y="5931582"/>
                <a:ext cx="700448" cy="461665"/>
              </a:xfrm>
              <a:prstGeom prst="rect">
                <a:avLst/>
              </a:prstGeom>
              <a:blipFill>
                <a:blip r:embed="rId13"/>
                <a:stretch>
                  <a:fillRect b="-81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564ED35-0A60-F63C-0A4F-745EB8064B50}"/>
                  </a:ext>
                </a:extLst>
              </p:cNvPr>
              <p:cNvSpPr txBox="1"/>
              <p:nvPr/>
            </p:nvSpPr>
            <p:spPr>
              <a:xfrm>
                <a:off x="8738281" y="2563753"/>
                <a:ext cx="70044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solidFill>
                            <a:srgbClr val="C00000"/>
                          </a:solidFill>
                          <a:latin typeface="Cambria Math" panose="02040503050406030204" pitchFamily="18" charset="0"/>
                        </a:rPr>
                        <m:t>𝑝</m:t>
                      </m:r>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𝑘</m:t>
                          </m:r>
                        </m:e>
                        <m:sub>
                          <m:r>
                            <a:rPr lang="en-US" sz="2400" i="1">
                              <a:solidFill>
                                <a:srgbClr val="C00000"/>
                              </a:solidFill>
                              <a:latin typeface="Cambria Math" panose="02040503050406030204" pitchFamily="18" charset="0"/>
                            </a:rPr>
                            <m:t>𝐼</m:t>
                          </m:r>
                        </m:sub>
                      </m:sSub>
                    </m:oMath>
                  </m:oMathPara>
                </a14:m>
                <a:endParaRPr lang="en-US" sz="2400" dirty="0">
                  <a:solidFill>
                    <a:srgbClr val="C00000"/>
                  </a:solidFill>
                  <a:latin typeface="Candara" panose="020E0502030303020204" pitchFamily="34" charset="0"/>
                </a:endParaRPr>
              </a:p>
            </p:txBody>
          </p:sp>
        </mc:Choice>
        <mc:Fallback xmlns="">
          <p:sp>
            <p:nvSpPr>
              <p:cNvPr id="20" name="TextBox 19">
                <a:extLst>
                  <a:ext uri="{FF2B5EF4-FFF2-40B4-BE49-F238E27FC236}">
                    <a16:creationId xmlns:a16="http://schemas.microsoft.com/office/drawing/2014/main" id="{7564ED35-0A60-F63C-0A4F-745EB8064B50}"/>
                  </a:ext>
                </a:extLst>
              </p:cNvPr>
              <p:cNvSpPr txBox="1">
                <a:spLocks noRot="1" noChangeAspect="1" noMove="1" noResize="1" noEditPoints="1" noAdjustHandles="1" noChangeArrowheads="1" noChangeShapeType="1" noTextEdit="1"/>
              </p:cNvSpPr>
              <p:nvPr/>
            </p:nvSpPr>
            <p:spPr>
              <a:xfrm>
                <a:off x="8738281" y="2563753"/>
                <a:ext cx="700448" cy="461665"/>
              </a:xfrm>
              <a:prstGeom prst="rect">
                <a:avLst/>
              </a:prstGeom>
              <a:blipFill>
                <a:blip r:embed="rId14"/>
                <a:stretch>
                  <a:fillRect b="-8108"/>
                </a:stretch>
              </a:blipFill>
            </p:spPr>
            <p:txBody>
              <a:bodyPr/>
              <a:lstStyle/>
              <a:p>
                <a:r>
                  <a:rPr lang="en-US">
                    <a:noFill/>
                  </a:rPr>
                  <a:t> </a:t>
                </a:r>
              </a:p>
            </p:txBody>
          </p:sp>
        </mc:Fallback>
      </mc:AlternateContent>
      <p:sp>
        <p:nvSpPr>
          <p:cNvPr id="23" name="Rounded Rectangle 22">
            <a:extLst>
              <a:ext uri="{FF2B5EF4-FFF2-40B4-BE49-F238E27FC236}">
                <a16:creationId xmlns:a16="http://schemas.microsoft.com/office/drawing/2014/main" id="{05509D25-FCFC-0299-D44C-F1C948446ADB}"/>
              </a:ext>
            </a:extLst>
          </p:cNvPr>
          <p:cNvSpPr/>
          <p:nvPr/>
        </p:nvSpPr>
        <p:spPr>
          <a:xfrm>
            <a:off x="7797611" y="3216626"/>
            <a:ext cx="4292453" cy="1365247"/>
          </a:xfrm>
          <a:prstGeom prst="roundRect">
            <a:avLst/>
          </a:prstGeom>
          <a:solidFill>
            <a:schemeClr val="tx2">
              <a:lumMod val="10000"/>
              <a:lumOff val="9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200" b="1" dirty="0">
                <a:solidFill>
                  <a:srgbClr val="C00000"/>
                </a:solidFill>
                <a:latin typeface="Candara" panose="020E0502030303020204" pitchFamily="34" charset="0"/>
              </a:rPr>
              <a:t>Anonymity:</a:t>
            </a:r>
            <a:r>
              <a:rPr lang="en-US" sz="2200" dirty="0">
                <a:solidFill>
                  <a:srgbClr val="C00000"/>
                </a:solidFill>
                <a:latin typeface="Candara" panose="020E0502030303020204" pitchFamily="34" charset="0"/>
              </a:rPr>
              <a:t> Even if issuer and verifier collude, cannot link/track the user.</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5D96485-85E7-044D-D252-5D97EC120330}"/>
                  </a:ext>
                </a:extLst>
              </p:cNvPr>
              <p:cNvSpPr txBox="1"/>
              <p:nvPr/>
            </p:nvSpPr>
            <p:spPr>
              <a:xfrm>
                <a:off x="6788535" y="3964178"/>
                <a:ext cx="1066855"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a:solidFill>
                            <a:srgbClr val="C00000"/>
                          </a:solidFill>
                          <a:latin typeface="Cambria Math" panose="02040503050406030204" pitchFamily="18" charset="0"/>
                        </a:rPr>
                        <m:t>𝑠𝑛</m:t>
                      </m:r>
                      <m:r>
                        <a:rPr lang="en-US" sz="2400" i="1">
                          <a:solidFill>
                            <a:srgbClr val="C00000"/>
                          </a:solidFill>
                          <a:latin typeface="Cambria Math" panose="02040503050406030204" pitchFamily="18" charset="0"/>
                        </a:rPr>
                        <m:t>, </m:t>
                      </m:r>
                      <m:r>
                        <a:rPr lang="en-US" sz="2400" i="1">
                          <a:solidFill>
                            <a:srgbClr val="C00000"/>
                          </a:solidFill>
                          <a:latin typeface="Cambria Math" panose="02040503050406030204" pitchFamily="18" charset="0"/>
                        </a:rPr>
                        <m:t>𝜋</m:t>
                      </m:r>
                    </m:oMath>
                  </m:oMathPara>
                </a14:m>
                <a:endParaRPr lang="en-US" sz="2400" dirty="0">
                  <a:solidFill>
                    <a:srgbClr val="C00000"/>
                  </a:solidFill>
                  <a:latin typeface="Candara" panose="020E0502030303020204" pitchFamily="34" charset="0"/>
                </a:endParaRPr>
              </a:p>
            </p:txBody>
          </p:sp>
        </mc:Choice>
        <mc:Fallback xmlns="">
          <p:sp>
            <p:nvSpPr>
              <p:cNvPr id="24" name="TextBox 23">
                <a:extLst>
                  <a:ext uri="{FF2B5EF4-FFF2-40B4-BE49-F238E27FC236}">
                    <a16:creationId xmlns:a16="http://schemas.microsoft.com/office/drawing/2014/main" id="{B5D96485-85E7-044D-D252-5D97EC120330}"/>
                  </a:ext>
                </a:extLst>
              </p:cNvPr>
              <p:cNvSpPr txBox="1">
                <a:spLocks noRot="1" noChangeAspect="1" noMove="1" noResize="1" noEditPoints="1" noAdjustHandles="1" noChangeArrowheads="1" noChangeShapeType="1" noTextEdit="1"/>
              </p:cNvSpPr>
              <p:nvPr/>
            </p:nvSpPr>
            <p:spPr>
              <a:xfrm>
                <a:off x="6788535" y="3964178"/>
                <a:ext cx="1066855" cy="461665"/>
              </a:xfrm>
              <a:prstGeom prst="rect">
                <a:avLst/>
              </a:prstGeom>
              <a:blipFill>
                <a:blip r:embed="rId15"/>
                <a:stretch>
                  <a:fillRect/>
                </a:stretch>
              </a:blipFill>
            </p:spPr>
            <p:txBody>
              <a:bodyPr/>
              <a:lstStyle/>
              <a:p>
                <a:r>
                  <a:rPr lang="en-US">
                    <a:noFill/>
                  </a:rPr>
                  <a:t> </a:t>
                </a:r>
              </a:p>
            </p:txBody>
          </p:sp>
        </mc:Fallback>
      </mc:AlternateContent>
      <p:cxnSp>
        <p:nvCxnSpPr>
          <p:cNvPr id="25" name="Straight Arrow Connector 24">
            <a:extLst>
              <a:ext uri="{FF2B5EF4-FFF2-40B4-BE49-F238E27FC236}">
                <a16:creationId xmlns:a16="http://schemas.microsoft.com/office/drawing/2014/main" id="{F6CB16AD-2CAB-FF59-BB32-110DD42E04A2}"/>
              </a:ext>
            </a:extLst>
          </p:cNvPr>
          <p:cNvCxnSpPr>
            <a:cxnSpLocks/>
          </p:cNvCxnSpPr>
          <p:nvPr/>
        </p:nvCxnSpPr>
        <p:spPr>
          <a:xfrm>
            <a:off x="4603917" y="2509808"/>
            <a:ext cx="2640851" cy="0"/>
          </a:xfrm>
          <a:prstGeom prst="straightConnector1">
            <a:avLst/>
          </a:prstGeom>
          <a:ln w="57150">
            <a:solidFill>
              <a:srgbClr val="C00000"/>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pic>
        <p:nvPicPr>
          <p:cNvPr id="26" name="Graphic 25" descr="Exclamation mark with solid fill">
            <a:extLst>
              <a:ext uri="{FF2B5EF4-FFF2-40B4-BE49-F238E27FC236}">
                <a16:creationId xmlns:a16="http://schemas.microsoft.com/office/drawing/2014/main" id="{A63BCAE1-4E0A-D61E-4265-BCCAF90068F9}"/>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1353800" y="3966610"/>
            <a:ext cx="914400" cy="914400"/>
          </a:xfrm>
          <a:prstGeom prst="rect">
            <a:avLst/>
          </a:prstGeom>
        </p:spPr>
      </p:pic>
      <mc:AlternateContent xmlns:mc="http://schemas.openxmlformats.org/markup-compatibility/2006" xmlns:a14="http://schemas.microsoft.com/office/drawing/2010/main">
        <mc:Choice Requires="a14">
          <p:sp>
            <p:nvSpPr>
              <p:cNvPr id="27" name="Oval Callout 26">
                <a:extLst>
                  <a:ext uri="{FF2B5EF4-FFF2-40B4-BE49-F238E27FC236}">
                    <a16:creationId xmlns:a16="http://schemas.microsoft.com/office/drawing/2014/main" id="{0B60BD39-381D-C5B9-E16E-5DF23E07DA79}"/>
                  </a:ext>
                </a:extLst>
              </p:cNvPr>
              <p:cNvSpPr/>
              <p:nvPr/>
            </p:nvSpPr>
            <p:spPr>
              <a:xfrm>
                <a:off x="7688460" y="4459390"/>
                <a:ext cx="4625249" cy="1634837"/>
              </a:xfrm>
              <a:prstGeom prst="wedgeEllipseCallout">
                <a:avLst>
                  <a:gd name="adj1" fmla="val -51473"/>
                  <a:gd name="adj2" fmla="val -56466"/>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C00000"/>
                    </a:solidFill>
                    <a:latin typeface="Candara" panose="020E0502030303020204" pitchFamily="34" charset="0"/>
                  </a:rPr>
                  <a:t>Here is a proof/token that I am authorized by </a:t>
                </a:r>
                <a14:m>
                  <m:oMath xmlns:m="http://schemas.openxmlformats.org/officeDocument/2006/math">
                    <m:r>
                      <a:rPr lang="en-US" sz="2000" i="1">
                        <a:solidFill>
                          <a:srgbClr val="C00000"/>
                        </a:solidFill>
                        <a:latin typeface="Cambria Math" panose="02040503050406030204" pitchFamily="18" charset="0"/>
                      </a:rPr>
                      <m:t>𝑠</m:t>
                    </m:r>
                    <m:sSub>
                      <m:sSubPr>
                        <m:ctrlPr>
                          <a:rPr lang="en-US" sz="2000" i="1">
                            <a:solidFill>
                              <a:srgbClr val="C00000"/>
                            </a:solidFill>
                            <a:latin typeface="Cambria Math" panose="02040503050406030204" pitchFamily="18" charset="0"/>
                          </a:rPr>
                        </m:ctrlPr>
                      </m:sSubPr>
                      <m:e>
                        <m:r>
                          <a:rPr lang="en-US" sz="2000" i="1">
                            <a:solidFill>
                              <a:srgbClr val="C00000"/>
                            </a:solidFill>
                            <a:latin typeface="Cambria Math" panose="02040503050406030204" pitchFamily="18" charset="0"/>
                          </a:rPr>
                          <m:t>𝑘</m:t>
                        </m:r>
                      </m:e>
                      <m:sub>
                        <m:r>
                          <a:rPr lang="en-US" sz="2000" i="1">
                            <a:solidFill>
                              <a:srgbClr val="C00000"/>
                            </a:solidFill>
                            <a:latin typeface="Cambria Math" panose="02040503050406030204" pitchFamily="18" charset="0"/>
                          </a:rPr>
                          <m:t>𝐼</m:t>
                        </m:r>
                      </m:sub>
                    </m:sSub>
                  </m:oMath>
                </a14:m>
                <a:r>
                  <a:rPr lang="en-US" sz="2000" dirty="0">
                    <a:solidFill>
                      <a:srgbClr val="C00000"/>
                    </a:solidFill>
                    <a:latin typeface="Candara" panose="020E0502030303020204" pitchFamily="34" charset="0"/>
                  </a:rPr>
                  <a:t>. </a:t>
                </a:r>
              </a:p>
            </p:txBody>
          </p:sp>
        </mc:Choice>
        <mc:Fallback xmlns="">
          <p:sp>
            <p:nvSpPr>
              <p:cNvPr id="27" name="Oval Callout 26">
                <a:extLst>
                  <a:ext uri="{FF2B5EF4-FFF2-40B4-BE49-F238E27FC236}">
                    <a16:creationId xmlns:a16="http://schemas.microsoft.com/office/drawing/2014/main" id="{0B60BD39-381D-C5B9-E16E-5DF23E07DA79}"/>
                  </a:ext>
                </a:extLst>
              </p:cNvPr>
              <p:cNvSpPr>
                <a:spLocks noRot="1" noChangeAspect="1" noMove="1" noResize="1" noEditPoints="1" noAdjustHandles="1" noChangeArrowheads="1" noChangeShapeType="1" noTextEdit="1"/>
              </p:cNvSpPr>
              <p:nvPr/>
            </p:nvSpPr>
            <p:spPr>
              <a:xfrm>
                <a:off x="7688460" y="4459390"/>
                <a:ext cx="4625249" cy="1634837"/>
              </a:xfrm>
              <a:prstGeom prst="wedgeEllipseCallout">
                <a:avLst>
                  <a:gd name="adj1" fmla="val -51473"/>
                  <a:gd name="adj2" fmla="val -56466"/>
                </a:avLst>
              </a:prstGeom>
              <a:blipFill>
                <a:blip r:embed="rId18"/>
                <a:stretch>
                  <a:fillRect/>
                </a:stretch>
              </a:blipFill>
              <a:ln>
                <a:noFill/>
              </a:ln>
            </p:spPr>
            <p:txBody>
              <a:bodyPr/>
              <a:lstStyle/>
              <a:p>
                <a:r>
                  <a:rPr lang="en-US">
                    <a:noFill/>
                  </a:rPr>
                  <a:t> </a:t>
                </a:r>
              </a:p>
            </p:txBody>
          </p:sp>
        </mc:Fallback>
      </mc:AlternateContent>
      <p:grpSp>
        <p:nvGrpSpPr>
          <p:cNvPr id="3" name="Group 2">
            <a:extLst>
              <a:ext uri="{FF2B5EF4-FFF2-40B4-BE49-F238E27FC236}">
                <a16:creationId xmlns:a16="http://schemas.microsoft.com/office/drawing/2014/main" id="{F8384E34-D124-09CA-F7C1-56C6CDFAA44B}"/>
              </a:ext>
            </a:extLst>
          </p:cNvPr>
          <p:cNvGrpSpPr/>
          <p:nvPr/>
        </p:nvGrpSpPr>
        <p:grpSpPr>
          <a:xfrm rot="16200000">
            <a:off x="6201442" y="3414997"/>
            <a:ext cx="1299615" cy="1257689"/>
            <a:chOff x="5387410" y="3205778"/>
            <a:chExt cx="1299615" cy="1257689"/>
          </a:xfrm>
        </p:grpSpPr>
        <p:cxnSp>
          <p:nvCxnSpPr>
            <p:cNvPr id="14" name="Straight Arrow Connector 13">
              <a:extLst>
                <a:ext uri="{FF2B5EF4-FFF2-40B4-BE49-F238E27FC236}">
                  <a16:creationId xmlns:a16="http://schemas.microsoft.com/office/drawing/2014/main" id="{11BF5EEF-F398-BBE9-1857-A795C6B5C4AC}"/>
                </a:ext>
              </a:extLst>
            </p:cNvPr>
            <p:cNvCxnSpPr>
              <a:cxnSpLocks/>
            </p:cNvCxnSpPr>
            <p:nvPr/>
          </p:nvCxnSpPr>
          <p:spPr>
            <a:xfrm>
              <a:off x="5387410" y="3351640"/>
              <a:ext cx="1111827" cy="1111827"/>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603AD3D3-A673-187F-AD9A-6A022A94628C}"/>
                </a:ext>
              </a:extLst>
            </p:cNvPr>
            <p:cNvCxnSpPr>
              <a:cxnSpLocks/>
            </p:cNvCxnSpPr>
            <p:nvPr/>
          </p:nvCxnSpPr>
          <p:spPr>
            <a:xfrm flipH="1" flipV="1">
              <a:off x="5620171" y="3205778"/>
              <a:ext cx="1066854" cy="1066854"/>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grpSp>
      <p:pic>
        <p:nvPicPr>
          <p:cNvPr id="1028" name="Picture 4" descr="Cloudflare supports Privacy Pass">
            <a:extLst>
              <a:ext uri="{FF2B5EF4-FFF2-40B4-BE49-F238E27FC236}">
                <a16:creationId xmlns:a16="http://schemas.microsoft.com/office/drawing/2014/main" id="{1DD4D9C6-2EF0-C3A9-24DE-9665997D8AC1}"/>
              </a:ext>
            </a:extLst>
          </p:cNvPr>
          <p:cNvPicPr>
            <a:picLocks noChangeAspect="1" noChangeArrowheads="1"/>
          </p:cNvPicPr>
          <p:nvPr/>
        </p:nvPicPr>
        <p:blipFill rotWithShape="1">
          <a:blip r:embed="rId19">
            <a:extLst>
              <a:ext uri="{28A0092B-C50C-407E-A947-70E740481C1C}">
                <a14:useLocalDpi xmlns:a14="http://schemas.microsoft.com/office/drawing/2010/main" val="0"/>
              </a:ext>
            </a:extLst>
          </a:blip>
          <a:srcRect l="-571" t="27271" r="571" b="26964"/>
          <a:stretch>
            <a:fillRect/>
          </a:stretch>
        </p:blipFill>
        <p:spPr bwMode="auto">
          <a:xfrm>
            <a:off x="8878745" y="341583"/>
            <a:ext cx="2963014" cy="8629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3037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3" grpId="0" animBg="1"/>
      <p:bldP spid="16" grpId="0" animBg="1"/>
      <p:bldP spid="18" grpId="0"/>
      <p:bldP spid="19" grpId="0"/>
      <p:bldP spid="20" grpId="0"/>
      <p:bldP spid="23" grpId="0" animBg="1"/>
      <p:bldP spid="24" grpId="0"/>
      <p:bldP spid="2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 name="Rounded Rectangle 11">
                <a:extLst>
                  <a:ext uri="{FF2B5EF4-FFF2-40B4-BE49-F238E27FC236}">
                    <a16:creationId xmlns:a16="http://schemas.microsoft.com/office/drawing/2014/main" id="{01C3DA2C-FAC5-7D91-5376-27B52E96ED53}"/>
                  </a:ext>
                </a:extLst>
              </p:cNvPr>
              <p:cNvSpPr/>
              <p:nvPr/>
            </p:nvSpPr>
            <p:spPr>
              <a:xfrm>
                <a:off x="2626024" y="5344961"/>
                <a:ext cx="2467491" cy="572045"/>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solidFill>
                      <a:srgbClr val="C00000"/>
                    </a:solidFill>
                    <a:latin typeface="Candara" panose="020E0502030303020204" pitchFamily="34" charset="0"/>
                  </a:rPr>
                  <a:t>User Identity </a:t>
                </a:r>
                <a14:m>
                  <m:oMath xmlns:m="http://schemas.openxmlformats.org/officeDocument/2006/math">
                    <m:r>
                      <a:rPr lang="en-US" sz="2000" i="1" smtClean="0">
                        <a:solidFill>
                          <a:srgbClr val="C00000"/>
                        </a:solidFill>
                        <a:latin typeface="Cambria Math" panose="02040503050406030204" pitchFamily="18" charset="0"/>
                      </a:rPr>
                      <m:t>𝑝</m:t>
                    </m:r>
                    <m:sSub>
                      <m:sSubPr>
                        <m:ctrlPr>
                          <a:rPr lang="en-US" sz="2000" b="0" i="1" smtClean="0">
                            <a:solidFill>
                              <a:srgbClr val="C00000"/>
                            </a:solidFill>
                            <a:latin typeface="Cambria Math" panose="02040503050406030204" pitchFamily="18" charset="0"/>
                          </a:rPr>
                        </m:ctrlPr>
                      </m:sSubPr>
                      <m:e>
                        <m:r>
                          <a:rPr lang="en-US" sz="2000" i="1">
                            <a:solidFill>
                              <a:srgbClr val="C00000"/>
                            </a:solidFill>
                            <a:latin typeface="Cambria Math" panose="02040503050406030204" pitchFamily="18" charset="0"/>
                          </a:rPr>
                          <m:t>𝑘</m:t>
                        </m:r>
                      </m:e>
                      <m:sub>
                        <m:r>
                          <a:rPr lang="en-US" sz="2000" b="0" i="1" smtClean="0">
                            <a:solidFill>
                              <a:srgbClr val="C00000"/>
                            </a:solidFill>
                            <a:latin typeface="Cambria Math" panose="02040503050406030204" pitchFamily="18" charset="0"/>
                          </a:rPr>
                          <m:t>𝑈</m:t>
                        </m:r>
                      </m:sub>
                    </m:sSub>
                  </m:oMath>
                </a14:m>
                <a:r>
                  <a:rPr lang="en-US" sz="2200" dirty="0">
                    <a:solidFill>
                      <a:srgbClr val="C00000"/>
                    </a:solidFill>
                    <a:latin typeface="Candara" panose="020E0502030303020204" pitchFamily="34" charset="0"/>
                  </a:rPr>
                  <a:t> </a:t>
                </a:r>
              </a:p>
            </p:txBody>
          </p:sp>
        </mc:Choice>
        <mc:Fallback xmlns="">
          <p:sp>
            <p:nvSpPr>
              <p:cNvPr id="12" name="Rounded Rectangle 11">
                <a:extLst>
                  <a:ext uri="{FF2B5EF4-FFF2-40B4-BE49-F238E27FC236}">
                    <a16:creationId xmlns:a16="http://schemas.microsoft.com/office/drawing/2014/main" id="{01C3DA2C-FAC5-7D91-5376-27B52E96ED53}"/>
                  </a:ext>
                </a:extLst>
              </p:cNvPr>
              <p:cNvSpPr>
                <a:spLocks noRot="1" noChangeAspect="1" noMove="1" noResize="1" noEditPoints="1" noAdjustHandles="1" noChangeArrowheads="1" noChangeShapeType="1" noTextEdit="1"/>
              </p:cNvSpPr>
              <p:nvPr/>
            </p:nvSpPr>
            <p:spPr>
              <a:xfrm>
                <a:off x="2626024" y="5344961"/>
                <a:ext cx="2467491" cy="572045"/>
              </a:xfrm>
              <a:prstGeom prst="roundRect">
                <a:avLst/>
              </a:prstGeom>
              <a:blipFill>
                <a:blip r:embed="rId3"/>
                <a:stretch>
                  <a:fillRect b="-8511"/>
                </a:stretch>
              </a:blipFill>
              <a:ln>
                <a:noFill/>
              </a:ln>
            </p:spPr>
            <p:txBody>
              <a:bodyPr/>
              <a:lstStyle/>
              <a:p>
                <a:r>
                  <a:rPr lang="en-US">
                    <a:noFill/>
                  </a:rPr>
                  <a:t> </a:t>
                </a:r>
              </a:p>
            </p:txBody>
          </p:sp>
        </mc:Fallback>
      </mc:AlternateContent>
      <p:sp>
        <p:nvSpPr>
          <p:cNvPr id="2" name="Title 1">
            <a:extLst>
              <a:ext uri="{FF2B5EF4-FFF2-40B4-BE49-F238E27FC236}">
                <a16:creationId xmlns:a16="http://schemas.microsoft.com/office/drawing/2014/main" id="{0BAE6566-8537-0E96-28A0-27C89D723855}"/>
              </a:ext>
            </a:extLst>
          </p:cNvPr>
          <p:cNvSpPr>
            <a:spLocks noGrp="1"/>
          </p:cNvSpPr>
          <p:nvPr>
            <p:ph type="title"/>
          </p:nvPr>
        </p:nvSpPr>
        <p:spPr/>
        <p:txBody>
          <a:bodyPr/>
          <a:lstStyle/>
          <a:p>
            <a:r>
              <a:rPr lang="en-US" dirty="0">
                <a:latin typeface="Candara" panose="020E0502030303020204" pitchFamily="34" charset="0"/>
              </a:rPr>
              <a:t>Rate-Limitation</a:t>
            </a:r>
          </a:p>
        </p:txBody>
      </p:sp>
      <p:pic>
        <p:nvPicPr>
          <p:cNvPr id="5" name="Graphic 4" descr="Bank outline">
            <a:extLst>
              <a:ext uri="{FF2B5EF4-FFF2-40B4-BE49-F238E27FC236}">
                <a16:creationId xmlns:a16="http://schemas.microsoft.com/office/drawing/2014/main" id="{EB982324-B376-B065-3527-678B6D06E3F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872385" y="1901556"/>
            <a:ext cx="1634837" cy="1634837"/>
          </a:xfrm>
          <a:prstGeom prst="rect">
            <a:avLst/>
          </a:prstGeom>
        </p:spPr>
      </p:pic>
      <p:pic>
        <p:nvPicPr>
          <p:cNvPr id="6" name="Graphic 5" descr="User outline">
            <a:extLst>
              <a:ext uri="{FF2B5EF4-FFF2-40B4-BE49-F238E27FC236}">
                <a16:creationId xmlns:a16="http://schemas.microsoft.com/office/drawing/2014/main" id="{308694AB-5C60-AB8E-E188-323F7289D83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067282" y="4213155"/>
            <a:ext cx="1330036" cy="1330036"/>
          </a:xfrm>
          <a:prstGeom prst="rect">
            <a:avLst/>
          </a:prstGeom>
        </p:spPr>
      </p:pic>
      <p:pic>
        <p:nvPicPr>
          <p:cNvPr id="7" name="Graphic 6" descr="Store with solid fill">
            <a:extLst>
              <a:ext uri="{FF2B5EF4-FFF2-40B4-BE49-F238E27FC236}">
                <a16:creationId xmlns:a16="http://schemas.microsoft.com/office/drawing/2014/main" id="{AD8128AA-559B-7FA9-3358-2D8FEEAA0DE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243908" y="1901555"/>
            <a:ext cx="1634837" cy="1634837"/>
          </a:xfrm>
          <a:prstGeom prst="rect">
            <a:avLst/>
          </a:prstGeom>
        </p:spPr>
      </p:pic>
      <p:sp>
        <p:nvSpPr>
          <p:cNvPr id="8" name="TextBox 7">
            <a:extLst>
              <a:ext uri="{FF2B5EF4-FFF2-40B4-BE49-F238E27FC236}">
                <a16:creationId xmlns:a16="http://schemas.microsoft.com/office/drawing/2014/main" id="{7131A9C5-E5E3-56ED-D130-96854C937DEA}"/>
              </a:ext>
            </a:extLst>
          </p:cNvPr>
          <p:cNvSpPr txBox="1"/>
          <p:nvPr/>
        </p:nvSpPr>
        <p:spPr>
          <a:xfrm>
            <a:off x="5330120" y="5426375"/>
            <a:ext cx="792205" cy="461665"/>
          </a:xfrm>
          <a:prstGeom prst="rect">
            <a:avLst/>
          </a:prstGeom>
          <a:noFill/>
        </p:spPr>
        <p:txBody>
          <a:bodyPr wrap="none" rtlCol="0">
            <a:spAutoFit/>
          </a:bodyPr>
          <a:lstStyle/>
          <a:p>
            <a:r>
              <a:rPr lang="en-US" sz="2400" b="1" dirty="0">
                <a:latin typeface="Candara" panose="020E0502030303020204" pitchFamily="34" charset="0"/>
              </a:rPr>
              <a:t>User</a:t>
            </a:r>
          </a:p>
        </p:txBody>
      </p:sp>
      <p:sp>
        <p:nvSpPr>
          <p:cNvPr id="9" name="TextBox 8">
            <a:extLst>
              <a:ext uri="{FF2B5EF4-FFF2-40B4-BE49-F238E27FC236}">
                <a16:creationId xmlns:a16="http://schemas.microsoft.com/office/drawing/2014/main" id="{D3AE7C92-C975-C176-1D0E-C7E21BBDEEB2}"/>
              </a:ext>
            </a:extLst>
          </p:cNvPr>
          <p:cNvSpPr txBox="1"/>
          <p:nvPr/>
        </p:nvSpPr>
        <p:spPr>
          <a:xfrm>
            <a:off x="3073976" y="1581190"/>
            <a:ext cx="973343" cy="461665"/>
          </a:xfrm>
          <a:prstGeom prst="rect">
            <a:avLst/>
          </a:prstGeom>
          <a:noFill/>
        </p:spPr>
        <p:txBody>
          <a:bodyPr wrap="none" rtlCol="0">
            <a:spAutoFit/>
          </a:bodyPr>
          <a:lstStyle/>
          <a:p>
            <a:r>
              <a:rPr lang="en-US" sz="2400" b="1" dirty="0">
                <a:latin typeface="Candara" panose="020E0502030303020204" pitchFamily="34" charset="0"/>
              </a:rPr>
              <a:t>Issuer</a:t>
            </a:r>
          </a:p>
        </p:txBody>
      </p:sp>
      <p:sp>
        <p:nvSpPr>
          <p:cNvPr id="10" name="TextBox 9">
            <a:extLst>
              <a:ext uri="{FF2B5EF4-FFF2-40B4-BE49-F238E27FC236}">
                <a16:creationId xmlns:a16="http://schemas.microsoft.com/office/drawing/2014/main" id="{4E88A6B8-564C-56C8-F811-B5D4AAA1E8FC}"/>
              </a:ext>
            </a:extLst>
          </p:cNvPr>
          <p:cNvSpPr txBox="1"/>
          <p:nvPr/>
        </p:nvSpPr>
        <p:spPr>
          <a:xfrm>
            <a:off x="7463245" y="1299084"/>
            <a:ext cx="1196161" cy="461665"/>
          </a:xfrm>
          <a:prstGeom prst="rect">
            <a:avLst/>
          </a:prstGeom>
          <a:noFill/>
        </p:spPr>
        <p:txBody>
          <a:bodyPr wrap="none" rtlCol="0">
            <a:spAutoFit/>
          </a:bodyPr>
          <a:lstStyle/>
          <a:p>
            <a:r>
              <a:rPr lang="en-US" sz="2400" b="1" dirty="0">
                <a:latin typeface="Candara" panose="020E0502030303020204" pitchFamily="34" charset="0"/>
              </a:rPr>
              <a:t>Verifier</a:t>
            </a:r>
          </a:p>
        </p:txBody>
      </p:sp>
      <p:cxnSp>
        <p:nvCxnSpPr>
          <p:cNvPr id="11" name="Straight Arrow Connector 10">
            <a:extLst>
              <a:ext uri="{FF2B5EF4-FFF2-40B4-BE49-F238E27FC236}">
                <a16:creationId xmlns:a16="http://schemas.microsoft.com/office/drawing/2014/main" id="{1B98864F-8635-6135-BB6C-5833F8AB2710}"/>
              </a:ext>
            </a:extLst>
          </p:cNvPr>
          <p:cNvCxnSpPr>
            <a:cxnSpLocks/>
          </p:cNvCxnSpPr>
          <p:nvPr/>
        </p:nvCxnSpPr>
        <p:spPr>
          <a:xfrm>
            <a:off x="3965298" y="3632584"/>
            <a:ext cx="1111827" cy="1111827"/>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4962CB87-B36E-0447-D5E4-434119F5E45A}"/>
              </a:ext>
            </a:extLst>
          </p:cNvPr>
          <p:cNvCxnSpPr>
            <a:cxnSpLocks/>
          </p:cNvCxnSpPr>
          <p:nvPr/>
        </p:nvCxnSpPr>
        <p:spPr>
          <a:xfrm flipH="1" flipV="1">
            <a:off x="4198059" y="3486722"/>
            <a:ext cx="1066854" cy="1066854"/>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126ED7B-2332-FCF7-FCAA-E786A0A1EF35}"/>
                  </a:ext>
                </a:extLst>
              </p:cNvPr>
              <p:cNvSpPr txBox="1"/>
              <p:nvPr/>
            </p:nvSpPr>
            <p:spPr>
              <a:xfrm>
                <a:off x="2265332" y="2564883"/>
                <a:ext cx="67409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𝑠</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𝑘</m:t>
                          </m:r>
                        </m:e>
                        <m:sub>
                          <m:r>
                            <a:rPr lang="en-US" sz="2400" b="0" i="1" smtClean="0">
                              <a:solidFill>
                                <a:srgbClr val="C00000"/>
                              </a:solidFill>
                              <a:latin typeface="Cambria Math" panose="02040503050406030204" pitchFamily="18" charset="0"/>
                            </a:rPr>
                            <m:t>𝐼</m:t>
                          </m:r>
                        </m:sub>
                      </m:sSub>
                    </m:oMath>
                  </m:oMathPara>
                </a14:m>
                <a:endParaRPr lang="en-US" sz="2400" dirty="0">
                  <a:solidFill>
                    <a:srgbClr val="C00000"/>
                  </a:solidFill>
                  <a:latin typeface="Candara" panose="020E0502030303020204" pitchFamily="34" charset="0"/>
                </a:endParaRPr>
              </a:p>
            </p:txBody>
          </p:sp>
        </mc:Choice>
        <mc:Fallback xmlns="">
          <p:sp>
            <p:nvSpPr>
              <p:cNvPr id="16" name="TextBox 15">
                <a:extLst>
                  <a:ext uri="{FF2B5EF4-FFF2-40B4-BE49-F238E27FC236}">
                    <a16:creationId xmlns:a16="http://schemas.microsoft.com/office/drawing/2014/main" id="{3126ED7B-2332-FCF7-FCAA-E786A0A1EF35}"/>
                  </a:ext>
                </a:extLst>
              </p:cNvPr>
              <p:cNvSpPr txBox="1">
                <a:spLocks noRot="1" noChangeAspect="1" noMove="1" noResize="1" noEditPoints="1" noAdjustHandles="1" noChangeArrowheads="1" noChangeShapeType="1" noTextEdit="1"/>
              </p:cNvSpPr>
              <p:nvPr/>
            </p:nvSpPr>
            <p:spPr>
              <a:xfrm>
                <a:off x="2265332" y="2564883"/>
                <a:ext cx="674094" cy="461665"/>
              </a:xfrm>
              <a:prstGeom prst="rect">
                <a:avLst/>
              </a:prstGeom>
              <a:blipFill>
                <a:blip r:embed="rId11"/>
                <a:stretch>
                  <a:fillRect b="-27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96C9088-FB24-58FA-89F9-3FC6FF5E0AFA}"/>
                  </a:ext>
                </a:extLst>
              </p:cNvPr>
              <p:cNvSpPr txBox="1"/>
              <p:nvPr/>
            </p:nvSpPr>
            <p:spPr>
              <a:xfrm>
                <a:off x="4732456" y="5931582"/>
                <a:ext cx="70044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𝑝</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𝑘</m:t>
                          </m:r>
                        </m:e>
                        <m:sub>
                          <m:r>
                            <a:rPr lang="en-US" sz="2400" b="0" i="1" smtClean="0">
                              <a:solidFill>
                                <a:srgbClr val="C00000"/>
                              </a:solidFill>
                              <a:latin typeface="Cambria Math" panose="02040503050406030204" pitchFamily="18" charset="0"/>
                            </a:rPr>
                            <m:t>𝐼</m:t>
                          </m:r>
                        </m:sub>
                      </m:sSub>
                    </m:oMath>
                  </m:oMathPara>
                </a14:m>
                <a:endParaRPr lang="en-US" sz="2400" dirty="0">
                  <a:solidFill>
                    <a:srgbClr val="C00000"/>
                  </a:solidFill>
                  <a:latin typeface="Candara" panose="020E0502030303020204" pitchFamily="34" charset="0"/>
                </a:endParaRPr>
              </a:p>
            </p:txBody>
          </p:sp>
        </mc:Choice>
        <mc:Fallback xmlns="">
          <p:sp>
            <p:nvSpPr>
              <p:cNvPr id="17" name="TextBox 16">
                <a:extLst>
                  <a:ext uri="{FF2B5EF4-FFF2-40B4-BE49-F238E27FC236}">
                    <a16:creationId xmlns:a16="http://schemas.microsoft.com/office/drawing/2014/main" id="{996C9088-FB24-58FA-89F9-3FC6FF5E0AFA}"/>
                  </a:ext>
                </a:extLst>
              </p:cNvPr>
              <p:cNvSpPr txBox="1">
                <a:spLocks noRot="1" noChangeAspect="1" noMove="1" noResize="1" noEditPoints="1" noAdjustHandles="1" noChangeArrowheads="1" noChangeShapeType="1" noTextEdit="1"/>
              </p:cNvSpPr>
              <p:nvPr/>
            </p:nvSpPr>
            <p:spPr>
              <a:xfrm>
                <a:off x="4732456" y="5931582"/>
                <a:ext cx="700448" cy="461665"/>
              </a:xfrm>
              <a:prstGeom prst="rect">
                <a:avLst/>
              </a:prstGeom>
              <a:blipFill>
                <a:blip r:embed="rId12"/>
                <a:stretch>
                  <a:fillRect b="-81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6BD559C-22BD-E182-F605-C7B6D3682601}"/>
                  </a:ext>
                </a:extLst>
              </p:cNvPr>
              <p:cNvSpPr txBox="1"/>
              <p:nvPr/>
            </p:nvSpPr>
            <p:spPr>
              <a:xfrm>
                <a:off x="8738281" y="2563753"/>
                <a:ext cx="70044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solidFill>
                            <a:srgbClr val="C00000"/>
                          </a:solidFill>
                          <a:latin typeface="Cambria Math" panose="02040503050406030204" pitchFamily="18" charset="0"/>
                        </a:rPr>
                        <m:t>𝑝</m:t>
                      </m:r>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𝑘</m:t>
                          </m:r>
                        </m:e>
                        <m:sub>
                          <m:r>
                            <a:rPr lang="en-US" sz="2400" i="1">
                              <a:solidFill>
                                <a:srgbClr val="C00000"/>
                              </a:solidFill>
                              <a:latin typeface="Cambria Math" panose="02040503050406030204" pitchFamily="18" charset="0"/>
                            </a:rPr>
                            <m:t>𝐼</m:t>
                          </m:r>
                        </m:sub>
                      </m:sSub>
                    </m:oMath>
                  </m:oMathPara>
                </a14:m>
                <a:endParaRPr lang="en-US" sz="2400" dirty="0">
                  <a:solidFill>
                    <a:srgbClr val="C00000"/>
                  </a:solidFill>
                  <a:latin typeface="Candara" panose="020E0502030303020204" pitchFamily="34" charset="0"/>
                </a:endParaRPr>
              </a:p>
            </p:txBody>
          </p:sp>
        </mc:Choice>
        <mc:Fallback xmlns="">
          <p:sp>
            <p:nvSpPr>
              <p:cNvPr id="18" name="TextBox 17">
                <a:extLst>
                  <a:ext uri="{FF2B5EF4-FFF2-40B4-BE49-F238E27FC236}">
                    <a16:creationId xmlns:a16="http://schemas.microsoft.com/office/drawing/2014/main" id="{86BD559C-22BD-E182-F605-C7B6D3682601}"/>
                  </a:ext>
                </a:extLst>
              </p:cNvPr>
              <p:cNvSpPr txBox="1">
                <a:spLocks noRot="1" noChangeAspect="1" noMove="1" noResize="1" noEditPoints="1" noAdjustHandles="1" noChangeArrowheads="1" noChangeShapeType="1" noTextEdit="1"/>
              </p:cNvSpPr>
              <p:nvPr/>
            </p:nvSpPr>
            <p:spPr>
              <a:xfrm>
                <a:off x="8738281" y="2563753"/>
                <a:ext cx="700448" cy="461665"/>
              </a:xfrm>
              <a:prstGeom prst="rect">
                <a:avLst/>
              </a:prstGeom>
              <a:blipFill>
                <a:blip r:embed="rId13"/>
                <a:stretch>
                  <a:fillRect b="-81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4DA7A11-79AF-4EE1-E42F-B7813925E2C8}"/>
                  </a:ext>
                </a:extLst>
              </p:cNvPr>
              <p:cNvSpPr txBox="1"/>
              <p:nvPr/>
            </p:nvSpPr>
            <p:spPr>
              <a:xfrm>
                <a:off x="6808877" y="4142164"/>
                <a:ext cx="1066855"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a:solidFill>
                            <a:srgbClr val="C00000"/>
                          </a:solidFill>
                          <a:latin typeface="Cambria Math" panose="02040503050406030204" pitchFamily="18" charset="0"/>
                        </a:rPr>
                        <m:t>𝑠𝑛</m:t>
                      </m:r>
                      <m:r>
                        <a:rPr lang="en-US" sz="2400" b="0" i="1" smtClean="0">
                          <a:solidFill>
                            <a:srgbClr val="C00000"/>
                          </a:solidFill>
                          <a:latin typeface="Cambria Math" panose="02040503050406030204" pitchFamily="18" charset="0"/>
                        </a:rPr>
                        <m:t>, </m:t>
                      </m:r>
                      <m:r>
                        <a:rPr lang="en-US" sz="2400" b="0" i="1" smtClean="0">
                          <a:solidFill>
                            <a:srgbClr val="C00000"/>
                          </a:solidFill>
                          <a:latin typeface="Cambria Math" panose="02040503050406030204" pitchFamily="18" charset="0"/>
                        </a:rPr>
                        <m:t>𝜋</m:t>
                      </m:r>
                    </m:oMath>
                  </m:oMathPara>
                </a14:m>
                <a:endParaRPr lang="en-US" sz="2400" dirty="0">
                  <a:solidFill>
                    <a:srgbClr val="C00000"/>
                  </a:solidFill>
                  <a:latin typeface="Candara" panose="020E0502030303020204" pitchFamily="34" charset="0"/>
                </a:endParaRPr>
              </a:p>
            </p:txBody>
          </p:sp>
        </mc:Choice>
        <mc:Fallback xmlns="">
          <p:sp>
            <p:nvSpPr>
              <p:cNvPr id="20" name="TextBox 19">
                <a:extLst>
                  <a:ext uri="{FF2B5EF4-FFF2-40B4-BE49-F238E27FC236}">
                    <a16:creationId xmlns:a16="http://schemas.microsoft.com/office/drawing/2014/main" id="{14DA7A11-79AF-4EE1-E42F-B7813925E2C8}"/>
                  </a:ext>
                </a:extLst>
              </p:cNvPr>
              <p:cNvSpPr txBox="1">
                <a:spLocks noRot="1" noChangeAspect="1" noMove="1" noResize="1" noEditPoints="1" noAdjustHandles="1" noChangeArrowheads="1" noChangeShapeType="1" noTextEdit="1"/>
              </p:cNvSpPr>
              <p:nvPr/>
            </p:nvSpPr>
            <p:spPr>
              <a:xfrm>
                <a:off x="6808877" y="4142164"/>
                <a:ext cx="1066855" cy="461665"/>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ounded Rectangular Callout 22">
                <a:extLst>
                  <a:ext uri="{FF2B5EF4-FFF2-40B4-BE49-F238E27FC236}">
                    <a16:creationId xmlns:a16="http://schemas.microsoft.com/office/drawing/2014/main" id="{6B40AD29-FFF8-AA61-A514-B2A971A8625A}"/>
                  </a:ext>
                </a:extLst>
              </p:cNvPr>
              <p:cNvSpPr/>
              <p:nvPr/>
            </p:nvSpPr>
            <p:spPr>
              <a:xfrm>
                <a:off x="337415" y="3627098"/>
                <a:ext cx="3744263" cy="1606405"/>
              </a:xfrm>
              <a:prstGeom prst="wedgeRoundRectCallout">
                <a:avLst>
                  <a:gd name="adj1" fmla="val 81524"/>
                  <a:gd name="adj2" fmla="val 69586"/>
                  <a:gd name="adj3" fmla="val 16667"/>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C00000"/>
                    </a:solidFill>
                    <a:latin typeface="Candara" panose="020E0502030303020204" pitchFamily="34" charset="0"/>
                  </a:rPr>
                  <a:t>Unforgeability: </a:t>
                </a:r>
                <a:r>
                  <a:rPr lang="en-US" sz="2000" dirty="0">
                    <a:solidFill>
                      <a:srgbClr val="C00000"/>
                    </a:solidFill>
                    <a:latin typeface="Candara" panose="020E0502030303020204" pitchFamily="34" charset="0"/>
                  </a:rPr>
                  <a:t>User cannot produce tokens with distinct </a:t>
                </a:r>
                <a14:m>
                  <m:oMath xmlns:m="http://schemas.openxmlformats.org/officeDocument/2006/math">
                    <m:r>
                      <a:rPr lang="en-US" sz="2000" i="1">
                        <a:solidFill>
                          <a:srgbClr val="C00000"/>
                        </a:solidFill>
                        <a:latin typeface="Cambria Math" panose="02040503050406030204" pitchFamily="18" charset="0"/>
                      </a:rPr>
                      <m:t>𝑠𝑛</m:t>
                    </m:r>
                  </m:oMath>
                </a14:m>
                <a:r>
                  <a:rPr lang="en-US" sz="2000" dirty="0">
                    <a:solidFill>
                      <a:srgbClr val="C00000"/>
                    </a:solidFill>
                    <a:latin typeface="Candara" panose="020E0502030303020204" pitchFamily="34" charset="0"/>
                  </a:rPr>
                  <a:t> more than a limit </a:t>
                </a:r>
                <a14:m>
                  <m:oMath xmlns:m="http://schemas.openxmlformats.org/officeDocument/2006/math">
                    <m:r>
                      <a:rPr lang="en-US" sz="2000" i="1" dirty="0" smtClean="0">
                        <a:solidFill>
                          <a:srgbClr val="C00000"/>
                        </a:solidFill>
                        <a:latin typeface="Cambria Math" panose="02040503050406030204" pitchFamily="18" charset="0"/>
                      </a:rPr>
                      <m:t>𝑁</m:t>
                    </m:r>
                  </m:oMath>
                </a14:m>
                <a:r>
                  <a:rPr lang="en-US" sz="2000" dirty="0">
                    <a:solidFill>
                      <a:srgbClr val="C00000"/>
                    </a:solidFill>
                    <a:latin typeface="Candara" panose="020E0502030303020204" pitchFamily="34" charset="0"/>
                  </a:rPr>
                  <a:t> for any context “</a:t>
                </a:r>
                <a:r>
                  <a:rPr lang="en-US" sz="2000" dirty="0">
                    <a:solidFill>
                      <a:srgbClr val="C00000"/>
                    </a:solidFill>
                    <a:latin typeface="Candara" panose="020E0502030303020204" pitchFamily="34" charset="0"/>
                    <a:ea typeface="Cambria Math" panose="02040503050406030204" pitchFamily="18" charset="0"/>
                  </a:rPr>
                  <a:t>ctxt</a:t>
                </a:r>
                <a:r>
                  <a:rPr lang="en-US" sz="2000" dirty="0">
                    <a:solidFill>
                      <a:srgbClr val="C00000"/>
                    </a:solidFill>
                    <a:latin typeface="Candara" panose="020E0502030303020204" pitchFamily="34" charset="0"/>
                  </a:rPr>
                  <a:t>”.</a:t>
                </a:r>
              </a:p>
            </p:txBody>
          </p:sp>
        </mc:Choice>
        <mc:Fallback xmlns="">
          <p:sp>
            <p:nvSpPr>
              <p:cNvPr id="23" name="Rounded Rectangular Callout 22">
                <a:extLst>
                  <a:ext uri="{FF2B5EF4-FFF2-40B4-BE49-F238E27FC236}">
                    <a16:creationId xmlns:a16="http://schemas.microsoft.com/office/drawing/2014/main" id="{6B40AD29-FFF8-AA61-A514-B2A971A8625A}"/>
                  </a:ext>
                </a:extLst>
              </p:cNvPr>
              <p:cNvSpPr>
                <a:spLocks noRot="1" noChangeAspect="1" noMove="1" noResize="1" noEditPoints="1" noAdjustHandles="1" noChangeArrowheads="1" noChangeShapeType="1" noTextEdit="1"/>
              </p:cNvSpPr>
              <p:nvPr/>
            </p:nvSpPr>
            <p:spPr>
              <a:xfrm>
                <a:off x="337415" y="3627098"/>
                <a:ext cx="3744263" cy="1606405"/>
              </a:xfrm>
              <a:prstGeom prst="wedgeRoundRectCallout">
                <a:avLst>
                  <a:gd name="adj1" fmla="val 81524"/>
                  <a:gd name="adj2" fmla="val 69586"/>
                  <a:gd name="adj3" fmla="val 16667"/>
                </a:avLst>
              </a:prstGeom>
              <a:blipFill>
                <a:blip r:embed="rId15"/>
                <a:stretch>
                  <a:fillRect/>
                </a:stretch>
              </a:blipFill>
              <a:ln>
                <a:noFill/>
              </a:ln>
            </p:spPr>
            <p:txBody>
              <a:bodyPr/>
              <a:lstStyle/>
              <a:p>
                <a:r>
                  <a:rPr lang="en-US">
                    <a:noFill/>
                  </a:rPr>
                  <a:t> </a:t>
                </a:r>
              </a:p>
            </p:txBody>
          </p:sp>
        </mc:Fallback>
      </mc:AlternateContent>
      <p:sp>
        <p:nvSpPr>
          <p:cNvPr id="25" name="TextBox 24">
            <a:extLst>
              <a:ext uri="{FF2B5EF4-FFF2-40B4-BE49-F238E27FC236}">
                <a16:creationId xmlns:a16="http://schemas.microsoft.com/office/drawing/2014/main" id="{12424830-97BF-5387-8263-17154A23947B}"/>
              </a:ext>
            </a:extLst>
          </p:cNvPr>
          <p:cNvSpPr txBox="1"/>
          <p:nvPr/>
        </p:nvSpPr>
        <p:spPr>
          <a:xfrm>
            <a:off x="7008257" y="1749142"/>
            <a:ext cx="2781531" cy="369332"/>
          </a:xfrm>
          <a:prstGeom prst="rect">
            <a:avLst/>
          </a:prstGeom>
          <a:noFill/>
        </p:spPr>
        <p:txBody>
          <a:bodyPr wrap="none" rtlCol="0">
            <a:spAutoFit/>
          </a:bodyPr>
          <a:lstStyle/>
          <a:p>
            <a:r>
              <a:rPr lang="en-US" dirty="0" err="1">
                <a:latin typeface="Candara" panose="020E0502030303020204" pitchFamily="34" charset="0"/>
                <a:ea typeface="Cambria Math" panose="02040503050406030204" pitchFamily="18" charset="0"/>
              </a:rPr>
              <a:t>ctxt</a:t>
            </a:r>
            <a:r>
              <a:rPr lang="en-US" dirty="0">
                <a:latin typeface="Candara" panose="020E0502030303020204" pitchFamily="34" charset="0"/>
                <a:ea typeface="Cambria Math" panose="02040503050406030204" pitchFamily="18" charset="0"/>
              </a:rPr>
              <a:t> = ‘</a:t>
            </a:r>
            <a:r>
              <a:rPr lang="en-US" dirty="0" err="1">
                <a:latin typeface="Candara" panose="020E0502030303020204" pitchFamily="34" charset="0"/>
                <a:ea typeface="Cambria Math" panose="02040503050406030204" pitchFamily="18" charset="0"/>
              </a:rPr>
              <a:t>blahblah.com</a:t>
            </a:r>
            <a:r>
              <a:rPr lang="en-US" dirty="0">
                <a:latin typeface="Candara" panose="020E0502030303020204" pitchFamily="34" charset="0"/>
                <a:ea typeface="Cambria Math" panose="02040503050406030204" pitchFamily="18" charset="0"/>
              </a:rPr>
              <a:t>’||date</a:t>
            </a:r>
          </a:p>
        </p:txBody>
      </p:sp>
      <p:pic>
        <p:nvPicPr>
          <p:cNvPr id="26" name="Graphic 25" descr="Exclamation mark with solid fill">
            <a:extLst>
              <a:ext uri="{FF2B5EF4-FFF2-40B4-BE49-F238E27FC236}">
                <a16:creationId xmlns:a16="http://schemas.microsoft.com/office/drawing/2014/main" id="{EDC84D17-38BF-7AF1-1B68-055153B1CC3F}"/>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765528" y="4354572"/>
            <a:ext cx="914400" cy="914400"/>
          </a:xfrm>
          <a:prstGeom prst="rect">
            <a:avLst/>
          </a:prstGeom>
        </p:spPr>
      </p:pic>
      <mc:AlternateContent xmlns:mc="http://schemas.openxmlformats.org/markup-compatibility/2006" xmlns:a14="http://schemas.microsoft.com/office/drawing/2010/main">
        <mc:Choice Requires="a14">
          <p:sp>
            <p:nvSpPr>
              <p:cNvPr id="27" name="Rounded Rectangular Callout 26">
                <a:extLst>
                  <a:ext uri="{FF2B5EF4-FFF2-40B4-BE49-F238E27FC236}">
                    <a16:creationId xmlns:a16="http://schemas.microsoft.com/office/drawing/2014/main" id="{D057DCF0-5229-3686-6EC4-1D1E8B478E8D}"/>
                  </a:ext>
                </a:extLst>
              </p:cNvPr>
              <p:cNvSpPr/>
              <p:nvPr/>
            </p:nvSpPr>
            <p:spPr>
              <a:xfrm>
                <a:off x="8580401" y="3238326"/>
                <a:ext cx="3079728" cy="1332500"/>
              </a:xfrm>
              <a:prstGeom prst="wedgeRoundRectCallout">
                <a:avLst>
                  <a:gd name="adj1" fmla="val -130988"/>
                  <a:gd name="adj2" fmla="val 110695"/>
                  <a:gd name="adj3" fmla="val 16667"/>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err="1">
                    <a:solidFill>
                      <a:srgbClr val="C00000"/>
                    </a:solidFill>
                    <a:latin typeface="Candara" panose="020E0502030303020204" pitchFamily="34" charset="0"/>
                  </a:rPr>
                  <a:t>Linkability</a:t>
                </a:r>
                <a:r>
                  <a:rPr lang="en-US" sz="2000" b="1" dirty="0">
                    <a:solidFill>
                      <a:srgbClr val="C00000"/>
                    </a:solidFill>
                    <a:latin typeface="Candara" panose="020E0502030303020204" pitchFamily="34" charset="0"/>
                  </a:rPr>
                  <a:t>:</a:t>
                </a:r>
                <a:r>
                  <a:rPr lang="en-US" sz="2000" dirty="0">
                    <a:solidFill>
                      <a:srgbClr val="C00000"/>
                    </a:solidFill>
                    <a:latin typeface="Candara" panose="020E0502030303020204" pitchFamily="34" charset="0"/>
                  </a:rPr>
                  <a:t> If more token than limit is produced, </a:t>
                </a:r>
                <a14:m>
                  <m:oMath xmlns:m="http://schemas.openxmlformats.org/officeDocument/2006/math">
                    <m:r>
                      <a:rPr lang="en-US" sz="2000" i="1">
                        <a:solidFill>
                          <a:srgbClr val="C00000"/>
                        </a:solidFill>
                        <a:latin typeface="Cambria Math" panose="02040503050406030204" pitchFamily="18" charset="0"/>
                      </a:rPr>
                      <m:t>𝑝</m:t>
                    </m:r>
                    <m:sSub>
                      <m:sSubPr>
                        <m:ctrlPr>
                          <a:rPr lang="en-US" sz="2000" i="1">
                            <a:solidFill>
                              <a:srgbClr val="C00000"/>
                            </a:solidFill>
                            <a:latin typeface="Cambria Math" panose="02040503050406030204" pitchFamily="18" charset="0"/>
                          </a:rPr>
                        </m:ctrlPr>
                      </m:sSubPr>
                      <m:e>
                        <m:r>
                          <a:rPr lang="en-US" sz="2000" i="1">
                            <a:solidFill>
                              <a:srgbClr val="C00000"/>
                            </a:solidFill>
                            <a:latin typeface="Cambria Math" panose="02040503050406030204" pitchFamily="18" charset="0"/>
                          </a:rPr>
                          <m:t>𝑘</m:t>
                        </m:r>
                      </m:e>
                      <m:sub>
                        <m:r>
                          <a:rPr lang="en-US" sz="2000" i="1">
                            <a:solidFill>
                              <a:srgbClr val="C00000"/>
                            </a:solidFill>
                            <a:latin typeface="Cambria Math" panose="02040503050406030204" pitchFamily="18" charset="0"/>
                          </a:rPr>
                          <m:t>𝑈</m:t>
                        </m:r>
                      </m:sub>
                    </m:sSub>
                  </m:oMath>
                </a14:m>
                <a:r>
                  <a:rPr lang="en-US" sz="2000" dirty="0">
                    <a:solidFill>
                      <a:srgbClr val="C00000"/>
                    </a:solidFill>
                    <a:latin typeface="Candara" panose="020E0502030303020204" pitchFamily="34" charset="0"/>
                  </a:rPr>
                  <a:t> can be identified. </a:t>
                </a:r>
              </a:p>
            </p:txBody>
          </p:sp>
        </mc:Choice>
        <mc:Fallback xmlns="">
          <p:sp>
            <p:nvSpPr>
              <p:cNvPr id="27" name="Rounded Rectangular Callout 26">
                <a:extLst>
                  <a:ext uri="{FF2B5EF4-FFF2-40B4-BE49-F238E27FC236}">
                    <a16:creationId xmlns:a16="http://schemas.microsoft.com/office/drawing/2014/main" id="{D057DCF0-5229-3686-6EC4-1D1E8B478E8D}"/>
                  </a:ext>
                </a:extLst>
              </p:cNvPr>
              <p:cNvSpPr>
                <a:spLocks noRot="1" noChangeAspect="1" noMove="1" noResize="1" noEditPoints="1" noAdjustHandles="1" noChangeArrowheads="1" noChangeShapeType="1" noTextEdit="1"/>
              </p:cNvSpPr>
              <p:nvPr/>
            </p:nvSpPr>
            <p:spPr>
              <a:xfrm>
                <a:off x="8580401" y="3238326"/>
                <a:ext cx="3079728" cy="1332500"/>
              </a:xfrm>
              <a:prstGeom prst="wedgeRoundRectCallout">
                <a:avLst>
                  <a:gd name="adj1" fmla="val -130988"/>
                  <a:gd name="adj2" fmla="val 110695"/>
                  <a:gd name="adj3" fmla="val 16667"/>
                </a:avLst>
              </a:prstGeom>
              <a:blipFill>
                <a:blip r:embed="rId18"/>
                <a:stretch>
                  <a:fillRect r="-455"/>
                </a:stretch>
              </a:blipFill>
              <a:ln>
                <a:noFill/>
              </a:ln>
            </p:spPr>
            <p:txBody>
              <a:bodyPr/>
              <a:lstStyle/>
              <a:p>
                <a:r>
                  <a:rPr lang="en-US">
                    <a:noFill/>
                  </a:rPr>
                  <a:t> </a:t>
                </a:r>
              </a:p>
            </p:txBody>
          </p:sp>
        </mc:Fallback>
      </mc:AlternateContent>
      <p:pic>
        <p:nvPicPr>
          <p:cNvPr id="28" name="Graphic 27" descr="Exclamation mark with solid fill">
            <a:extLst>
              <a:ext uri="{FF2B5EF4-FFF2-40B4-BE49-F238E27FC236}">
                <a16:creationId xmlns:a16="http://schemas.microsoft.com/office/drawing/2014/main" id="{4972A5F3-2C10-CA4D-870F-A89B6011D92B}"/>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536728" y="3904576"/>
            <a:ext cx="914400" cy="914400"/>
          </a:xfrm>
          <a:prstGeom prst="rect">
            <a:avLst/>
          </a:prstGeom>
        </p:spPr>
      </p:pic>
      <p:grpSp>
        <p:nvGrpSpPr>
          <p:cNvPr id="22" name="Group 21">
            <a:extLst>
              <a:ext uri="{FF2B5EF4-FFF2-40B4-BE49-F238E27FC236}">
                <a16:creationId xmlns:a16="http://schemas.microsoft.com/office/drawing/2014/main" id="{79754A09-C760-91AE-B08A-ECA09DA4B7C3}"/>
              </a:ext>
            </a:extLst>
          </p:cNvPr>
          <p:cNvGrpSpPr/>
          <p:nvPr/>
        </p:nvGrpSpPr>
        <p:grpSpPr>
          <a:xfrm rot="16200000">
            <a:off x="6201442" y="3414997"/>
            <a:ext cx="1299615" cy="1257689"/>
            <a:chOff x="5387410" y="3205778"/>
            <a:chExt cx="1299615" cy="1257689"/>
          </a:xfrm>
        </p:grpSpPr>
        <p:cxnSp>
          <p:nvCxnSpPr>
            <p:cNvPr id="3" name="Straight Arrow Connector 2">
              <a:extLst>
                <a:ext uri="{FF2B5EF4-FFF2-40B4-BE49-F238E27FC236}">
                  <a16:creationId xmlns:a16="http://schemas.microsoft.com/office/drawing/2014/main" id="{DB6E1E80-5BDC-AFA2-8B3A-6E8FFDE840C7}"/>
                </a:ext>
              </a:extLst>
            </p:cNvPr>
            <p:cNvCxnSpPr>
              <a:cxnSpLocks/>
            </p:cNvCxnSpPr>
            <p:nvPr/>
          </p:nvCxnSpPr>
          <p:spPr>
            <a:xfrm>
              <a:off x="5387410" y="3351640"/>
              <a:ext cx="1111827" cy="1111827"/>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E7D6FFFC-8EA2-2FC4-7DD4-320281E49A10}"/>
                </a:ext>
              </a:extLst>
            </p:cNvPr>
            <p:cNvCxnSpPr>
              <a:cxnSpLocks/>
            </p:cNvCxnSpPr>
            <p:nvPr/>
          </p:nvCxnSpPr>
          <p:spPr>
            <a:xfrm flipH="1" flipV="1">
              <a:off x="5620171" y="3205778"/>
              <a:ext cx="1066854" cy="1066854"/>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grpSp>
      <p:pic>
        <p:nvPicPr>
          <p:cNvPr id="29" name="Picture 28">
            <a:extLst>
              <a:ext uri="{FF2B5EF4-FFF2-40B4-BE49-F238E27FC236}">
                <a16:creationId xmlns:a16="http://schemas.microsoft.com/office/drawing/2014/main" id="{48E6F9D9-767F-F785-1298-5A629B6D0CED}"/>
              </a:ext>
            </a:extLst>
          </p:cNvPr>
          <p:cNvPicPr>
            <a:picLocks noChangeAspect="1"/>
          </p:cNvPicPr>
          <p:nvPr/>
        </p:nvPicPr>
        <p:blipFill>
          <a:blip r:embed="rId19"/>
          <a:stretch>
            <a:fillRect/>
          </a:stretch>
        </p:blipFill>
        <p:spPr>
          <a:xfrm rot="1302345">
            <a:off x="8023807" y="181353"/>
            <a:ext cx="4654523" cy="1693105"/>
          </a:xfrm>
          <a:prstGeom prst="rect">
            <a:avLst/>
          </a:prstGeom>
          <a:ln w="76200">
            <a:solidFill>
              <a:srgbClr val="0070C0"/>
            </a:solidFill>
          </a:ln>
        </p:spPr>
      </p:pic>
      <mc:AlternateContent xmlns:mc="http://schemas.openxmlformats.org/markup-compatibility/2006" xmlns:a14="http://schemas.microsoft.com/office/drawing/2010/main">
        <mc:Choice Requires="a14">
          <p:sp>
            <p:nvSpPr>
              <p:cNvPr id="13" name="Rounded Rectangle 12">
                <a:extLst>
                  <a:ext uri="{FF2B5EF4-FFF2-40B4-BE49-F238E27FC236}">
                    <a16:creationId xmlns:a16="http://schemas.microsoft.com/office/drawing/2014/main" id="{CB0C80BD-2F1F-5E41-FEBE-EB782F93BAF8}"/>
                  </a:ext>
                </a:extLst>
              </p:cNvPr>
              <p:cNvSpPr/>
              <p:nvPr/>
            </p:nvSpPr>
            <p:spPr>
              <a:xfrm>
                <a:off x="5726222" y="5911375"/>
                <a:ext cx="2885660" cy="664485"/>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latin typeface="Candara" panose="020E0502030303020204" pitchFamily="34" charset="0"/>
                  </a:rPr>
                  <a:t>Token generator </a:t>
                </a:r>
                <a14:m>
                  <m:oMath xmlns:m="http://schemas.openxmlformats.org/officeDocument/2006/math">
                    <m:r>
                      <a:rPr lang="en-US" sz="2400" b="0" i="1" smtClean="0">
                        <a:solidFill>
                          <a:srgbClr val="C00000"/>
                        </a:solidFill>
                        <a:latin typeface="Cambria Math" panose="02040503050406030204" pitchFamily="18" charset="0"/>
                      </a:rPr>
                      <m:t>𝜎</m:t>
                    </m:r>
                  </m:oMath>
                </a14:m>
                <a:endParaRPr lang="en-US" sz="2400" dirty="0">
                  <a:solidFill>
                    <a:srgbClr val="C00000"/>
                  </a:solidFill>
                  <a:latin typeface="Candara" panose="020E0502030303020204" pitchFamily="34" charset="0"/>
                </a:endParaRPr>
              </a:p>
            </p:txBody>
          </p:sp>
        </mc:Choice>
        <mc:Fallback xmlns="">
          <p:sp>
            <p:nvSpPr>
              <p:cNvPr id="13" name="Rounded Rectangle 12">
                <a:extLst>
                  <a:ext uri="{FF2B5EF4-FFF2-40B4-BE49-F238E27FC236}">
                    <a16:creationId xmlns:a16="http://schemas.microsoft.com/office/drawing/2014/main" id="{CB0C80BD-2F1F-5E41-FEBE-EB782F93BAF8}"/>
                  </a:ext>
                </a:extLst>
              </p:cNvPr>
              <p:cNvSpPr>
                <a:spLocks noRot="1" noChangeAspect="1" noMove="1" noResize="1" noEditPoints="1" noAdjustHandles="1" noChangeArrowheads="1" noChangeShapeType="1" noTextEdit="1"/>
              </p:cNvSpPr>
              <p:nvPr/>
            </p:nvSpPr>
            <p:spPr>
              <a:xfrm>
                <a:off x="5726222" y="5911375"/>
                <a:ext cx="2885660" cy="664485"/>
              </a:xfrm>
              <a:prstGeom prst="roundRect">
                <a:avLst/>
              </a:prstGeom>
              <a:blipFill>
                <a:blip r:embed="rId20"/>
                <a:stretch>
                  <a:fillRect b="-5660"/>
                </a:stretch>
              </a:blipFill>
              <a:ln>
                <a:noFill/>
              </a:ln>
            </p:spPr>
            <p:txBody>
              <a:bodyPr/>
              <a:lstStyle/>
              <a:p>
                <a:r>
                  <a:rPr lang="en-US">
                    <a:noFill/>
                  </a:rPr>
                  <a:t> </a:t>
                </a:r>
              </a:p>
            </p:txBody>
          </p:sp>
        </mc:Fallback>
      </mc:AlternateContent>
      <p:sp>
        <p:nvSpPr>
          <p:cNvPr id="24" name="Oval Callout 23">
            <a:extLst>
              <a:ext uri="{FF2B5EF4-FFF2-40B4-BE49-F238E27FC236}">
                <a16:creationId xmlns:a16="http://schemas.microsoft.com/office/drawing/2014/main" id="{F1915C70-C80D-32FE-E9C8-4254984B74DB}"/>
              </a:ext>
            </a:extLst>
          </p:cNvPr>
          <p:cNvSpPr/>
          <p:nvPr/>
        </p:nvSpPr>
        <p:spPr>
          <a:xfrm>
            <a:off x="7770626" y="4666345"/>
            <a:ext cx="4083959" cy="1634837"/>
          </a:xfrm>
          <a:prstGeom prst="wedgeEllipseCallout">
            <a:avLst>
              <a:gd name="adj1" fmla="val -50768"/>
              <a:gd name="adj2" fmla="val 34146"/>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C00000"/>
                </a:solidFill>
                <a:latin typeface="Candara" panose="020E0502030303020204" pitchFamily="34" charset="0"/>
              </a:rPr>
              <a:t>With some “rate-limiting” properties based on some “contexts”.</a:t>
            </a:r>
          </a:p>
        </p:txBody>
      </p:sp>
    </p:spTree>
    <p:extLst>
      <p:ext uri="{BB962C8B-B14F-4D97-AF65-F5344CB8AC3E}">
        <p14:creationId xmlns:p14="http://schemas.microsoft.com/office/powerpoint/2010/main" val="3064199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5" grpId="0"/>
      <p:bldP spid="27" grpId="0" animBg="1"/>
      <p:bldP spid="2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ounded Rectangle 35">
            <a:extLst>
              <a:ext uri="{FF2B5EF4-FFF2-40B4-BE49-F238E27FC236}">
                <a16:creationId xmlns:a16="http://schemas.microsoft.com/office/drawing/2014/main" id="{748F89D4-88D0-E5B5-3E7A-F5B6C87A3754}"/>
              </a:ext>
            </a:extLst>
          </p:cNvPr>
          <p:cNvSpPr/>
          <p:nvPr/>
        </p:nvSpPr>
        <p:spPr>
          <a:xfrm>
            <a:off x="3372615" y="4912046"/>
            <a:ext cx="3937981" cy="716199"/>
          </a:xfrm>
          <a:prstGeom prst="roundRect">
            <a:avLst/>
          </a:prstGeom>
          <a:solidFill>
            <a:srgbClr val="F3E7E7"/>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2" name="Title 1">
            <a:extLst>
              <a:ext uri="{FF2B5EF4-FFF2-40B4-BE49-F238E27FC236}">
                <a16:creationId xmlns:a16="http://schemas.microsoft.com/office/drawing/2014/main" id="{FCD21017-2CCB-F687-F324-769905702CD0}"/>
              </a:ext>
            </a:extLst>
          </p:cNvPr>
          <p:cNvSpPr>
            <a:spLocks noGrp="1"/>
          </p:cNvSpPr>
          <p:nvPr>
            <p:ph type="title"/>
          </p:nvPr>
        </p:nvSpPr>
        <p:spPr/>
        <p:txBody>
          <a:bodyPr/>
          <a:lstStyle/>
          <a:p>
            <a:r>
              <a:rPr lang="en-US" dirty="0">
                <a:latin typeface="Candara" panose="020E0502030303020204" pitchFamily="34" charset="0"/>
              </a:rPr>
              <a:t>Prior Constructions </a:t>
            </a:r>
            <a:r>
              <a:rPr lang="en-US" dirty="0">
                <a:solidFill>
                  <a:srgbClr val="C00000"/>
                </a:solidFill>
                <a:latin typeface="Candara" panose="020E0502030303020204" pitchFamily="34" charset="0"/>
              </a:rPr>
              <a:t>[CHL’05, CHKLM’06]</a:t>
            </a:r>
          </a:p>
        </p:txBody>
      </p:sp>
      <p:grpSp>
        <p:nvGrpSpPr>
          <p:cNvPr id="6" name="Group 5">
            <a:extLst>
              <a:ext uri="{FF2B5EF4-FFF2-40B4-BE49-F238E27FC236}">
                <a16:creationId xmlns:a16="http://schemas.microsoft.com/office/drawing/2014/main" id="{3CBB74E4-67DC-238D-8D30-8548215D66EA}"/>
              </a:ext>
            </a:extLst>
          </p:cNvPr>
          <p:cNvGrpSpPr/>
          <p:nvPr/>
        </p:nvGrpSpPr>
        <p:grpSpPr>
          <a:xfrm>
            <a:off x="8809622" y="1847486"/>
            <a:ext cx="1330036" cy="1581514"/>
            <a:chOff x="9700876" y="2058675"/>
            <a:chExt cx="1330036" cy="1581514"/>
          </a:xfrm>
        </p:grpSpPr>
        <p:pic>
          <p:nvPicPr>
            <p:cNvPr id="4" name="Graphic 3" descr="User outline">
              <a:extLst>
                <a:ext uri="{FF2B5EF4-FFF2-40B4-BE49-F238E27FC236}">
                  <a16:creationId xmlns:a16="http://schemas.microsoft.com/office/drawing/2014/main" id="{D05A7562-3ADE-E04A-E94E-95825371B70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00876" y="2310153"/>
              <a:ext cx="1330036" cy="1330036"/>
            </a:xfrm>
            <a:prstGeom prst="rect">
              <a:avLst/>
            </a:prstGeom>
          </p:spPr>
        </p:pic>
        <p:sp>
          <p:nvSpPr>
            <p:cNvPr id="5" name="TextBox 4">
              <a:extLst>
                <a:ext uri="{FF2B5EF4-FFF2-40B4-BE49-F238E27FC236}">
                  <a16:creationId xmlns:a16="http://schemas.microsoft.com/office/drawing/2014/main" id="{2CFC8581-1DA8-A356-5CA5-75AA84A7CBB8}"/>
                </a:ext>
              </a:extLst>
            </p:cNvPr>
            <p:cNvSpPr txBox="1"/>
            <p:nvPr/>
          </p:nvSpPr>
          <p:spPr>
            <a:xfrm>
              <a:off x="9859542" y="2058675"/>
              <a:ext cx="792205" cy="461665"/>
            </a:xfrm>
            <a:prstGeom prst="rect">
              <a:avLst/>
            </a:prstGeom>
            <a:noFill/>
          </p:spPr>
          <p:txBody>
            <a:bodyPr wrap="none" rtlCol="0">
              <a:spAutoFit/>
            </a:bodyPr>
            <a:lstStyle/>
            <a:p>
              <a:r>
                <a:rPr lang="en-US" sz="2400" b="1" dirty="0">
                  <a:latin typeface="Candara" panose="020E0502030303020204" pitchFamily="34" charset="0"/>
                </a:rPr>
                <a:t>User</a:t>
              </a:r>
            </a:p>
          </p:txBody>
        </p:sp>
      </p:grpSp>
      <p:grpSp>
        <p:nvGrpSpPr>
          <p:cNvPr id="9" name="Group 8">
            <a:extLst>
              <a:ext uri="{FF2B5EF4-FFF2-40B4-BE49-F238E27FC236}">
                <a16:creationId xmlns:a16="http://schemas.microsoft.com/office/drawing/2014/main" id="{01C675D7-C553-B67C-6309-8CE368735990}"/>
              </a:ext>
            </a:extLst>
          </p:cNvPr>
          <p:cNvGrpSpPr/>
          <p:nvPr/>
        </p:nvGrpSpPr>
        <p:grpSpPr>
          <a:xfrm>
            <a:off x="1290737" y="1690688"/>
            <a:ext cx="1634837" cy="1955203"/>
            <a:chOff x="3154262" y="1690688"/>
            <a:chExt cx="1634837" cy="1955203"/>
          </a:xfrm>
        </p:grpSpPr>
        <p:pic>
          <p:nvPicPr>
            <p:cNvPr id="7" name="Graphic 6" descr="Bank outline">
              <a:extLst>
                <a:ext uri="{FF2B5EF4-FFF2-40B4-BE49-F238E27FC236}">
                  <a16:creationId xmlns:a16="http://schemas.microsoft.com/office/drawing/2014/main" id="{FAB00BF7-D1BB-D4E5-9C4E-68D195D9A51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154262" y="2011054"/>
              <a:ext cx="1634837" cy="1634837"/>
            </a:xfrm>
            <a:prstGeom prst="rect">
              <a:avLst/>
            </a:prstGeom>
          </p:spPr>
        </p:pic>
        <p:sp>
          <p:nvSpPr>
            <p:cNvPr id="8" name="TextBox 7">
              <a:extLst>
                <a:ext uri="{FF2B5EF4-FFF2-40B4-BE49-F238E27FC236}">
                  <a16:creationId xmlns:a16="http://schemas.microsoft.com/office/drawing/2014/main" id="{CD0215D9-3D1D-728A-2665-CD5BBE83CF1F}"/>
                </a:ext>
              </a:extLst>
            </p:cNvPr>
            <p:cNvSpPr txBox="1"/>
            <p:nvPr/>
          </p:nvSpPr>
          <p:spPr>
            <a:xfrm>
              <a:off x="3355853" y="1690688"/>
              <a:ext cx="973343" cy="461665"/>
            </a:xfrm>
            <a:prstGeom prst="rect">
              <a:avLst/>
            </a:prstGeom>
            <a:noFill/>
          </p:spPr>
          <p:txBody>
            <a:bodyPr wrap="none" rtlCol="0">
              <a:spAutoFit/>
            </a:bodyPr>
            <a:lstStyle/>
            <a:p>
              <a:r>
                <a:rPr lang="en-US" sz="2400" b="1" dirty="0">
                  <a:latin typeface="Candara" panose="020E0502030303020204" pitchFamily="34" charset="0"/>
                </a:rPr>
                <a:t>Issuer</a:t>
              </a:r>
            </a:p>
          </p:txBody>
        </p:sp>
      </p:gr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F3F6E9C-4EF6-230F-2C4C-FD4173453FBA}"/>
                  </a:ext>
                </a:extLst>
              </p:cNvPr>
              <p:cNvSpPr txBox="1"/>
              <p:nvPr/>
            </p:nvSpPr>
            <p:spPr>
              <a:xfrm>
                <a:off x="616643" y="2098964"/>
                <a:ext cx="67409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𝑠</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𝑘</m:t>
                          </m:r>
                        </m:e>
                        <m:sub>
                          <m:r>
                            <a:rPr lang="en-US" sz="2400" b="0" i="1" smtClean="0">
                              <a:solidFill>
                                <a:srgbClr val="C00000"/>
                              </a:solidFill>
                              <a:latin typeface="Cambria Math" panose="02040503050406030204" pitchFamily="18" charset="0"/>
                            </a:rPr>
                            <m:t>𝐼</m:t>
                          </m:r>
                        </m:sub>
                      </m:sSub>
                    </m:oMath>
                  </m:oMathPara>
                </a14:m>
                <a:endParaRPr lang="en-US" sz="2400" dirty="0">
                  <a:solidFill>
                    <a:srgbClr val="C00000"/>
                  </a:solidFill>
                  <a:latin typeface="Candara" panose="020E0502030303020204" pitchFamily="34" charset="0"/>
                </a:endParaRPr>
              </a:p>
            </p:txBody>
          </p:sp>
        </mc:Choice>
        <mc:Fallback xmlns="">
          <p:sp>
            <p:nvSpPr>
              <p:cNvPr id="10" name="TextBox 9">
                <a:extLst>
                  <a:ext uri="{FF2B5EF4-FFF2-40B4-BE49-F238E27FC236}">
                    <a16:creationId xmlns:a16="http://schemas.microsoft.com/office/drawing/2014/main" id="{FF3F6E9C-4EF6-230F-2C4C-FD4173453FBA}"/>
                  </a:ext>
                </a:extLst>
              </p:cNvPr>
              <p:cNvSpPr txBox="1">
                <a:spLocks noRot="1" noChangeAspect="1" noMove="1" noResize="1" noEditPoints="1" noAdjustHandles="1" noChangeArrowheads="1" noChangeShapeType="1" noTextEdit="1"/>
              </p:cNvSpPr>
              <p:nvPr/>
            </p:nvSpPr>
            <p:spPr>
              <a:xfrm>
                <a:off x="616643" y="2098964"/>
                <a:ext cx="674094" cy="461665"/>
              </a:xfrm>
              <a:prstGeom prst="rect">
                <a:avLst/>
              </a:prstGeom>
              <a:blipFill>
                <a:blip r:embed="rId7"/>
                <a:stretch>
                  <a:fillRect b="-27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A10423A-A7DE-05B1-F042-1EED2944D0BD}"/>
                  </a:ext>
                </a:extLst>
              </p:cNvPr>
              <p:cNvSpPr txBox="1"/>
              <p:nvPr/>
            </p:nvSpPr>
            <p:spPr>
              <a:xfrm>
                <a:off x="9982295" y="2039113"/>
                <a:ext cx="70044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solidFill>
                            <a:srgbClr val="C00000"/>
                          </a:solidFill>
                          <a:latin typeface="Cambria Math" panose="02040503050406030204" pitchFamily="18" charset="0"/>
                        </a:rPr>
                        <m:t>𝑝</m:t>
                      </m:r>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𝑘</m:t>
                          </m:r>
                        </m:e>
                        <m:sub>
                          <m:r>
                            <a:rPr lang="en-US" sz="2400" i="1">
                              <a:solidFill>
                                <a:srgbClr val="C00000"/>
                              </a:solidFill>
                              <a:latin typeface="Cambria Math" panose="02040503050406030204" pitchFamily="18" charset="0"/>
                            </a:rPr>
                            <m:t>𝐼</m:t>
                          </m:r>
                        </m:sub>
                      </m:sSub>
                    </m:oMath>
                  </m:oMathPara>
                </a14:m>
                <a:endParaRPr lang="en-US" sz="2400" dirty="0">
                  <a:solidFill>
                    <a:srgbClr val="C00000"/>
                  </a:solidFill>
                  <a:latin typeface="Candara" panose="020E0502030303020204" pitchFamily="34" charset="0"/>
                </a:endParaRPr>
              </a:p>
            </p:txBody>
          </p:sp>
        </mc:Choice>
        <mc:Fallback xmlns="">
          <p:sp>
            <p:nvSpPr>
              <p:cNvPr id="11" name="TextBox 10">
                <a:extLst>
                  <a:ext uri="{FF2B5EF4-FFF2-40B4-BE49-F238E27FC236}">
                    <a16:creationId xmlns:a16="http://schemas.microsoft.com/office/drawing/2014/main" id="{9A10423A-A7DE-05B1-F042-1EED2944D0BD}"/>
                  </a:ext>
                </a:extLst>
              </p:cNvPr>
              <p:cNvSpPr txBox="1">
                <a:spLocks noRot="1" noChangeAspect="1" noMove="1" noResize="1" noEditPoints="1" noAdjustHandles="1" noChangeArrowheads="1" noChangeShapeType="1" noTextEdit="1"/>
              </p:cNvSpPr>
              <p:nvPr/>
            </p:nvSpPr>
            <p:spPr>
              <a:xfrm>
                <a:off x="9982295" y="2039113"/>
                <a:ext cx="700448" cy="461665"/>
              </a:xfrm>
              <a:prstGeom prst="rect">
                <a:avLst/>
              </a:prstGeom>
              <a:blipFill>
                <a:blip r:embed="rId8"/>
                <a:stretch>
                  <a:fillRect b="-108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232E16F-D393-A544-E6E6-60A996DA2F0D}"/>
                  </a:ext>
                </a:extLst>
              </p:cNvPr>
              <p:cNvSpPr txBox="1"/>
              <p:nvPr/>
            </p:nvSpPr>
            <p:spPr>
              <a:xfrm>
                <a:off x="10022896" y="2678221"/>
                <a:ext cx="619245"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C00000"/>
                          </a:solidFill>
                          <a:latin typeface="Cambria Math" panose="02040503050406030204" pitchFamily="18" charset="0"/>
                        </a:rPr>
                        <m:t>𝑝</m:t>
                      </m:r>
                      <m:sSub>
                        <m:sSubPr>
                          <m:ctrlPr>
                            <a:rPr lang="en-US" sz="2400" b="0" i="1" smtClean="0">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𝑘</m:t>
                          </m:r>
                        </m:e>
                        <m:sub>
                          <m:r>
                            <a:rPr lang="en-US" sz="2400" b="0" i="1" smtClean="0">
                              <a:solidFill>
                                <a:srgbClr val="C00000"/>
                              </a:solidFill>
                              <a:latin typeface="Cambria Math" panose="02040503050406030204" pitchFamily="18" charset="0"/>
                            </a:rPr>
                            <m:t>𝑈</m:t>
                          </m:r>
                        </m:sub>
                      </m:sSub>
                    </m:oMath>
                  </m:oMathPara>
                </a14:m>
                <a:endParaRPr lang="en-US" sz="2400" dirty="0">
                  <a:latin typeface="Candara" panose="020E0502030303020204" pitchFamily="34" charset="0"/>
                </a:endParaRPr>
              </a:p>
            </p:txBody>
          </p:sp>
        </mc:Choice>
        <mc:Fallback xmlns="">
          <p:sp>
            <p:nvSpPr>
              <p:cNvPr id="13" name="TextBox 12">
                <a:extLst>
                  <a:ext uri="{FF2B5EF4-FFF2-40B4-BE49-F238E27FC236}">
                    <a16:creationId xmlns:a16="http://schemas.microsoft.com/office/drawing/2014/main" id="{E232E16F-D393-A544-E6E6-60A996DA2F0D}"/>
                  </a:ext>
                </a:extLst>
              </p:cNvPr>
              <p:cNvSpPr txBox="1">
                <a:spLocks noRot="1" noChangeAspect="1" noMove="1" noResize="1" noEditPoints="1" noAdjustHandles="1" noChangeArrowheads="1" noChangeShapeType="1" noTextEdit="1"/>
              </p:cNvSpPr>
              <p:nvPr/>
            </p:nvSpPr>
            <p:spPr>
              <a:xfrm>
                <a:off x="10022896" y="2678221"/>
                <a:ext cx="619245" cy="461665"/>
              </a:xfrm>
              <a:prstGeom prst="rect">
                <a:avLst/>
              </a:prstGeom>
              <a:blipFill>
                <a:blip r:embed="rId9"/>
                <a:stretch>
                  <a:fillRect l="-2000" r="-6000" b="-7895"/>
                </a:stretch>
              </a:blipFill>
            </p:spPr>
            <p:txBody>
              <a:bodyPr/>
              <a:lstStyle/>
              <a:p>
                <a:r>
                  <a:rPr lang="en-US">
                    <a:noFill/>
                  </a:rPr>
                  <a:t> </a:t>
                </a:r>
              </a:p>
            </p:txBody>
          </p:sp>
        </mc:Fallback>
      </mc:AlternateContent>
      <p:grpSp>
        <p:nvGrpSpPr>
          <p:cNvPr id="20" name="Group 19">
            <a:extLst>
              <a:ext uri="{FF2B5EF4-FFF2-40B4-BE49-F238E27FC236}">
                <a16:creationId xmlns:a16="http://schemas.microsoft.com/office/drawing/2014/main" id="{6FBA9211-F74A-CFEC-FC64-697E3566E3E1}"/>
              </a:ext>
            </a:extLst>
          </p:cNvPr>
          <p:cNvGrpSpPr/>
          <p:nvPr/>
        </p:nvGrpSpPr>
        <p:grpSpPr>
          <a:xfrm>
            <a:off x="4039502" y="2535042"/>
            <a:ext cx="2952870" cy="485997"/>
            <a:chOff x="5009844" y="2476724"/>
            <a:chExt cx="1542694" cy="485997"/>
          </a:xfrm>
        </p:grpSpPr>
        <p:cxnSp>
          <p:nvCxnSpPr>
            <p:cNvPr id="15" name="Straight Arrow Connector 14">
              <a:extLst>
                <a:ext uri="{FF2B5EF4-FFF2-40B4-BE49-F238E27FC236}">
                  <a16:creationId xmlns:a16="http://schemas.microsoft.com/office/drawing/2014/main" id="{B186FCA4-CE20-2688-96FB-1B7D6C90BC6C}"/>
                </a:ext>
              </a:extLst>
            </p:cNvPr>
            <p:cNvCxnSpPr>
              <a:cxnSpLocks/>
            </p:cNvCxnSpPr>
            <p:nvPr/>
          </p:nvCxnSpPr>
          <p:spPr>
            <a:xfrm>
              <a:off x="5009844" y="2962721"/>
              <a:ext cx="1542694"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820071C1-5F93-3E15-9552-F4699A397890}"/>
                </a:ext>
              </a:extLst>
            </p:cNvPr>
            <p:cNvCxnSpPr>
              <a:cxnSpLocks/>
            </p:cNvCxnSpPr>
            <p:nvPr/>
          </p:nvCxnSpPr>
          <p:spPr>
            <a:xfrm flipH="1">
              <a:off x="5009844" y="2476724"/>
              <a:ext cx="1517837"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grpSp>
      <p:sp>
        <p:nvSpPr>
          <p:cNvPr id="21" name="Arc 20">
            <a:extLst>
              <a:ext uri="{FF2B5EF4-FFF2-40B4-BE49-F238E27FC236}">
                <a16:creationId xmlns:a16="http://schemas.microsoft.com/office/drawing/2014/main" id="{4133A6E9-AD35-6BEE-F7A2-017D1A5C57F8}"/>
              </a:ext>
            </a:extLst>
          </p:cNvPr>
          <p:cNvSpPr/>
          <p:nvPr/>
        </p:nvSpPr>
        <p:spPr>
          <a:xfrm rot="10800000">
            <a:off x="7151038" y="2393141"/>
            <a:ext cx="1330037" cy="1330037"/>
          </a:xfrm>
          <a:prstGeom prst="arc">
            <a:avLst/>
          </a:prstGeom>
          <a:ln w="57150">
            <a:headEnd type="arrow"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andara" panose="020E0502030303020204" pitchFamily="34" charset="0"/>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50B68C3F-E0A1-59E9-BD6B-98711DB92925}"/>
                  </a:ext>
                </a:extLst>
              </p:cNvPr>
              <p:cNvSpPr txBox="1"/>
              <p:nvPr/>
            </p:nvSpPr>
            <p:spPr>
              <a:xfrm>
                <a:off x="7103459" y="2222944"/>
                <a:ext cx="991105" cy="3724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2400" b="0" i="1" smtClean="0">
                          <a:solidFill>
                            <a:srgbClr val="C00000"/>
                          </a:solidFill>
                          <a:latin typeface="Cambria Math" panose="02040503050406030204" pitchFamily="18" charset="0"/>
                        </a:rPr>
                        <m:t>key</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m:t>
                          </m:r>
                        </m:e>
                        <m:sub>
                          <m:r>
                            <a:rPr lang="en-US" sz="2400" b="0" i="1" smtClean="0">
                              <a:solidFill>
                                <a:srgbClr val="C00000"/>
                              </a:solidFill>
                              <a:latin typeface="Cambria Math" panose="02040503050406030204" pitchFamily="18" charset="0"/>
                            </a:rPr>
                            <m:t>$</m:t>
                          </m:r>
                        </m:sub>
                      </m:sSub>
                    </m:oMath>
                  </m:oMathPara>
                </a14:m>
                <a:endParaRPr lang="en-US" sz="2400" dirty="0">
                  <a:solidFill>
                    <a:srgbClr val="C00000"/>
                  </a:solidFill>
                  <a:latin typeface="Candara" panose="020E0502030303020204" pitchFamily="34" charset="0"/>
                </a:endParaRPr>
              </a:p>
            </p:txBody>
          </p:sp>
        </mc:Choice>
        <mc:Fallback xmlns="">
          <p:sp>
            <p:nvSpPr>
              <p:cNvPr id="22" name="TextBox 21">
                <a:extLst>
                  <a:ext uri="{FF2B5EF4-FFF2-40B4-BE49-F238E27FC236}">
                    <a16:creationId xmlns:a16="http://schemas.microsoft.com/office/drawing/2014/main" id="{50B68C3F-E0A1-59E9-BD6B-98711DB92925}"/>
                  </a:ext>
                </a:extLst>
              </p:cNvPr>
              <p:cNvSpPr txBox="1">
                <a:spLocks noRot="1" noChangeAspect="1" noMove="1" noResize="1" noEditPoints="1" noAdjustHandles="1" noChangeArrowheads="1" noChangeShapeType="1" noTextEdit="1"/>
              </p:cNvSpPr>
              <p:nvPr/>
            </p:nvSpPr>
            <p:spPr>
              <a:xfrm>
                <a:off x="7103459" y="2222944"/>
                <a:ext cx="991105" cy="372410"/>
              </a:xfrm>
              <a:prstGeom prst="rect">
                <a:avLst/>
              </a:prstGeom>
              <a:blipFill>
                <a:blip r:embed="rId10"/>
                <a:stretch>
                  <a:fillRect l="-10127" r="-3797" b="-33333"/>
                </a:stretch>
              </a:blipFill>
            </p:spPr>
            <p:txBody>
              <a:bodyPr/>
              <a:lstStyle/>
              <a:p>
                <a:r>
                  <a:rPr lang="en-US">
                    <a:noFill/>
                  </a:rPr>
                  <a:t> </a:t>
                </a:r>
              </a:p>
            </p:txBody>
          </p:sp>
        </mc:Fallback>
      </mc:AlternateContent>
      <p:cxnSp>
        <p:nvCxnSpPr>
          <p:cNvPr id="24" name="Straight Connector 23">
            <a:extLst>
              <a:ext uri="{FF2B5EF4-FFF2-40B4-BE49-F238E27FC236}">
                <a16:creationId xmlns:a16="http://schemas.microsoft.com/office/drawing/2014/main" id="{ECD1D2BC-32B5-FEA5-EFD8-3312E830D226}"/>
              </a:ext>
            </a:extLst>
          </p:cNvPr>
          <p:cNvCxnSpPr/>
          <p:nvPr/>
        </p:nvCxnSpPr>
        <p:spPr>
          <a:xfrm>
            <a:off x="557242" y="4132162"/>
            <a:ext cx="11273742" cy="0"/>
          </a:xfrm>
          <a:prstGeom prst="line">
            <a:avLst/>
          </a:prstGeom>
          <a:ln w="57150">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6218282A-9A88-ACE6-F343-AF2695820A81}"/>
                  </a:ext>
                </a:extLst>
              </p:cNvPr>
              <p:cNvSpPr txBox="1"/>
              <p:nvPr/>
            </p:nvSpPr>
            <p:spPr>
              <a:xfrm>
                <a:off x="7726005" y="3571203"/>
                <a:ext cx="3798125" cy="369332"/>
              </a:xfrm>
              <a:prstGeom prst="rect">
                <a:avLst/>
              </a:prstGeom>
              <a:noFill/>
            </p:spPr>
            <p:txBody>
              <a:bodyPr wrap="square" lIns="0" tIns="0" rIns="0" bIns="0" rtlCol="0">
                <a:spAutoFit/>
              </a:bodyPr>
              <a:lstStyle/>
              <a:p>
                <a:pPr algn="ctr"/>
                <a:r>
                  <a:rPr lang="en-US" sz="2400" b="0" dirty="0">
                    <a:solidFill>
                      <a:srgbClr val="C00000"/>
                    </a:solidFill>
                    <a:latin typeface="Candara" panose="020E0502030303020204" pitchFamily="34" charset="0"/>
                  </a:rPr>
                  <a:t>Signature </a:t>
                </a:r>
                <a14:m>
                  <m:oMath xmlns:m="http://schemas.openxmlformats.org/officeDocument/2006/math">
                    <m:r>
                      <a:rPr lang="en-US" sz="2400" b="0" i="1" smtClean="0">
                        <a:solidFill>
                          <a:srgbClr val="C00000"/>
                        </a:solidFill>
                        <a:latin typeface="Cambria Math" panose="02040503050406030204" pitchFamily="18" charset="0"/>
                      </a:rPr>
                      <m:t>𝜎</m:t>
                    </m:r>
                  </m:oMath>
                </a14:m>
                <a:r>
                  <a:rPr lang="en-US" sz="2400" dirty="0">
                    <a:solidFill>
                      <a:srgbClr val="C00000"/>
                    </a:solidFill>
                    <a:latin typeface="Candara" panose="020E0502030303020204" pitchFamily="34" charset="0"/>
                  </a:rPr>
                  <a:t> of </a:t>
                </a:r>
                <a14:m>
                  <m:oMath xmlns:m="http://schemas.openxmlformats.org/officeDocument/2006/math">
                    <m:r>
                      <a:rPr lang="en-US" sz="2400" b="0" i="0" smtClean="0">
                        <a:solidFill>
                          <a:srgbClr val="C00000"/>
                        </a:solidFill>
                        <a:latin typeface="Cambria Math" panose="02040503050406030204" pitchFamily="18" charset="0"/>
                      </a:rPr>
                      <m:t>(</m:t>
                    </m:r>
                    <m:r>
                      <m:rPr>
                        <m:sty m:val="p"/>
                      </m:rPr>
                      <a:rPr lang="en-US" sz="2400" i="1">
                        <a:solidFill>
                          <a:srgbClr val="C00000"/>
                        </a:solidFill>
                        <a:latin typeface="Cambria Math" panose="02040503050406030204" pitchFamily="18" charset="0"/>
                      </a:rPr>
                      <m:t>key</m:t>
                    </m:r>
                    <m:r>
                      <a:rPr lang="en-US" sz="2400" b="0" i="1" smtClean="0">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𝑝</m:t>
                    </m:r>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𝑘</m:t>
                        </m:r>
                      </m:e>
                      <m:sub>
                        <m:r>
                          <a:rPr lang="en-US" sz="2400" i="1">
                            <a:solidFill>
                              <a:srgbClr val="C00000"/>
                            </a:solidFill>
                            <a:latin typeface="Cambria Math" panose="02040503050406030204" pitchFamily="18" charset="0"/>
                          </a:rPr>
                          <m:t>𝑈</m:t>
                        </m:r>
                      </m:sub>
                    </m:sSub>
                    <m:r>
                      <a:rPr lang="en-US" sz="2400" b="0" i="1" smtClean="0">
                        <a:solidFill>
                          <a:srgbClr val="C00000"/>
                        </a:solidFill>
                        <a:latin typeface="Cambria Math" panose="02040503050406030204" pitchFamily="18" charset="0"/>
                      </a:rPr>
                      <m:t>)</m:t>
                    </m:r>
                  </m:oMath>
                </a14:m>
                <a:endParaRPr lang="en-US" sz="2400" dirty="0">
                  <a:solidFill>
                    <a:srgbClr val="C00000"/>
                  </a:solidFill>
                  <a:latin typeface="Candara" panose="020E0502030303020204" pitchFamily="34" charset="0"/>
                </a:endParaRPr>
              </a:p>
            </p:txBody>
          </p:sp>
        </mc:Choice>
        <mc:Fallback xmlns="">
          <p:sp>
            <p:nvSpPr>
              <p:cNvPr id="25" name="TextBox 24">
                <a:extLst>
                  <a:ext uri="{FF2B5EF4-FFF2-40B4-BE49-F238E27FC236}">
                    <a16:creationId xmlns:a16="http://schemas.microsoft.com/office/drawing/2014/main" id="{6218282A-9A88-ACE6-F343-AF2695820A81}"/>
                  </a:ext>
                </a:extLst>
              </p:cNvPr>
              <p:cNvSpPr txBox="1">
                <a:spLocks noRot="1" noChangeAspect="1" noMove="1" noResize="1" noEditPoints="1" noAdjustHandles="1" noChangeArrowheads="1" noChangeShapeType="1" noTextEdit="1"/>
              </p:cNvSpPr>
              <p:nvPr/>
            </p:nvSpPr>
            <p:spPr>
              <a:xfrm>
                <a:off x="7726005" y="3571203"/>
                <a:ext cx="3798125" cy="369332"/>
              </a:xfrm>
              <a:prstGeom prst="rect">
                <a:avLst/>
              </a:prstGeom>
              <a:blipFill>
                <a:blip r:embed="rId11"/>
                <a:stretch>
                  <a:fillRect t="-23333" b="-46667"/>
                </a:stretch>
              </a:blipFill>
            </p:spPr>
            <p:txBody>
              <a:bodyPr/>
              <a:lstStyle/>
              <a:p>
                <a:r>
                  <a:rPr lang="en-US">
                    <a:noFill/>
                  </a:rPr>
                  <a:t> </a:t>
                </a:r>
              </a:p>
            </p:txBody>
          </p:sp>
        </mc:Fallback>
      </mc:AlternateContent>
      <p:grpSp>
        <p:nvGrpSpPr>
          <p:cNvPr id="29" name="Group 28">
            <a:extLst>
              <a:ext uri="{FF2B5EF4-FFF2-40B4-BE49-F238E27FC236}">
                <a16:creationId xmlns:a16="http://schemas.microsoft.com/office/drawing/2014/main" id="{116A5018-E301-357C-51F4-F89BFA3DE1A5}"/>
              </a:ext>
            </a:extLst>
          </p:cNvPr>
          <p:cNvGrpSpPr/>
          <p:nvPr/>
        </p:nvGrpSpPr>
        <p:grpSpPr>
          <a:xfrm>
            <a:off x="838200" y="4387601"/>
            <a:ext cx="2278444" cy="2237308"/>
            <a:chOff x="838200" y="4387601"/>
            <a:chExt cx="2278444" cy="2237308"/>
          </a:xfrm>
        </p:grpSpPr>
        <p:pic>
          <p:nvPicPr>
            <p:cNvPr id="26" name="Graphic 25" descr="Store with solid fill">
              <a:extLst>
                <a:ext uri="{FF2B5EF4-FFF2-40B4-BE49-F238E27FC236}">
                  <a16:creationId xmlns:a16="http://schemas.microsoft.com/office/drawing/2014/main" id="{AF88C8C1-37E3-3D6D-EC65-C8A307232A6D}"/>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73851" y="4990072"/>
              <a:ext cx="1634837" cy="1634837"/>
            </a:xfrm>
            <a:prstGeom prst="rect">
              <a:avLst/>
            </a:prstGeom>
          </p:spPr>
        </p:pic>
        <p:sp>
          <p:nvSpPr>
            <p:cNvPr id="27" name="TextBox 26">
              <a:extLst>
                <a:ext uri="{FF2B5EF4-FFF2-40B4-BE49-F238E27FC236}">
                  <a16:creationId xmlns:a16="http://schemas.microsoft.com/office/drawing/2014/main" id="{4502141F-5F6C-44F9-D98C-7F4ABA8A121F}"/>
                </a:ext>
              </a:extLst>
            </p:cNvPr>
            <p:cNvSpPr txBox="1"/>
            <p:nvPr/>
          </p:nvSpPr>
          <p:spPr>
            <a:xfrm>
              <a:off x="1293188" y="4387601"/>
              <a:ext cx="1196161" cy="461665"/>
            </a:xfrm>
            <a:prstGeom prst="rect">
              <a:avLst/>
            </a:prstGeom>
            <a:noFill/>
          </p:spPr>
          <p:txBody>
            <a:bodyPr wrap="none" rtlCol="0">
              <a:spAutoFit/>
            </a:bodyPr>
            <a:lstStyle/>
            <a:p>
              <a:r>
                <a:rPr lang="en-US" sz="2400" b="1" dirty="0">
                  <a:latin typeface="Candara" panose="020E0502030303020204" pitchFamily="34" charset="0"/>
                </a:rPr>
                <a:t>Verifier</a:t>
              </a:r>
            </a:p>
          </p:txBody>
        </p:sp>
        <p:sp>
          <p:nvSpPr>
            <p:cNvPr id="28" name="TextBox 27">
              <a:extLst>
                <a:ext uri="{FF2B5EF4-FFF2-40B4-BE49-F238E27FC236}">
                  <a16:creationId xmlns:a16="http://schemas.microsoft.com/office/drawing/2014/main" id="{66A5A64F-59CE-AEAA-5138-119F4DA37283}"/>
                </a:ext>
              </a:extLst>
            </p:cNvPr>
            <p:cNvSpPr txBox="1"/>
            <p:nvPr/>
          </p:nvSpPr>
          <p:spPr>
            <a:xfrm>
              <a:off x="838200" y="4837659"/>
              <a:ext cx="2278444" cy="369332"/>
            </a:xfrm>
            <a:prstGeom prst="rect">
              <a:avLst/>
            </a:prstGeom>
            <a:noFill/>
          </p:spPr>
          <p:txBody>
            <a:bodyPr wrap="none" rtlCol="0">
              <a:spAutoFit/>
            </a:bodyPr>
            <a:lstStyle/>
            <a:p>
              <a:r>
                <a:rPr lang="en-US" dirty="0" err="1">
                  <a:latin typeface="Candara" panose="020E0502030303020204" pitchFamily="34" charset="0"/>
                  <a:ea typeface="Cambria Math" panose="02040503050406030204" pitchFamily="18" charset="0"/>
                </a:rPr>
                <a:t>ctxt</a:t>
              </a:r>
              <a:r>
                <a:rPr lang="en-US" dirty="0">
                  <a:latin typeface="Candara" panose="020E0502030303020204" pitchFamily="34" charset="0"/>
                  <a:ea typeface="Cambria Math" panose="02040503050406030204" pitchFamily="18" charset="0"/>
                </a:rPr>
                <a:t> = ‘</a:t>
              </a:r>
              <a:r>
                <a:rPr lang="en-US" dirty="0" err="1">
                  <a:latin typeface="Candara" panose="020E0502030303020204" pitchFamily="34" charset="0"/>
                  <a:ea typeface="Cambria Math" panose="02040503050406030204" pitchFamily="18" charset="0"/>
                </a:rPr>
                <a:t>blahblah.com</a:t>
              </a:r>
              <a:r>
                <a:rPr lang="en-US" dirty="0">
                  <a:latin typeface="Candara" panose="020E0502030303020204" pitchFamily="34" charset="0"/>
                  <a:ea typeface="Cambria Math" panose="02040503050406030204" pitchFamily="18" charset="0"/>
                </a:rPr>
                <a:t>’</a:t>
              </a:r>
            </a:p>
          </p:txBody>
        </p:sp>
      </p:grpSp>
      <p:cxnSp>
        <p:nvCxnSpPr>
          <p:cNvPr id="30" name="Straight Arrow Connector 29">
            <a:extLst>
              <a:ext uri="{FF2B5EF4-FFF2-40B4-BE49-F238E27FC236}">
                <a16:creationId xmlns:a16="http://schemas.microsoft.com/office/drawing/2014/main" id="{62216072-ED2E-8F10-5ECB-9128B2EBDD68}"/>
              </a:ext>
            </a:extLst>
          </p:cNvPr>
          <p:cNvCxnSpPr>
            <a:cxnSpLocks/>
          </p:cNvCxnSpPr>
          <p:nvPr/>
        </p:nvCxnSpPr>
        <p:spPr>
          <a:xfrm flipH="1">
            <a:off x="4087081" y="6166306"/>
            <a:ext cx="2905291"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FBF7E43-2498-402E-9CAC-5CC7F5FE6925}"/>
                  </a:ext>
                </a:extLst>
              </p:cNvPr>
              <p:cNvSpPr txBox="1"/>
              <p:nvPr/>
            </p:nvSpPr>
            <p:spPr>
              <a:xfrm>
                <a:off x="3672070" y="5093182"/>
                <a:ext cx="343138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𝑠𝑛</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m:t>
                          </m:r>
                        </m:e>
                        <m:sub/>
                      </m:sSub>
                      <m:r>
                        <m:rPr>
                          <m:sty m:val="p"/>
                        </m:rPr>
                        <a:rPr lang="en-US" sz="2400" b="0" i="1" smtClean="0">
                          <a:solidFill>
                            <a:srgbClr val="C00000"/>
                          </a:solidFill>
                          <a:latin typeface="Cambria Math" panose="02040503050406030204" pitchFamily="18" charset="0"/>
                        </a:rPr>
                        <m:t>PRF</m:t>
                      </m:r>
                      <m:r>
                        <a:rPr lang="en-US" sz="2400" b="0" i="1" smtClean="0">
                          <a:solidFill>
                            <a:srgbClr val="C00000"/>
                          </a:solidFill>
                          <a:latin typeface="Cambria Math" panose="02040503050406030204" pitchFamily="18" charset="0"/>
                        </a:rPr>
                        <m:t>(</m:t>
                      </m:r>
                      <m:r>
                        <m:rPr>
                          <m:sty m:val="p"/>
                        </m:rPr>
                        <a:rPr lang="en-US" sz="2400" i="1">
                          <a:solidFill>
                            <a:srgbClr val="C00000"/>
                          </a:solidFill>
                          <a:latin typeface="Cambria Math" panose="02040503050406030204" pitchFamily="18" charset="0"/>
                        </a:rPr>
                        <m:t>key</m:t>
                      </m:r>
                      <m:r>
                        <a:rPr lang="en-US" sz="2400" b="0" i="1" smtClean="0">
                          <a:solidFill>
                            <a:srgbClr val="C00000"/>
                          </a:solidFill>
                          <a:latin typeface="Cambria Math" panose="02040503050406030204" pitchFamily="18" charset="0"/>
                        </a:rPr>
                        <m:t>, </m:t>
                      </m:r>
                      <m:r>
                        <m:rPr>
                          <m:sty m:val="p"/>
                        </m:rPr>
                        <a:rPr lang="en-US" sz="2400" b="0" i="1" smtClean="0">
                          <a:solidFill>
                            <a:srgbClr val="C00000"/>
                          </a:solidFill>
                          <a:latin typeface="Cambria Math" panose="02040503050406030204" pitchFamily="18" charset="0"/>
                        </a:rPr>
                        <m:t>ctxt</m:t>
                      </m:r>
                      <m:r>
                        <a:rPr lang="en-US" sz="2400" b="0" i="1" smtClean="0">
                          <a:solidFill>
                            <a:srgbClr val="C00000"/>
                          </a:solidFill>
                          <a:latin typeface="Cambria Math" panose="02040503050406030204" pitchFamily="18" charset="0"/>
                        </a:rPr>
                        <m:t>||</m:t>
                      </m:r>
                      <m:r>
                        <m:rPr>
                          <m:sty m:val="p"/>
                        </m:rPr>
                        <a:rPr lang="en-US" sz="2400" b="0" i="1" smtClean="0">
                          <a:solidFill>
                            <a:srgbClr val="C00000"/>
                          </a:solidFill>
                          <a:latin typeface="Cambria Math" panose="02040503050406030204" pitchFamily="18" charset="0"/>
                        </a:rPr>
                        <m:t>ctr</m:t>
                      </m:r>
                      <m:r>
                        <a:rPr lang="en-US" sz="2400" b="0" i="1" smtClean="0">
                          <a:solidFill>
                            <a:srgbClr val="C00000"/>
                          </a:solidFill>
                          <a:latin typeface="Cambria Math" panose="02040503050406030204" pitchFamily="18" charset="0"/>
                        </a:rPr>
                        <m:t>)</m:t>
                      </m:r>
                    </m:oMath>
                  </m:oMathPara>
                </a14:m>
                <a:endParaRPr lang="en-US" sz="2400" dirty="0">
                  <a:solidFill>
                    <a:srgbClr val="C00000"/>
                  </a:solidFill>
                  <a:latin typeface="Candara" panose="020E0502030303020204" pitchFamily="34" charset="0"/>
                </a:endParaRPr>
              </a:p>
            </p:txBody>
          </p:sp>
        </mc:Choice>
        <mc:Fallback xmlns="">
          <p:sp>
            <p:nvSpPr>
              <p:cNvPr id="32" name="TextBox 31">
                <a:extLst>
                  <a:ext uri="{FF2B5EF4-FFF2-40B4-BE49-F238E27FC236}">
                    <a16:creationId xmlns:a16="http://schemas.microsoft.com/office/drawing/2014/main" id="{FFBF7E43-2498-402E-9CAC-5CC7F5FE6925}"/>
                  </a:ext>
                </a:extLst>
              </p:cNvPr>
              <p:cNvSpPr txBox="1">
                <a:spLocks noRot="1" noChangeAspect="1" noMove="1" noResize="1" noEditPoints="1" noAdjustHandles="1" noChangeArrowheads="1" noChangeShapeType="1" noTextEdit="1"/>
              </p:cNvSpPr>
              <p:nvPr/>
            </p:nvSpPr>
            <p:spPr>
              <a:xfrm>
                <a:off x="3672070" y="5093182"/>
                <a:ext cx="3431389" cy="369332"/>
              </a:xfrm>
              <a:prstGeom prst="rect">
                <a:avLst/>
              </a:prstGeom>
              <a:blipFill>
                <a:blip r:embed="rId14"/>
                <a:stretch>
                  <a:fillRect l="-735" r="-2941" b="-322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951164FB-8DDE-7488-9B1D-698CD08E1627}"/>
                  </a:ext>
                </a:extLst>
              </p:cNvPr>
              <p:cNvSpPr txBox="1"/>
              <p:nvPr/>
            </p:nvSpPr>
            <p:spPr>
              <a:xfrm>
                <a:off x="5394791" y="5668971"/>
                <a:ext cx="25327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2400" b="0" i="1" smtClean="0">
                          <a:solidFill>
                            <a:srgbClr val="C00000"/>
                          </a:solidFill>
                          <a:latin typeface="Cambria Math" panose="02040503050406030204" pitchFamily="18" charset="0"/>
                        </a:rPr>
                        <m:t>π</m:t>
                      </m:r>
                    </m:oMath>
                  </m:oMathPara>
                </a14:m>
                <a:endParaRPr lang="en-US" sz="2400" dirty="0">
                  <a:solidFill>
                    <a:srgbClr val="C00000"/>
                  </a:solidFill>
                  <a:latin typeface="Candara" panose="020E0502030303020204" pitchFamily="34" charset="0"/>
                </a:endParaRPr>
              </a:p>
            </p:txBody>
          </p:sp>
        </mc:Choice>
        <mc:Fallback xmlns="">
          <p:sp>
            <p:nvSpPr>
              <p:cNvPr id="34" name="TextBox 33">
                <a:extLst>
                  <a:ext uri="{FF2B5EF4-FFF2-40B4-BE49-F238E27FC236}">
                    <a16:creationId xmlns:a16="http://schemas.microsoft.com/office/drawing/2014/main" id="{951164FB-8DDE-7488-9B1D-698CD08E1627}"/>
                  </a:ext>
                </a:extLst>
              </p:cNvPr>
              <p:cNvSpPr txBox="1">
                <a:spLocks noRot="1" noChangeAspect="1" noMove="1" noResize="1" noEditPoints="1" noAdjustHandles="1" noChangeArrowheads="1" noChangeShapeType="1" noTextEdit="1"/>
              </p:cNvSpPr>
              <p:nvPr/>
            </p:nvSpPr>
            <p:spPr>
              <a:xfrm>
                <a:off x="5394791" y="5668971"/>
                <a:ext cx="253274" cy="369332"/>
              </a:xfrm>
              <a:prstGeom prst="rect">
                <a:avLst/>
              </a:prstGeom>
              <a:blipFill>
                <a:blip r:embed="rId15"/>
                <a:stretch>
                  <a:fillRect l="-14286" r="-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ounded Rectangular Callout 34">
                <a:extLst>
                  <a:ext uri="{FF2B5EF4-FFF2-40B4-BE49-F238E27FC236}">
                    <a16:creationId xmlns:a16="http://schemas.microsoft.com/office/drawing/2014/main" id="{951E70C9-FC77-2B49-842A-C60884DFC579}"/>
                  </a:ext>
                </a:extLst>
              </p:cNvPr>
              <p:cNvSpPr/>
              <p:nvPr/>
            </p:nvSpPr>
            <p:spPr>
              <a:xfrm>
                <a:off x="7543198" y="4410053"/>
                <a:ext cx="4534131" cy="2163584"/>
              </a:xfrm>
              <a:prstGeom prst="wedgeRoundRectCallout">
                <a:avLst>
                  <a:gd name="adj1" fmla="val -87972"/>
                  <a:gd name="adj2" fmla="val 15889"/>
                  <a:gd name="adj3" fmla="val 16667"/>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2400" dirty="0">
                    <a:solidFill>
                      <a:srgbClr val="C00000"/>
                    </a:solidFill>
                    <a:latin typeface="Candara" panose="020E0502030303020204" pitchFamily="34" charset="0"/>
                  </a:rPr>
                  <a:t>ZK Proof of knowledge of</a:t>
                </a:r>
              </a:p>
              <a:p>
                <a14:m>
                  <m:oMath xmlns:m="http://schemas.openxmlformats.org/officeDocument/2006/math">
                    <m:r>
                      <a:rPr lang="en-US" sz="2400" b="0" i="1" smtClean="0">
                        <a:solidFill>
                          <a:srgbClr val="C00000"/>
                        </a:solidFill>
                        <a:latin typeface="Cambria Math" panose="02040503050406030204" pitchFamily="18" charset="0"/>
                      </a:rPr>
                      <m:t>(</m:t>
                    </m:r>
                    <m:r>
                      <m:rPr>
                        <m:sty m:val="p"/>
                      </m:rPr>
                      <a:rPr lang="en-US" sz="2400" b="0" i="1" smtClean="0">
                        <a:solidFill>
                          <a:srgbClr val="C00000"/>
                        </a:solidFill>
                        <a:latin typeface="Cambria Math" panose="02040503050406030204" pitchFamily="18" charset="0"/>
                      </a:rPr>
                      <m:t>key</m:t>
                    </m:r>
                    <m:r>
                      <a:rPr lang="en-US" sz="2400" b="0" i="1" smtClean="0">
                        <a:solidFill>
                          <a:srgbClr val="C00000"/>
                        </a:solidFill>
                        <a:latin typeface="Cambria Math" panose="02040503050406030204" pitchFamily="18" charset="0"/>
                      </a:rPr>
                      <m:t>,</m:t>
                    </m:r>
                    <m:r>
                      <m:rPr>
                        <m:sty m:val="p"/>
                      </m:rPr>
                      <a:rPr lang="en-US" sz="2400" b="0" i="1" smtClean="0">
                        <a:solidFill>
                          <a:srgbClr val="C00000"/>
                        </a:solidFill>
                        <a:latin typeface="Cambria Math" panose="02040503050406030204" pitchFamily="18" charset="0"/>
                      </a:rPr>
                      <m:t>ctr</m:t>
                    </m:r>
                    <m:r>
                      <a:rPr lang="en-US" sz="2400" b="0" i="1" smtClean="0">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𝑝</m:t>
                    </m:r>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𝑘</m:t>
                        </m:r>
                      </m:e>
                      <m:sub>
                        <m:r>
                          <a:rPr lang="en-US" sz="2400" i="1">
                            <a:solidFill>
                              <a:srgbClr val="C00000"/>
                            </a:solidFill>
                            <a:latin typeface="Cambria Math" panose="02040503050406030204" pitchFamily="18" charset="0"/>
                          </a:rPr>
                          <m:t>𝑈</m:t>
                        </m:r>
                      </m:sub>
                    </m:sSub>
                    <m:r>
                      <a:rPr lang="en-US" sz="2400" b="0" i="0" smtClean="0">
                        <a:solidFill>
                          <a:srgbClr val="C00000"/>
                        </a:solidFill>
                        <a:latin typeface="Cambria Math" panose="02040503050406030204" pitchFamily="18" charset="0"/>
                      </a:rPr>
                      <m:t>,</m:t>
                    </m:r>
                    <m:r>
                      <a:rPr lang="en-US" sz="2400" b="0" i="1" smtClean="0">
                        <a:solidFill>
                          <a:srgbClr val="C00000"/>
                        </a:solidFill>
                        <a:latin typeface="Cambria Math" panose="02040503050406030204" pitchFamily="18" charset="0"/>
                      </a:rPr>
                      <m:t>𝜎</m:t>
                    </m:r>
                    <m:r>
                      <a:rPr lang="en-US" sz="2400" b="0" i="1" smtClean="0">
                        <a:solidFill>
                          <a:srgbClr val="C00000"/>
                        </a:solidFill>
                        <a:latin typeface="Cambria Math" panose="02040503050406030204" pitchFamily="18" charset="0"/>
                      </a:rPr>
                      <m:t>)</m:t>
                    </m:r>
                  </m:oMath>
                </a14:m>
                <a:r>
                  <a:rPr lang="en-US" sz="2400" dirty="0">
                    <a:solidFill>
                      <a:srgbClr val="C00000"/>
                    </a:solidFill>
                    <a:latin typeface="Candara" panose="020E0502030303020204" pitchFamily="34" charset="0"/>
                  </a:rPr>
                  <a:t> such that:</a:t>
                </a:r>
              </a:p>
              <a:p>
                <a:pPr marL="342900" indent="-342900">
                  <a:buFont typeface="Arial" panose="020B0604020202020204" pitchFamily="34" charset="0"/>
                  <a:buChar char="•"/>
                </a:pPr>
                <a14:m>
                  <m:oMath xmlns:m="http://schemas.openxmlformats.org/officeDocument/2006/math">
                    <m:r>
                      <a:rPr lang="en-US" sz="2400" i="1">
                        <a:solidFill>
                          <a:srgbClr val="C00000"/>
                        </a:solidFill>
                        <a:latin typeface="Cambria Math" panose="02040503050406030204" pitchFamily="18" charset="0"/>
                      </a:rPr>
                      <m:t>𝑠</m:t>
                    </m:r>
                    <m:r>
                      <a:rPr lang="en-US" sz="2400" b="0" i="1" smtClean="0">
                        <a:solidFill>
                          <a:srgbClr val="C00000"/>
                        </a:solidFill>
                        <a:latin typeface="Cambria Math" panose="02040503050406030204" pitchFamily="18" charset="0"/>
                      </a:rPr>
                      <m:t>𝑛</m:t>
                    </m:r>
                    <m:r>
                      <a:rPr lang="en-US" sz="2400" b="0" i="1" smtClean="0">
                        <a:solidFill>
                          <a:srgbClr val="C00000"/>
                        </a:solidFill>
                        <a:latin typeface="Cambria Math" panose="02040503050406030204" pitchFamily="18" charset="0"/>
                      </a:rPr>
                      <m:t>=</m:t>
                    </m:r>
                    <m:r>
                      <m:rPr>
                        <m:sty m:val="p"/>
                      </m:rPr>
                      <a:rPr lang="en-US" sz="2400" i="1">
                        <a:solidFill>
                          <a:srgbClr val="C00000"/>
                        </a:solidFill>
                        <a:latin typeface="Cambria Math" panose="02040503050406030204" pitchFamily="18" charset="0"/>
                      </a:rPr>
                      <m:t>PRF</m:t>
                    </m:r>
                    <m:r>
                      <a:rPr lang="en-US" sz="2400" i="1">
                        <a:solidFill>
                          <a:srgbClr val="C00000"/>
                        </a:solidFill>
                        <a:latin typeface="Cambria Math" panose="02040503050406030204" pitchFamily="18" charset="0"/>
                      </a:rPr>
                      <m:t>(</m:t>
                    </m:r>
                    <m:r>
                      <m:rPr>
                        <m:sty m:val="p"/>
                      </m:rPr>
                      <a:rPr lang="en-US" sz="2400" i="1">
                        <a:solidFill>
                          <a:srgbClr val="C00000"/>
                        </a:solidFill>
                        <a:latin typeface="Cambria Math" panose="02040503050406030204" pitchFamily="18" charset="0"/>
                      </a:rPr>
                      <m:t>key</m:t>
                    </m:r>
                    <m:r>
                      <a:rPr lang="en-US" sz="2400" i="1">
                        <a:solidFill>
                          <a:srgbClr val="C00000"/>
                        </a:solidFill>
                        <a:latin typeface="Cambria Math" panose="02040503050406030204" pitchFamily="18" charset="0"/>
                      </a:rPr>
                      <m:t>, </m:t>
                    </m:r>
                    <m:r>
                      <m:rPr>
                        <m:sty m:val="p"/>
                      </m:rPr>
                      <a:rPr lang="en-US" sz="2400" i="1">
                        <a:solidFill>
                          <a:srgbClr val="C00000"/>
                        </a:solidFill>
                        <a:latin typeface="Cambria Math" panose="02040503050406030204" pitchFamily="18" charset="0"/>
                      </a:rPr>
                      <m:t>ctxt</m:t>
                    </m:r>
                    <m:r>
                      <a:rPr lang="en-US" sz="2400" i="1">
                        <a:solidFill>
                          <a:srgbClr val="C00000"/>
                        </a:solidFill>
                        <a:latin typeface="Cambria Math" panose="02040503050406030204" pitchFamily="18" charset="0"/>
                      </a:rPr>
                      <m:t>||</m:t>
                    </m:r>
                    <m:r>
                      <m:rPr>
                        <m:sty m:val="p"/>
                      </m:rPr>
                      <a:rPr lang="en-US" sz="2400" i="1">
                        <a:solidFill>
                          <a:srgbClr val="C00000"/>
                        </a:solidFill>
                        <a:latin typeface="Cambria Math" panose="02040503050406030204" pitchFamily="18" charset="0"/>
                      </a:rPr>
                      <m:t>ctr</m:t>
                    </m:r>
                    <m:r>
                      <a:rPr lang="en-US" sz="2400" i="1">
                        <a:solidFill>
                          <a:srgbClr val="C00000"/>
                        </a:solidFill>
                        <a:latin typeface="Cambria Math" panose="02040503050406030204" pitchFamily="18" charset="0"/>
                      </a:rPr>
                      <m:t>)</m:t>
                    </m:r>
                  </m:oMath>
                </a14:m>
                <a:endParaRPr lang="en-US" sz="2400" dirty="0">
                  <a:solidFill>
                    <a:srgbClr val="C00000"/>
                  </a:solidFill>
                  <a:latin typeface="Candara" panose="020E0502030303020204" pitchFamily="34" charset="0"/>
                </a:endParaRPr>
              </a:p>
              <a:p>
                <a:pPr marL="342900" indent="-342900">
                  <a:buFont typeface="Arial" panose="020B0604020202020204" pitchFamily="34" charset="0"/>
                  <a:buChar char="•"/>
                </a:pPr>
                <a14:m>
                  <m:oMath xmlns:m="http://schemas.openxmlformats.org/officeDocument/2006/math">
                    <m:r>
                      <m:rPr>
                        <m:sty m:val="p"/>
                      </m:rPr>
                      <a:rPr lang="en-US" sz="2400" i="1">
                        <a:solidFill>
                          <a:srgbClr val="C00000"/>
                        </a:solidFill>
                        <a:latin typeface="Cambria Math" panose="02040503050406030204" pitchFamily="18" charset="0"/>
                      </a:rPr>
                      <m:t>ctr</m:t>
                    </m:r>
                    <m:r>
                      <a:rPr lang="en-US" sz="2400" b="0" i="1" smtClean="0">
                        <a:solidFill>
                          <a:srgbClr val="C00000"/>
                        </a:solidFill>
                        <a:latin typeface="Cambria Math" panose="02040503050406030204" pitchFamily="18" charset="0"/>
                      </a:rPr>
                      <m:t>∈[0,</m:t>
                    </m:r>
                    <m:r>
                      <a:rPr lang="en-US" sz="2400" b="0" i="1" smtClean="0">
                        <a:solidFill>
                          <a:srgbClr val="C00000"/>
                        </a:solidFill>
                        <a:latin typeface="Cambria Math" panose="02040503050406030204" pitchFamily="18" charset="0"/>
                      </a:rPr>
                      <m:t>𝑁</m:t>
                    </m:r>
                    <m:r>
                      <a:rPr lang="en-US" sz="2400" b="0" i="1" smtClean="0">
                        <a:solidFill>
                          <a:srgbClr val="C00000"/>
                        </a:solidFill>
                        <a:latin typeface="Cambria Math" panose="02040503050406030204" pitchFamily="18" charset="0"/>
                      </a:rPr>
                      <m:t>−1]</m:t>
                    </m:r>
                  </m:oMath>
                </a14:m>
                <a:endParaRPr lang="en-US" sz="2400" dirty="0">
                  <a:solidFill>
                    <a:srgbClr val="C00000"/>
                  </a:solidFill>
                  <a:latin typeface="Candara" panose="020E0502030303020204" pitchFamily="34" charset="0"/>
                </a:endParaRPr>
              </a:p>
              <a:p>
                <a:pPr marL="342900" indent="-342900">
                  <a:buFont typeface="Arial" panose="020B0604020202020204" pitchFamily="34" charset="0"/>
                  <a:buChar char="•"/>
                </a:pPr>
                <a14:m>
                  <m:oMath xmlns:m="http://schemas.openxmlformats.org/officeDocument/2006/math">
                    <m:r>
                      <m:rPr>
                        <m:sty m:val="p"/>
                      </m:rPr>
                      <a:rPr lang="en-US" sz="2400" b="0" i="1" smtClean="0">
                        <a:solidFill>
                          <a:srgbClr val="C00000"/>
                        </a:solidFill>
                        <a:latin typeface="Cambria Math" panose="02040503050406030204" pitchFamily="18" charset="0"/>
                      </a:rPr>
                      <m:t>Ver</m:t>
                    </m:r>
                    <m:r>
                      <a:rPr lang="en-US" sz="2400" b="0" i="1" smtClean="0">
                        <a:solidFill>
                          <a:srgbClr val="C00000"/>
                        </a:solidFill>
                        <a:latin typeface="Cambria Math" panose="02040503050406030204" pitchFamily="18" charset="0"/>
                      </a:rPr>
                      <m:t>(</m:t>
                    </m:r>
                    <m:r>
                      <a:rPr lang="en-US" sz="2400" b="0" i="1" smtClean="0">
                        <a:solidFill>
                          <a:srgbClr val="C00000"/>
                        </a:solidFill>
                        <a:latin typeface="Cambria Math" panose="02040503050406030204" pitchFamily="18" charset="0"/>
                      </a:rPr>
                      <m:t>𝑝</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𝑘</m:t>
                        </m:r>
                      </m:e>
                      <m:sub>
                        <m:r>
                          <a:rPr lang="en-US" sz="2400" b="0" i="1" smtClean="0">
                            <a:solidFill>
                              <a:srgbClr val="C00000"/>
                            </a:solidFill>
                            <a:latin typeface="Cambria Math" panose="02040503050406030204" pitchFamily="18" charset="0"/>
                          </a:rPr>
                          <m:t>𝐼</m:t>
                        </m:r>
                      </m:sub>
                    </m:sSub>
                    <m:r>
                      <a:rPr lang="en-US" sz="2400" b="0" i="1" smtClean="0">
                        <a:solidFill>
                          <a:srgbClr val="C00000"/>
                        </a:solidFill>
                        <a:latin typeface="Cambria Math" panose="02040503050406030204" pitchFamily="18" charset="0"/>
                      </a:rPr>
                      <m:t>,</m:t>
                    </m:r>
                    <m:r>
                      <a:rPr lang="en-US" sz="2400">
                        <a:solidFill>
                          <a:srgbClr val="C00000"/>
                        </a:solidFill>
                        <a:latin typeface="Cambria Math" panose="02040503050406030204" pitchFamily="18" charset="0"/>
                      </a:rPr>
                      <m:t>(</m:t>
                    </m:r>
                    <m:r>
                      <m:rPr>
                        <m:sty m:val="p"/>
                      </m:rPr>
                      <a:rPr lang="en-US" sz="2400" i="1">
                        <a:solidFill>
                          <a:srgbClr val="C00000"/>
                        </a:solidFill>
                        <a:latin typeface="Cambria Math" panose="02040503050406030204" pitchFamily="18" charset="0"/>
                      </a:rPr>
                      <m:t>key</m:t>
                    </m:r>
                    <m:r>
                      <a:rPr lang="en-US" sz="2400" i="1">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𝑝</m:t>
                    </m:r>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𝑘</m:t>
                        </m:r>
                      </m:e>
                      <m:sub>
                        <m:r>
                          <a:rPr lang="en-US" sz="2400" i="1">
                            <a:solidFill>
                              <a:srgbClr val="C00000"/>
                            </a:solidFill>
                            <a:latin typeface="Cambria Math" panose="02040503050406030204" pitchFamily="18" charset="0"/>
                          </a:rPr>
                          <m:t>𝑈</m:t>
                        </m:r>
                      </m:sub>
                    </m:sSub>
                    <m:r>
                      <a:rPr lang="en-US" sz="2400" b="0" i="1" smtClean="0">
                        <a:solidFill>
                          <a:srgbClr val="C00000"/>
                        </a:solidFill>
                        <a:latin typeface="Cambria Math" panose="02040503050406030204" pitchFamily="18" charset="0"/>
                      </a:rPr>
                      <m:t>),</m:t>
                    </m:r>
                    <m:r>
                      <a:rPr lang="en-US" sz="2400" b="0" i="1" smtClean="0">
                        <a:solidFill>
                          <a:srgbClr val="C00000"/>
                        </a:solidFill>
                        <a:latin typeface="Cambria Math" panose="02040503050406030204" pitchFamily="18" charset="0"/>
                      </a:rPr>
                      <m:t>𝜎</m:t>
                    </m:r>
                    <m:r>
                      <a:rPr lang="en-US" sz="2400" b="0" i="1" smtClean="0">
                        <a:solidFill>
                          <a:srgbClr val="C00000"/>
                        </a:solidFill>
                        <a:latin typeface="Cambria Math" panose="02040503050406030204" pitchFamily="18" charset="0"/>
                      </a:rPr>
                      <m:t>)=1</m:t>
                    </m:r>
                  </m:oMath>
                </a14:m>
                <a:endParaRPr lang="en-US" sz="2400" dirty="0">
                  <a:solidFill>
                    <a:srgbClr val="C00000"/>
                  </a:solidFill>
                  <a:latin typeface="Candara" panose="020E0502030303020204" pitchFamily="34" charset="0"/>
                </a:endParaRPr>
              </a:p>
            </p:txBody>
          </p:sp>
        </mc:Choice>
        <mc:Fallback xmlns="">
          <p:sp>
            <p:nvSpPr>
              <p:cNvPr id="35" name="Rounded Rectangular Callout 34">
                <a:extLst>
                  <a:ext uri="{FF2B5EF4-FFF2-40B4-BE49-F238E27FC236}">
                    <a16:creationId xmlns:a16="http://schemas.microsoft.com/office/drawing/2014/main" id="{951E70C9-FC77-2B49-842A-C60884DFC579}"/>
                  </a:ext>
                </a:extLst>
              </p:cNvPr>
              <p:cNvSpPr>
                <a:spLocks noRot="1" noChangeAspect="1" noMove="1" noResize="1" noEditPoints="1" noAdjustHandles="1" noChangeArrowheads="1" noChangeShapeType="1" noTextEdit="1"/>
              </p:cNvSpPr>
              <p:nvPr/>
            </p:nvSpPr>
            <p:spPr>
              <a:xfrm>
                <a:off x="7543198" y="4410053"/>
                <a:ext cx="4534131" cy="2163584"/>
              </a:xfrm>
              <a:prstGeom prst="wedgeRoundRectCallout">
                <a:avLst>
                  <a:gd name="adj1" fmla="val -87972"/>
                  <a:gd name="adj2" fmla="val 15889"/>
                  <a:gd name="adj3" fmla="val 16667"/>
                </a:avLst>
              </a:prstGeom>
              <a:blipFill>
                <a:blip r:embed="rId16"/>
                <a:stretch>
                  <a:fillRect/>
                </a:stretch>
              </a:blipFill>
              <a:ln>
                <a:noFill/>
              </a:ln>
            </p:spPr>
            <p:txBody>
              <a:bodyPr/>
              <a:lstStyle/>
              <a:p>
                <a:r>
                  <a:rPr lang="en-US">
                    <a:noFill/>
                  </a:rPr>
                  <a:t> </a:t>
                </a:r>
              </a:p>
            </p:txBody>
          </p:sp>
        </mc:Fallback>
      </mc:AlternateContent>
      <p:sp>
        <p:nvSpPr>
          <p:cNvPr id="37" name="TextBox 36">
            <a:extLst>
              <a:ext uri="{FF2B5EF4-FFF2-40B4-BE49-F238E27FC236}">
                <a16:creationId xmlns:a16="http://schemas.microsoft.com/office/drawing/2014/main" id="{B970688B-A4EE-F465-1399-12E701CC5057}"/>
              </a:ext>
            </a:extLst>
          </p:cNvPr>
          <p:cNvSpPr txBox="1"/>
          <p:nvPr/>
        </p:nvSpPr>
        <p:spPr>
          <a:xfrm>
            <a:off x="3514992" y="4495483"/>
            <a:ext cx="3911905" cy="400110"/>
          </a:xfrm>
          <a:prstGeom prst="rect">
            <a:avLst/>
          </a:prstGeom>
          <a:noFill/>
        </p:spPr>
        <p:txBody>
          <a:bodyPr wrap="none" rtlCol="0">
            <a:spAutoFit/>
          </a:bodyPr>
          <a:lstStyle/>
          <a:p>
            <a:r>
              <a:rPr lang="en-US" sz="2000" dirty="0">
                <a:solidFill>
                  <a:srgbClr val="C00000"/>
                </a:solidFill>
                <a:latin typeface="Candara" panose="020E0502030303020204" pitchFamily="34" charset="0"/>
              </a:rPr>
              <a:t>Only computationally anonymous</a:t>
            </a:r>
          </a:p>
        </p:txBody>
      </p:sp>
    </p:spTree>
    <p:extLst>
      <p:ext uri="{BB962C8B-B14F-4D97-AF65-F5344CB8AC3E}">
        <p14:creationId xmlns:p14="http://schemas.microsoft.com/office/powerpoint/2010/main" val="2743369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21" grpId="0" animBg="1"/>
      <p:bldP spid="22" grpId="0"/>
      <p:bldP spid="25" grpId="0"/>
      <p:bldP spid="32" grpId="0"/>
      <p:bldP spid="34" grpId="0"/>
      <p:bldP spid="35" grpId="0" animBg="1"/>
      <p:bldP spid="3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FE624-977F-7390-10BD-7DE6E3F7EA6C}"/>
              </a:ext>
            </a:extLst>
          </p:cNvPr>
          <p:cNvSpPr>
            <a:spLocks noGrp="1"/>
          </p:cNvSpPr>
          <p:nvPr>
            <p:ph type="title"/>
          </p:nvPr>
        </p:nvSpPr>
        <p:spPr/>
        <p:txBody>
          <a:bodyPr/>
          <a:lstStyle/>
          <a:p>
            <a:r>
              <a:rPr lang="en-US" dirty="0"/>
              <a:t>Post-Quantum Anonymity vs Unforgeability</a:t>
            </a:r>
          </a:p>
        </p:txBody>
      </p:sp>
      <p:pic>
        <p:nvPicPr>
          <p:cNvPr id="4" name="Picture 2" descr="Cartoon Devil Images – Browse 449,268 Stock Photos, Vectors, and Video |  Adobe Stock">
            <a:extLst>
              <a:ext uri="{FF2B5EF4-FFF2-40B4-BE49-F238E27FC236}">
                <a16:creationId xmlns:a16="http://schemas.microsoft.com/office/drawing/2014/main" id="{0F9F0BCB-068D-8EEE-7449-86C3E301CA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533" y="2209023"/>
            <a:ext cx="1619029" cy="1619029"/>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a:extLst>
              <a:ext uri="{FF2B5EF4-FFF2-40B4-BE49-F238E27FC236}">
                <a16:creationId xmlns:a16="http://schemas.microsoft.com/office/drawing/2014/main" id="{EE60FAB1-7017-66F7-8E23-B60FE1F1B380}"/>
              </a:ext>
            </a:extLst>
          </p:cNvPr>
          <p:cNvGrpSpPr/>
          <p:nvPr/>
        </p:nvGrpSpPr>
        <p:grpSpPr>
          <a:xfrm>
            <a:off x="4765964" y="2130836"/>
            <a:ext cx="1330036" cy="1697216"/>
            <a:chOff x="9700876" y="1942973"/>
            <a:chExt cx="1330036" cy="1697216"/>
          </a:xfrm>
        </p:grpSpPr>
        <p:pic>
          <p:nvPicPr>
            <p:cNvPr id="6" name="Graphic 5" descr="User outline">
              <a:extLst>
                <a:ext uri="{FF2B5EF4-FFF2-40B4-BE49-F238E27FC236}">
                  <a16:creationId xmlns:a16="http://schemas.microsoft.com/office/drawing/2014/main" id="{93A9AEED-1375-B79B-3F8B-DBB3D51E693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00876" y="2310153"/>
              <a:ext cx="1330036" cy="1330036"/>
            </a:xfrm>
            <a:prstGeom prst="rect">
              <a:avLst/>
            </a:prstGeom>
          </p:spPr>
        </p:pic>
        <p:sp>
          <p:nvSpPr>
            <p:cNvPr id="7" name="TextBox 6">
              <a:extLst>
                <a:ext uri="{FF2B5EF4-FFF2-40B4-BE49-F238E27FC236}">
                  <a16:creationId xmlns:a16="http://schemas.microsoft.com/office/drawing/2014/main" id="{7ADFB11F-5529-B22F-D869-3E8F811D642E}"/>
                </a:ext>
              </a:extLst>
            </p:cNvPr>
            <p:cNvSpPr txBox="1"/>
            <p:nvPr/>
          </p:nvSpPr>
          <p:spPr>
            <a:xfrm>
              <a:off x="9969791" y="1942973"/>
              <a:ext cx="792205" cy="461665"/>
            </a:xfrm>
            <a:prstGeom prst="rect">
              <a:avLst/>
            </a:prstGeom>
            <a:noFill/>
          </p:spPr>
          <p:txBody>
            <a:bodyPr wrap="none" rtlCol="0">
              <a:spAutoFit/>
            </a:bodyPr>
            <a:lstStyle/>
            <a:p>
              <a:r>
                <a:rPr lang="en-US" sz="2400" b="1" dirty="0">
                  <a:latin typeface="Candara" panose="020E0502030303020204" pitchFamily="34" charset="0"/>
                </a:rPr>
                <a:t>User</a:t>
              </a:r>
            </a:p>
          </p:txBody>
        </p:sp>
      </p:grpSp>
      <p:cxnSp>
        <p:nvCxnSpPr>
          <p:cNvPr id="8" name="Straight Arrow Connector 7">
            <a:extLst>
              <a:ext uri="{FF2B5EF4-FFF2-40B4-BE49-F238E27FC236}">
                <a16:creationId xmlns:a16="http://schemas.microsoft.com/office/drawing/2014/main" id="{1857FAF6-6AA6-402A-48F3-D1298A035EFC}"/>
              </a:ext>
            </a:extLst>
          </p:cNvPr>
          <p:cNvCxnSpPr>
            <a:cxnSpLocks/>
          </p:cNvCxnSpPr>
          <p:nvPr/>
        </p:nvCxnSpPr>
        <p:spPr>
          <a:xfrm flipH="1">
            <a:off x="2392477" y="3046540"/>
            <a:ext cx="2267809" cy="1082"/>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1EB7507-FC12-E8A9-4B92-80840363A087}"/>
                  </a:ext>
                </a:extLst>
              </p:cNvPr>
              <p:cNvSpPr txBox="1"/>
              <p:nvPr/>
            </p:nvSpPr>
            <p:spPr>
              <a:xfrm>
                <a:off x="2394680" y="2484279"/>
                <a:ext cx="2272032" cy="430887"/>
              </a:xfrm>
              <a:prstGeom prst="rect">
                <a:avLst/>
              </a:prstGeom>
              <a:noFill/>
            </p:spPr>
            <p:txBody>
              <a:bodyPr wrap="none" lIns="0" tIns="0" rIns="0" bIns="0" rtlCol="0">
                <a:spAutoFit/>
              </a:bodyPr>
              <a:lstStyle/>
              <a:p>
                <a:r>
                  <a:rPr lang="en-US" sz="2800" b="0" dirty="0">
                    <a:solidFill>
                      <a:srgbClr val="C00000"/>
                    </a:solidFill>
                  </a:rPr>
                  <a:t>Store </a:t>
                </a:r>
                <a14:m>
                  <m:oMath xmlns:m="http://schemas.openxmlformats.org/officeDocument/2006/math">
                    <m:sSub>
                      <m:sSubPr>
                        <m:ctrlPr>
                          <a:rPr lang="en-US" sz="2800" b="0" i="1" smtClean="0">
                            <a:solidFill>
                              <a:srgbClr val="C00000"/>
                            </a:solidFill>
                            <a:latin typeface="Cambria Math" panose="02040503050406030204" pitchFamily="18" charset="0"/>
                          </a:rPr>
                        </m:ctrlPr>
                      </m:sSubPr>
                      <m:e>
                        <m:d>
                          <m:dPr>
                            <m:ctrlPr>
                              <a:rPr lang="en-US" sz="2800" b="0" i="1" smtClean="0">
                                <a:solidFill>
                                  <a:srgbClr val="C00000"/>
                                </a:solidFill>
                                <a:latin typeface="Cambria Math" panose="02040503050406030204" pitchFamily="18" charset="0"/>
                              </a:rPr>
                            </m:ctrlPr>
                          </m:dPr>
                          <m:e>
                            <m:r>
                              <a:rPr lang="en-US" sz="2800" b="0" i="1" smtClean="0">
                                <a:solidFill>
                                  <a:srgbClr val="C00000"/>
                                </a:solidFill>
                                <a:latin typeface="Cambria Math" panose="02040503050406030204" pitchFamily="18" charset="0"/>
                              </a:rPr>
                              <m:t>𝑠</m:t>
                            </m:r>
                            <m:sSub>
                              <m:sSubPr>
                                <m:ctrlPr>
                                  <a:rPr lang="en-US" sz="2800" b="0" i="1" smtClean="0">
                                    <a:solidFill>
                                      <a:srgbClr val="C00000"/>
                                    </a:solidFill>
                                    <a:latin typeface="Cambria Math" panose="02040503050406030204" pitchFamily="18" charset="0"/>
                                  </a:rPr>
                                </m:ctrlPr>
                              </m:sSubPr>
                              <m:e>
                                <m:r>
                                  <a:rPr lang="en-US" sz="2800" b="0" i="1" smtClean="0">
                                    <a:solidFill>
                                      <a:srgbClr val="C00000"/>
                                    </a:solidFill>
                                    <a:latin typeface="Cambria Math" panose="02040503050406030204" pitchFamily="18" charset="0"/>
                                  </a:rPr>
                                  <m:t>𝑛</m:t>
                                </m:r>
                              </m:e>
                              <m:sub>
                                <m:r>
                                  <a:rPr lang="en-US" sz="2800" b="0" i="1" smtClean="0">
                                    <a:solidFill>
                                      <a:srgbClr val="C00000"/>
                                    </a:solidFill>
                                    <a:latin typeface="Cambria Math" panose="02040503050406030204" pitchFamily="18" charset="0"/>
                                  </a:rPr>
                                  <m:t>𝑖</m:t>
                                </m:r>
                              </m:sub>
                            </m:sSub>
                            <m:r>
                              <a:rPr lang="en-US" sz="2800" i="1">
                                <a:solidFill>
                                  <a:srgbClr val="C00000"/>
                                </a:solidFill>
                                <a:latin typeface="Cambria Math" panose="02040503050406030204" pitchFamily="18" charset="0"/>
                              </a:rPr>
                              <m:t>,</m:t>
                            </m:r>
                            <m:sSub>
                              <m:sSubPr>
                                <m:ctrlPr>
                                  <a:rPr lang="en-US" sz="2800" b="0" i="1" smtClean="0">
                                    <a:solidFill>
                                      <a:srgbClr val="C00000"/>
                                    </a:solidFill>
                                    <a:latin typeface="Cambria Math" panose="02040503050406030204" pitchFamily="18" charset="0"/>
                                  </a:rPr>
                                </m:ctrlPr>
                              </m:sSubPr>
                              <m:e>
                                <m:r>
                                  <a:rPr lang="en-US" sz="2800" i="1">
                                    <a:solidFill>
                                      <a:srgbClr val="C00000"/>
                                    </a:solidFill>
                                    <a:latin typeface="Cambria Math" panose="02040503050406030204" pitchFamily="18" charset="0"/>
                                  </a:rPr>
                                  <m:t>𝜋</m:t>
                                </m:r>
                              </m:e>
                              <m:sub>
                                <m:r>
                                  <a:rPr lang="en-US" sz="2800" b="0" i="1" smtClean="0">
                                    <a:solidFill>
                                      <a:srgbClr val="C00000"/>
                                    </a:solidFill>
                                    <a:latin typeface="Cambria Math" panose="02040503050406030204" pitchFamily="18" charset="0"/>
                                  </a:rPr>
                                  <m:t>𝑖</m:t>
                                </m:r>
                              </m:sub>
                            </m:sSub>
                          </m:e>
                        </m:d>
                      </m:e>
                      <m:sub>
                        <m:r>
                          <a:rPr lang="en-US" sz="2800" b="0" i="1" smtClean="0">
                            <a:solidFill>
                              <a:srgbClr val="C00000"/>
                            </a:solidFill>
                            <a:latin typeface="Cambria Math" panose="02040503050406030204" pitchFamily="18" charset="0"/>
                          </a:rPr>
                          <m:t>𝑖</m:t>
                        </m:r>
                      </m:sub>
                    </m:sSub>
                  </m:oMath>
                </a14:m>
                <a:endParaRPr lang="en-US" sz="2800" dirty="0">
                  <a:solidFill>
                    <a:srgbClr val="C00000"/>
                  </a:solidFill>
                  <a:latin typeface="Candara" panose="020E0502030303020204" pitchFamily="34" charset="0"/>
                </a:endParaRPr>
              </a:p>
            </p:txBody>
          </p:sp>
        </mc:Choice>
        <mc:Fallback xmlns="">
          <p:sp>
            <p:nvSpPr>
              <p:cNvPr id="9" name="TextBox 8">
                <a:extLst>
                  <a:ext uri="{FF2B5EF4-FFF2-40B4-BE49-F238E27FC236}">
                    <a16:creationId xmlns:a16="http://schemas.microsoft.com/office/drawing/2014/main" id="{21EB7507-FC12-E8A9-4B92-80840363A087}"/>
                  </a:ext>
                </a:extLst>
              </p:cNvPr>
              <p:cNvSpPr txBox="1">
                <a:spLocks noRot="1" noChangeAspect="1" noMove="1" noResize="1" noEditPoints="1" noAdjustHandles="1" noChangeArrowheads="1" noChangeShapeType="1" noTextEdit="1"/>
              </p:cNvSpPr>
              <p:nvPr/>
            </p:nvSpPr>
            <p:spPr>
              <a:xfrm>
                <a:off x="2394680" y="2484279"/>
                <a:ext cx="2272032" cy="430887"/>
              </a:xfrm>
              <a:prstGeom prst="rect">
                <a:avLst/>
              </a:prstGeom>
              <a:blipFill>
                <a:blip r:embed="rId5"/>
                <a:stretch>
                  <a:fillRect l="-9444" t="-25714" r="-2222" b="-45714"/>
                </a:stretch>
              </a:blipFill>
            </p:spPr>
            <p:txBody>
              <a:bodyPr/>
              <a:lstStyle/>
              <a:p>
                <a:r>
                  <a:rPr lang="en-US">
                    <a:noFill/>
                  </a:rPr>
                  <a:t> </a:t>
                </a:r>
              </a:p>
            </p:txBody>
          </p:sp>
        </mc:Fallback>
      </mc:AlternateContent>
      <p:grpSp>
        <p:nvGrpSpPr>
          <p:cNvPr id="10" name="Group 9">
            <a:extLst>
              <a:ext uri="{FF2B5EF4-FFF2-40B4-BE49-F238E27FC236}">
                <a16:creationId xmlns:a16="http://schemas.microsoft.com/office/drawing/2014/main" id="{8BC98ED2-B740-01C4-997F-650FCEDDBE2E}"/>
              </a:ext>
            </a:extLst>
          </p:cNvPr>
          <p:cNvGrpSpPr/>
          <p:nvPr/>
        </p:nvGrpSpPr>
        <p:grpSpPr>
          <a:xfrm>
            <a:off x="465184" y="4085571"/>
            <a:ext cx="1619028" cy="2134555"/>
            <a:chOff x="1991032" y="3697960"/>
            <a:chExt cx="2027904" cy="2673624"/>
          </a:xfrm>
        </p:grpSpPr>
        <p:grpSp>
          <p:nvGrpSpPr>
            <p:cNvPr id="11" name="Group 10">
              <a:extLst>
                <a:ext uri="{FF2B5EF4-FFF2-40B4-BE49-F238E27FC236}">
                  <a16:creationId xmlns:a16="http://schemas.microsoft.com/office/drawing/2014/main" id="{F851582E-D89A-AC8A-3096-592E4E3CB299}"/>
                </a:ext>
              </a:extLst>
            </p:cNvPr>
            <p:cNvGrpSpPr/>
            <p:nvPr/>
          </p:nvGrpSpPr>
          <p:grpSpPr>
            <a:xfrm>
              <a:off x="1991032" y="3697960"/>
              <a:ext cx="2027904" cy="2027904"/>
              <a:chOff x="1811594" y="2428567"/>
              <a:chExt cx="2546555" cy="2546555"/>
            </a:xfrm>
          </p:grpSpPr>
          <p:pic>
            <p:nvPicPr>
              <p:cNvPr id="13" name="Graphic 12" descr="Processor outline">
                <a:extLst>
                  <a:ext uri="{FF2B5EF4-FFF2-40B4-BE49-F238E27FC236}">
                    <a16:creationId xmlns:a16="http://schemas.microsoft.com/office/drawing/2014/main" id="{16566D1A-D66B-BBCD-7CF9-BE7983B8042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11594" y="2428567"/>
                <a:ext cx="2546555" cy="2546555"/>
              </a:xfrm>
              <a:prstGeom prst="rect">
                <a:avLst/>
              </a:prstGeom>
            </p:spPr>
          </p:pic>
          <p:pic>
            <p:nvPicPr>
              <p:cNvPr id="14" name="Graphic 13" descr="Atom with solid fill">
                <a:extLst>
                  <a:ext uri="{FF2B5EF4-FFF2-40B4-BE49-F238E27FC236}">
                    <a16:creationId xmlns:a16="http://schemas.microsoft.com/office/drawing/2014/main" id="{FA875F1D-DA2A-5307-0DE5-C124733F787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627671" y="3244644"/>
                <a:ext cx="914400" cy="914400"/>
              </a:xfrm>
              <a:prstGeom prst="rect">
                <a:avLst/>
              </a:prstGeom>
            </p:spPr>
          </p:pic>
        </p:grpSp>
        <p:sp>
          <p:nvSpPr>
            <p:cNvPr id="12" name="TextBox 11">
              <a:extLst>
                <a:ext uri="{FF2B5EF4-FFF2-40B4-BE49-F238E27FC236}">
                  <a16:creationId xmlns:a16="http://schemas.microsoft.com/office/drawing/2014/main" id="{51F8CEA2-E2F4-6B1C-598B-39584BE469EF}"/>
                </a:ext>
              </a:extLst>
            </p:cNvPr>
            <p:cNvSpPr txBox="1"/>
            <p:nvPr/>
          </p:nvSpPr>
          <p:spPr>
            <a:xfrm>
              <a:off x="2204967" y="5725252"/>
              <a:ext cx="1164101" cy="646332"/>
            </a:xfrm>
            <a:prstGeom prst="rect">
              <a:avLst/>
            </a:prstGeom>
            <a:noFill/>
          </p:spPr>
          <p:txBody>
            <a:bodyPr wrap="none" rtlCol="0">
              <a:spAutoFit/>
            </a:bodyPr>
            <a:lstStyle/>
            <a:p>
              <a:r>
                <a:rPr lang="en-US" dirty="0">
                  <a:solidFill>
                    <a:srgbClr val="C00000"/>
                  </a:solidFill>
                </a:rPr>
                <a:t>Quantum</a:t>
              </a:r>
            </a:p>
            <a:p>
              <a:r>
                <a:rPr lang="en-US" dirty="0">
                  <a:solidFill>
                    <a:srgbClr val="C00000"/>
                  </a:solidFill>
                </a:rPr>
                <a:t>Computer</a:t>
              </a:r>
            </a:p>
          </p:txBody>
        </p:sp>
      </p:grpSp>
      <p:sp>
        <p:nvSpPr>
          <p:cNvPr id="15" name="TextBox 14">
            <a:extLst>
              <a:ext uri="{FF2B5EF4-FFF2-40B4-BE49-F238E27FC236}">
                <a16:creationId xmlns:a16="http://schemas.microsoft.com/office/drawing/2014/main" id="{F175D276-C9FA-111A-68B9-FE95D1B5E092}"/>
              </a:ext>
            </a:extLst>
          </p:cNvPr>
          <p:cNvSpPr txBox="1"/>
          <p:nvPr/>
        </p:nvSpPr>
        <p:spPr>
          <a:xfrm>
            <a:off x="598786" y="1849431"/>
            <a:ext cx="1524776" cy="461665"/>
          </a:xfrm>
          <a:prstGeom prst="rect">
            <a:avLst/>
          </a:prstGeom>
          <a:noFill/>
        </p:spPr>
        <p:txBody>
          <a:bodyPr wrap="none" rtlCol="0">
            <a:spAutoFit/>
          </a:bodyPr>
          <a:lstStyle/>
          <a:p>
            <a:r>
              <a:rPr lang="en-US" sz="2400" b="1" dirty="0">
                <a:latin typeface="Candara" panose="020E0502030303020204" pitchFamily="34" charset="0"/>
              </a:rPr>
              <a:t>Adversary</a:t>
            </a:r>
          </a:p>
        </p:txBody>
      </p:sp>
      <p:cxnSp>
        <p:nvCxnSpPr>
          <p:cNvPr id="18" name="Straight Connector 17">
            <a:extLst>
              <a:ext uri="{FF2B5EF4-FFF2-40B4-BE49-F238E27FC236}">
                <a16:creationId xmlns:a16="http://schemas.microsoft.com/office/drawing/2014/main" id="{C5DEFBD3-72A5-DB37-03A3-269DB1F976BC}"/>
              </a:ext>
            </a:extLst>
          </p:cNvPr>
          <p:cNvCxnSpPr/>
          <p:nvPr/>
        </p:nvCxnSpPr>
        <p:spPr>
          <a:xfrm>
            <a:off x="6096000" y="2130836"/>
            <a:ext cx="0" cy="4269964"/>
          </a:xfrm>
          <a:prstGeom prst="line">
            <a:avLst/>
          </a:prstGeom>
          <a:ln w="38100">
            <a:prstDash val="dash"/>
          </a:ln>
        </p:spPr>
        <p:style>
          <a:lnRef idx="2">
            <a:schemeClr val="accent1"/>
          </a:lnRef>
          <a:fillRef idx="0">
            <a:schemeClr val="accent1"/>
          </a:fillRef>
          <a:effectRef idx="1">
            <a:schemeClr val="accent1"/>
          </a:effectRef>
          <a:fontRef idx="minor">
            <a:schemeClr val="tx1"/>
          </a:fontRef>
        </p:style>
      </p:cxnSp>
      <p:sp>
        <p:nvSpPr>
          <p:cNvPr id="19" name="Rounded Rectangular Callout 18">
            <a:extLst>
              <a:ext uri="{FF2B5EF4-FFF2-40B4-BE49-F238E27FC236}">
                <a16:creationId xmlns:a16="http://schemas.microsoft.com/office/drawing/2014/main" id="{3BB0A6C7-961C-8AB9-A11F-47019CB8D658}"/>
              </a:ext>
            </a:extLst>
          </p:cNvPr>
          <p:cNvSpPr/>
          <p:nvPr/>
        </p:nvSpPr>
        <p:spPr>
          <a:xfrm>
            <a:off x="2642401" y="3429000"/>
            <a:ext cx="3121746" cy="2667897"/>
          </a:xfrm>
          <a:prstGeom prst="wedgeRoundRectCallout">
            <a:avLst>
              <a:gd name="adj1" fmla="val -69431"/>
              <a:gd name="adj2" fmla="val 16324"/>
              <a:gd name="adj3" fmla="val 16667"/>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C00000"/>
                </a:solidFill>
                <a:latin typeface="Candara" panose="020E0502030303020204" pitchFamily="34" charset="0"/>
              </a:rPr>
              <a:t>De-anonymize past actions even after transitioning to PQ</a:t>
            </a:r>
            <a:endParaRPr lang="en-US" sz="2800" dirty="0">
              <a:solidFill>
                <a:schemeClr val="accent3"/>
              </a:solidFill>
              <a:latin typeface="Candara" panose="020E0502030303020204" pitchFamily="34" charset="0"/>
            </a:endParaRPr>
          </a:p>
        </p:txBody>
      </p:sp>
      <p:pic>
        <p:nvPicPr>
          <p:cNvPr id="20" name="Picture 2" descr="Cartoon Devil Images – Browse 449,268 Stock Photos, Vectors, and Video |  Adobe Stock">
            <a:extLst>
              <a:ext uri="{FF2B5EF4-FFF2-40B4-BE49-F238E27FC236}">
                <a16:creationId xmlns:a16="http://schemas.microsoft.com/office/drawing/2014/main" id="{954D3FDE-8EC7-0C8D-AC39-3E4176BA11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7788" y="2242242"/>
            <a:ext cx="1619029" cy="1619029"/>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D309CB90-5AAC-09ED-7D2F-92D861DC7C65}"/>
              </a:ext>
            </a:extLst>
          </p:cNvPr>
          <p:cNvSpPr txBox="1"/>
          <p:nvPr/>
        </p:nvSpPr>
        <p:spPr>
          <a:xfrm>
            <a:off x="10202041" y="1882650"/>
            <a:ext cx="1524776" cy="461665"/>
          </a:xfrm>
          <a:prstGeom prst="rect">
            <a:avLst/>
          </a:prstGeom>
          <a:noFill/>
        </p:spPr>
        <p:txBody>
          <a:bodyPr wrap="none" rtlCol="0">
            <a:spAutoFit/>
          </a:bodyPr>
          <a:lstStyle/>
          <a:p>
            <a:r>
              <a:rPr lang="en-US" sz="2400" b="1" dirty="0">
                <a:latin typeface="Candara" panose="020E0502030303020204" pitchFamily="34" charset="0"/>
              </a:rPr>
              <a:t>Adversary</a:t>
            </a:r>
          </a:p>
        </p:txBody>
      </p:sp>
      <p:grpSp>
        <p:nvGrpSpPr>
          <p:cNvPr id="22" name="Group 21">
            <a:extLst>
              <a:ext uri="{FF2B5EF4-FFF2-40B4-BE49-F238E27FC236}">
                <a16:creationId xmlns:a16="http://schemas.microsoft.com/office/drawing/2014/main" id="{C4EE3D64-538F-D9CA-BA05-2CA3FC935D9D}"/>
              </a:ext>
            </a:extLst>
          </p:cNvPr>
          <p:cNvGrpSpPr/>
          <p:nvPr/>
        </p:nvGrpSpPr>
        <p:grpSpPr>
          <a:xfrm>
            <a:off x="10123989" y="3861271"/>
            <a:ext cx="1619028" cy="2134555"/>
            <a:chOff x="1991032" y="3697960"/>
            <a:chExt cx="2027904" cy="2673624"/>
          </a:xfrm>
        </p:grpSpPr>
        <p:grpSp>
          <p:nvGrpSpPr>
            <p:cNvPr id="23" name="Group 22">
              <a:extLst>
                <a:ext uri="{FF2B5EF4-FFF2-40B4-BE49-F238E27FC236}">
                  <a16:creationId xmlns:a16="http://schemas.microsoft.com/office/drawing/2014/main" id="{FBBC2B2A-8038-91C9-EE2C-1CA99861FA4C}"/>
                </a:ext>
              </a:extLst>
            </p:cNvPr>
            <p:cNvGrpSpPr/>
            <p:nvPr/>
          </p:nvGrpSpPr>
          <p:grpSpPr>
            <a:xfrm>
              <a:off x="1991032" y="3697960"/>
              <a:ext cx="2027904" cy="2027904"/>
              <a:chOff x="1811594" y="2428567"/>
              <a:chExt cx="2546555" cy="2546555"/>
            </a:xfrm>
          </p:grpSpPr>
          <p:pic>
            <p:nvPicPr>
              <p:cNvPr id="25" name="Graphic 24" descr="Processor outline">
                <a:extLst>
                  <a:ext uri="{FF2B5EF4-FFF2-40B4-BE49-F238E27FC236}">
                    <a16:creationId xmlns:a16="http://schemas.microsoft.com/office/drawing/2014/main" id="{4D386389-377B-0E04-7C3D-D40B91C8890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11594" y="2428567"/>
                <a:ext cx="2546555" cy="2546555"/>
              </a:xfrm>
              <a:prstGeom prst="rect">
                <a:avLst/>
              </a:prstGeom>
            </p:spPr>
          </p:pic>
          <p:pic>
            <p:nvPicPr>
              <p:cNvPr id="26" name="Graphic 25" descr="Atom with solid fill">
                <a:extLst>
                  <a:ext uri="{FF2B5EF4-FFF2-40B4-BE49-F238E27FC236}">
                    <a16:creationId xmlns:a16="http://schemas.microsoft.com/office/drawing/2014/main" id="{943BCB40-A3B7-D8BF-D30E-96B0F3C6650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627671" y="3244644"/>
                <a:ext cx="914400" cy="914400"/>
              </a:xfrm>
              <a:prstGeom prst="rect">
                <a:avLst/>
              </a:prstGeom>
            </p:spPr>
          </p:pic>
        </p:grpSp>
        <p:sp>
          <p:nvSpPr>
            <p:cNvPr id="24" name="TextBox 23">
              <a:extLst>
                <a:ext uri="{FF2B5EF4-FFF2-40B4-BE49-F238E27FC236}">
                  <a16:creationId xmlns:a16="http://schemas.microsoft.com/office/drawing/2014/main" id="{26687713-830B-F473-8CBB-1BE620D243B1}"/>
                </a:ext>
              </a:extLst>
            </p:cNvPr>
            <p:cNvSpPr txBox="1"/>
            <p:nvPr/>
          </p:nvSpPr>
          <p:spPr>
            <a:xfrm>
              <a:off x="2204967" y="5725252"/>
              <a:ext cx="1164101" cy="646332"/>
            </a:xfrm>
            <a:prstGeom prst="rect">
              <a:avLst/>
            </a:prstGeom>
            <a:noFill/>
          </p:spPr>
          <p:txBody>
            <a:bodyPr wrap="none" rtlCol="0">
              <a:spAutoFit/>
            </a:bodyPr>
            <a:lstStyle/>
            <a:p>
              <a:r>
                <a:rPr lang="en-US" dirty="0">
                  <a:solidFill>
                    <a:srgbClr val="C00000"/>
                  </a:solidFill>
                </a:rPr>
                <a:t>Quantum</a:t>
              </a:r>
            </a:p>
            <a:p>
              <a:r>
                <a:rPr lang="en-US" dirty="0">
                  <a:solidFill>
                    <a:srgbClr val="C00000"/>
                  </a:solidFill>
                </a:rPr>
                <a:t>Computer</a:t>
              </a:r>
            </a:p>
          </p:txBody>
        </p:sp>
      </p:grpSp>
      <p:sp>
        <p:nvSpPr>
          <p:cNvPr id="27" name="Rounded Rectangular Callout 26">
            <a:extLst>
              <a:ext uri="{FF2B5EF4-FFF2-40B4-BE49-F238E27FC236}">
                <a16:creationId xmlns:a16="http://schemas.microsoft.com/office/drawing/2014/main" id="{F990DF86-99D6-A552-4A19-5F7AA602F653}"/>
              </a:ext>
            </a:extLst>
          </p:cNvPr>
          <p:cNvSpPr/>
          <p:nvPr/>
        </p:nvSpPr>
        <p:spPr>
          <a:xfrm>
            <a:off x="6387638" y="3357046"/>
            <a:ext cx="2951804" cy="2046128"/>
          </a:xfrm>
          <a:prstGeom prst="wedgeRoundRectCallout">
            <a:avLst>
              <a:gd name="adj1" fmla="val 77822"/>
              <a:gd name="adj2" fmla="val -5767"/>
              <a:gd name="adj3" fmla="val 16667"/>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accent3"/>
                </a:solidFill>
                <a:latin typeface="Candara" panose="020E0502030303020204" pitchFamily="34" charset="0"/>
              </a:rPr>
              <a:t>After transition to PQ, we are fine.</a:t>
            </a:r>
          </a:p>
        </p:txBody>
      </p:sp>
    </p:spTree>
    <p:extLst>
      <p:ext uri="{BB962C8B-B14F-4D97-AF65-F5344CB8AC3E}">
        <p14:creationId xmlns:p14="http://schemas.microsoft.com/office/powerpoint/2010/main" val="1269924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53F81-57C4-E664-58A4-36EDFB41A254}"/>
              </a:ext>
            </a:extLst>
          </p:cNvPr>
          <p:cNvSpPr>
            <a:spLocks noGrp="1"/>
          </p:cNvSpPr>
          <p:nvPr>
            <p:ph type="title"/>
          </p:nvPr>
        </p:nvSpPr>
        <p:spPr/>
        <p:txBody>
          <a:bodyPr/>
          <a:lstStyle/>
          <a:p>
            <a:r>
              <a:rPr lang="en-US" dirty="0"/>
              <a:t>Achieving Post-quantum Anonymity</a:t>
            </a:r>
          </a:p>
        </p:txBody>
      </p:sp>
      <p:sp>
        <p:nvSpPr>
          <p:cNvPr id="3" name="Content Placeholder 2">
            <a:extLst>
              <a:ext uri="{FF2B5EF4-FFF2-40B4-BE49-F238E27FC236}">
                <a16:creationId xmlns:a16="http://schemas.microsoft.com/office/drawing/2014/main" id="{C4B34D16-3043-4F6D-E7DA-1915A84034E9}"/>
              </a:ext>
            </a:extLst>
          </p:cNvPr>
          <p:cNvSpPr>
            <a:spLocks noGrp="1"/>
          </p:cNvSpPr>
          <p:nvPr>
            <p:ph idx="1"/>
          </p:nvPr>
        </p:nvSpPr>
        <p:spPr/>
        <p:txBody>
          <a:bodyPr>
            <a:normAutofit/>
          </a:bodyPr>
          <a:lstStyle/>
          <a:p>
            <a:r>
              <a:rPr lang="en-US" sz="3200" dirty="0">
                <a:solidFill>
                  <a:srgbClr val="C00000"/>
                </a:solidFill>
              </a:rPr>
              <a:t>Full-on post-quantum scheme (e.g., lattice-based)</a:t>
            </a:r>
          </a:p>
          <a:p>
            <a:pPr lvl="1"/>
            <a:r>
              <a:rPr lang="en-US" sz="2800" dirty="0">
                <a:solidFill>
                  <a:srgbClr val="C00000"/>
                </a:solidFill>
              </a:rPr>
              <a:t>Still quite inefficient</a:t>
            </a:r>
          </a:p>
        </p:txBody>
      </p:sp>
    </p:spTree>
    <p:extLst>
      <p:ext uri="{BB962C8B-B14F-4D97-AF65-F5344CB8AC3E}">
        <p14:creationId xmlns:p14="http://schemas.microsoft.com/office/powerpoint/2010/main" val="2919400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61A7E-16AC-DEAF-9FA5-1FCCE3CE1D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193E7C-BB87-6AD1-5710-C16D86DDF4F0}"/>
              </a:ext>
            </a:extLst>
          </p:cNvPr>
          <p:cNvSpPr>
            <a:spLocks noGrp="1"/>
          </p:cNvSpPr>
          <p:nvPr>
            <p:ph type="title"/>
          </p:nvPr>
        </p:nvSpPr>
        <p:spPr/>
        <p:txBody>
          <a:bodyPr/>
          <a:lstStyle/>
          <a:p>
            <a:r>
              <a:rPr lang="en-US" dirty="0">
                <a:latin typeface="Candara" panose="020E0502030303020204" pitchFamily="34" charset="0"/>
              </a:rPr>
              <a:t>Lattice-Based Constructions of similar primitives</a:t>
            </a: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7568C2F3-39BA-20AB-A71F-2FAB02325296}"/>
                  </a:ext>
                </a:extLst>
              </p:cNvPr>
              <p:cNvGraphicFramePr>
                <a:graphicFrameLocks noGrp="1"/>
              </p:cNvGraphicFramePr>
              <p:nvPr>
                <p:extLst>
                  <p:ext uri="{D42A27DB-BD31-4B8C-83A1-F6EECF244321}">
                    <p14:modId xmlns:p14="http://schemas.microsoft.com/office/powerpoint/2010/main" val="3533598193"/>
                  </p:ext>
                </p:extLst>
              </p:nvPr>
            </p:nvGraphicFramePr>
            <p:xfrm>
              <a:off x="723900" y="1878403"/>
              <a:ext cx="11087100" cy="3505200"/>
            </p:xfrm>
            <a:graphic>
              <a:graphicData uri="http://schemas.openxmlformats.org/drawingml/2006/table">
                <a:tbl>
                  <a:tblPr firstRow="1" bandRow="1">
                    <a:tableStyleId>{5C22544A-7EE6-4342-B048-85BDC9FD1C3A}</a:tableStyleId>
                  </a:tblPr>
                  <a:tblGrid>
                    <a:gridCol w="1602505">
                      <a:extLst>
                        <a:ext uri="{9D8B030D-6E8A-4147-A177-3AD203B41FA5}">
                          <a16:colId xmlns:a16="http://schemas.microsoft.com/office/drawing/2014/main" val="3764495056"/>
                        </a:ext>
                      </a:extLst>
                    </a:gridCol>
                    <a:gridCol w="2905725">
                      <a:extLst>
                        <a:ext uri="{9D8B030D-6E8A-4147-A177-3AD203B41FA5}">
                          <a16:colId xmlns:a16="http://schemas.microsoft.com/office/drawing/2014/main" val="3543970758"/>
                        </a:ext>
                      </a:extLst>
                    </a:gridCol>
                    <a:gridCol w="1397270">
                      <a:extLst>
                        <a:ext uri="{9D8B030D-6E8A-4147-A177-3AD203B41FA5}">
                          <a16:colId xmlns:a16="http://schemas.microsoft.com/office/drawing/2014/main" val="1928312539"/>
                        </a:ext>
                      </a:extLst>
                    </a:gridCol>
                    <a:gridCol w="1917700">
                      <a:extLst>
                        <a:ext uri="{9D8B030D-6E8A-4147-A177-3AD203B41FA5}">
                          <a16:colId xmlns:a16="http://schemas.microsoft.com/office/drawing/2014/main" val="2343454477"/>
                        </a:ext>
                      </a:extLst>
                    </a:gridCol>
                    <a:gridCol w="3263900">
                      <a:extLst>
                        <a:ext uri="{9D8B030D-6E8A-4147-A177-3AD203B41FA5}">
                          <a16:colId xmlns:a16="http://schemas.microsoft.com/office/drawing/2014/main" val="1866191139"/>
                        </a:ext>
                      </a:extLst>
                    </a:gridCol>
                  </a:tblGrid>
                  <a:tr h="37311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Construction</a:t>
                          </a:r>
                        </a:p>
                      </a:txBody>
                      <a:tcPr anchor="ctr"/>
                    </a:tc>
                    <a:tc>
                      <a:txBody>
                        <a:bodyPr/>
                        <a:lstStyle/>
                        <a:p>
                          <a:pPr algn="ctr"/>
                          <a:r>
                            <a:rPr lang="en-US" sz="2000" dirty="0"/>
                            <a:t>Primitive</a:t>
                          </a:r>
                        </a:p>
                      </a:txBody>
                      <a:tcPr anchor="ctr"/>
                    </a:tc>
                    <a:tc>
                      <a:txBody>
                        <a:bodyPr/>
                        <a:lstStyle/>
                        <a:p>
                          <a:pPr algn="ctr"/>
                          <a:r>
                            <a:rPr lang="en-US" sz="2000" dirty="0"/>
                            <a:t>Token Size</a:t>
                          </a:r>
                        </a:p>
                      </a:txBody>
                      <a:tcPr anchor="ctr"/>
                    </a:tc>
                    <a:tc>
                      <a:txBody>
                        <a:bodyPr/>
                        <a:lstStyle/>
                        <a:p>
                          <a:pPr algn="ctr"/>
                          <a:r>
                            <a:rPr lang="en-US" sz="2000" dirty="0"/>
                            <a:t>Privacy / Anonymity</a:t>
                          </a:r>
                        </a:p>
                      </a:txBody>
                      <a:tcPr anchor="ctr"/>
                    </a:tc>
                    <a:tc>
                      <a:txBody>
                        <a:bodyPr/>
                        <a:lstStyle/>
                        <a:p>
                          <a:pPr algn="ctr"/>
                          <a:r>
                            <a:rPr lang="en-US" sz="2000" dirty="0"/>
                            <a:t>Assumptions</a:t>
                          </a:r>
                        </a:p>
                        <a:p>
                          <a:pPr algn="ctr"/>
                          <a:r>
                            <a:rPr lang="en-US" sz="2000" dirty="0"/>
                            <a:t>(ROM assumed)</a:t>
                          </a:r>
                        </a:p>
                      </a:txBody>
                      <a:tcPr anchor="ctr"/>
                    </a:tc>
                    <a:extLst>
                      <a:ext uri="{0D108BD9-81ED-4DB2-BD59-A6C34878D82A}">
                        <a16:rowId xmlns:a16="http://schemas.microsoft.com/office/drawing/2014/main" val="1699897538"/>
                      </a:ext>
                    </a:extLst>
                  </a:tr>
                  <a:tr h="373114">
                    <a:tc>
                      <a:txBody>
                        <a:bodyPr/>
                        <a:lstStyle/>
                        <a:p>
                          <a:pPr algn="ctr"/>
                          <a:r>
                            <a:rPr lang="en-US" sz="2000" dirty="0">
                              <a:solidFill>
                                <a:srgbClr val="C00000"/>
                              </a:solidFill>
                            </a:rPr>
                            <a:t>[JS’25]</a:t>
                          </a:r>
                        </a:p>
                      </a:txBody>
                      <a:tcPr anchor="ctr"/>
                    </a:tc>
                    <a:tc>
                      <a:txBody>
                        <a:bodyPr/>
                        <a:lstStyle/>
                        <a:p>
                          <a:pPr algn="ctr"/>
                          <a:r>
                            <a:rPr lang="en-US" sz="2000" dirty="0"/>
                            <a:t>Blind Signature </a:t>
                          </a:r>
                          <a:br>
                            <a:rPr lang="en-US" sz="2000" dirty="0"/>
                          </a:br>
                          <a:r>
                            <a:rPr lang="en-US" sz="2000" dirty="0"/>
                            <a:t>(</a:t>
                          </a:r>
                          <a:r>
                            <a:rPr lang="en-US" sz="2000" dirty="0">
                              <a:solidFill>
                                <a:schemeClr val="accent2"/>
                              </a:solidFill>
                            </a:rPr>
                            <a:t>One-time rate-limit</a:t>
                          </a:r>
                          <a:r>
                            <a:rPr lang="en-US" sz="2000" dirty="0"/>
                            <a:t>)</a:t>
                          </a:r>
                        </a:p>
                      </a:txBody>
                      <a:tcPr anchor="ctr"/>
                    </a:tc>
                    <a:tc>
                      <a:txBody>
                        <a:bodyPr/>
                        <a:lstStyle/>
                        <a:p>
                          <a:pPr algn="ctr"/>
                          <a:r>
                            <a:rPr lang="en-US" sz="2000" dirty="0"/>
                            <a:t>~40KB</a:t>
                          </a:r>
                        </a:p>
                      </a:txBody>
                      <a:tcPr anchor="ctr"/>
                    </a:tc>
                    <a:tc rowSpan="4">
                      <a:txBody>
                        <a:bodyPr/>
                        <a:lstStyle/>
                        <a:p>
                          <a:pPr algn="ctr"/>
                          <a:r>
                            <a:rPr lang="en-US" sz="2000" dirty="0"/>
                            <a:t>Computational</a:t>
                          </a:r>
                        </a:p>
                      </a:txBody>
                      <a:tcPr anchor="ctr">
                        <a:lnB w="38100" cap="flat" cmpd="sng" algn="ctr">
                          <a:solidFill>
                            <a:schemeClr val="tx1"/>
                          </a:solidFill>
                          <a:prstDash val="solid"/>
                          <a:round/>
                          <a:headEnd type="none" w="med" len="med"/>
                          <a:tailEnd type="none" w="med" len="med"/>
                        </a:lnB>
                      </a:tcPr>
                    </a:tc>
                    <a:tc>
                      <a:txBody>
                        <a:bodyPr/>
                        <a:lstStyle/>
                        <a:p>
                          <a:pPr algn="ctr"/>
                          <a:r>
                            <a:rPr lang="en-US" sz="2000" i="0" dirty="0"/>
                            <a:t>MLWE + MSIS</a:t>
                          </a:r>
                          <a:endParaRPr lang="en-US" sz="2000" dirty="0"/>
                        </a:p>
                      </a:txBody>
                      <a:tcPr anchor="ctr"/>
                    </a:tc>
                    <a:extLst>
                      <a:ext uri="{0D108BD9-81ED-4DB2-BD59-A6C34878D82A}">
                        <a16:rowId xmlns:a16="http://schemas.microsoft.com/office/drawing/2014/main" val="4249803019"/>
                      </a:ext>
                    </a:extLst>
                  </a:tr>
                  <a:tr h="373114">
                    <a:tc>
                      <a:txBody>
                        <a:bodyPr/>
                        <a:lstStyle/>
                        <a:p>
                          <a:pPr algn="ctr"/>
                          <a:r>
                            <a:rPr lang="en-US" sz="2000" dirty="0">
                              <a:solidFill>
                                <a:srgbClr val="C00000"/>
                              </a:solidFill>
                            </a:rPr>
                            <a:t>[BGY’25]</a:t>
                          </a:r>
                        </a:p>
                      </a:txBody>
                      <a:tcPr anchor="ctr"/>
                    </a:tc>
                    <a:tc>
                      <a:txBody>
                        <a:bodyPr/>
                        <a:lstStyle/>
                        <a:p>
                          <a:pPr algn="ctr"/>
                          <a:r>
                            <a:rPr lang="en-US" sz="2000" dirty="0"/>
                            <a:t>Batched Blind Signature (</a:t>
                          </a:r>
                          <a:r>
                            <a:rPr lang="en-US" sz="2000" dirty="0">
                              <a:solidFill>
                                <a:schemeClr val="accent3"/>
                              </a:solidFill>
                            </a:rPr>
                            <a:t>Multiple-time rate-limit</a:t>
                          </a:r>
                          <a:r>
                            <a:rPr lang="en-US" sz="2000"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~300KB</a:t>
                          </a:r>
                        </a:p>
                      </a:txBody>
                      <a:tcPr anchor="ctr"/>
                    </a:tc>
                    <a:tc vMerge="1">
                      <a:txBody>
                        <a:bodyPr/>
                        <a:lstStyle/>
                        <a:p>
                          <a:endParaRPr lang="en-US" sz="2000" dirty="0"/>
                        </a:p>
                      </a:txBody>
                      <a:tcPr/>
                    </a:tc>
                    <a:tc>
                      <a:txBody>
                        <a:bodyPr/>
                        <a:lstStyle/>
                        <a:p>
                          <a:pPr algn="ctr"/>
                          <a:r>
                            <a:rPr lang="en-US" sz="2000" dirty="0"/>
                            <a:t>OM-SIS </a:t>
                          </a:r>
                          <a:r>
                            <a:rPr lang="en-US" sz="2000" i="0" dirty="0"/>
                            <a:t>+ MLWE</a:t>
                          </a:r>
                          <a:endParaRPr lang="en-US" sz="2000" dirty="0"/>
                        </a:p>
                      </a:txBody>
                      <a:tcPr anchor="ctr"/>
                    </a:tc>
                    <a:extLst>
                      <a:ext uri="{0D108BD9-81ED-4DB2-BD59-A6C34878D82A}">
                        <a16:rowId xmlns:a16="http://schemas.microsoft.com/office/drawing/2014/main" val="520163459"/>
                      </a:ext>
                    </a:extLst>
                  </a:tr>
                  <a:tr h="373114">
                    <a:tc>
                      <a:txBody>
                        <a:bodyPr/>
                        <a:lstStyle/>
                        <a:p>
                          <a:pPr algn="ctr"/>
                          <a:r>
                            <a:rPr lang="en-US" sz="2000" dirty="0">
                              <a:solidFill>
                                <a:srgbClr val="C00000"/>
                              </a:solidFill>
                            </a:rPr>
                            <a:t>[BLNS’23]</a:t>
                          </a:r>
                        </a:p>
                      </a:txBody>
                      <a:tcPr anchor="ctr"/>
                    </a:tc>
                    <a:tc>
                      <a:txBody>
                        <a:bodyPr/>
                        <a:lstStyle/>
                        <a:p>
                          <a:pPr algn="ctr"/>
                          <a:r>
                            <a:rPr lang="en-US" sz="2000" dirty="0"/>
                            <a:t>Anonymous credentials </a:t>
                          </a:r>
                          <a:r>
                            <a:rPr lang="en-US" sz="2000" dirty="0">
                              <a:solidFill>
                                <a:srgbClr val="C00000"/>
                              </a:solidFill>
                            </a:rPr>
                            <a:t>(w/o rate-limit)</a:t>
                          </a:r>
                        </a:p>
                      </a:txBody>
                      <a:tcPr anchor="ctr"/>
                    </a:tc>
                    <a:tc>
                      <a:txBody>
                        <a:bodyPr/>
                        <a:lstStyle/>
                        <a:p>
                          <a:pPr algn="ctr"/>
                          <a:r>
                            <a:rPr lang="en-US" sz="2000" dirty="0"/>
                            <a:t>~60KB</a:t>
                          </a:r>
                        </a:p>
                      </a:txBody>
                      <a:tcPr anchor="ctr"/>
                    </a:tc>
                    <a:tc vMerge="1">
                      <a:txBody>
                        <a:bodyPr/>
                        <a:lstStyle/>
                        <a:p>
                          <a:endParaRPr lang="en-US" sz="2000" dirty="0"/>
                        </a:p>
                      </a:txBody>
                      <a:tcPr/>
                    </a:tc>
                    <a:tc>
                      <a:txBody>
                        <a:bodyPr/>
                        <a:lstStyle/>
                        <a:p>
                          <a:pPr algn="ctr"/>
                          <a14:m>
                            <m:oMath xmlns:m="http://schemas.openxmlformats.org/officeDocument/2006/math">
                              <m:r>
                                <m:rPr>
                                  <m:sty m:val="p"/>
                                </m:rPr>
                                <a:rPr lang="en-US" sz="2000" i="0" dirty="0" smtClean="0">
                                  <a:latin typeface="Cambria Math" panose="02040503050406030204" pitchFamily="18" charset="0"/>
                                </a:rPr>
                                <m:t>ISI</m:t>
                              </m:r>
                              <m:sSub>
                                <m:sSubPr>
                                  <m:ctrlPr>
                                    <a:rPr lang="en-US" sz="2000" i="1" dirty="0" smtClean="0">
                                      <a:latin typeface="Cambria Math" panose="02040503050406030204" pitchFamily="18" charset="0"/>
                                    </a:rPr>
                                  </m:ctrlPr>
                                </m:sSubPr>
                                <m:e>
                                  <m:r>
                                    <m:rPr>
                                      <m:sty m:val="p"/>
                                    </m:rPr>
                                    <a:rPr lang="en-US" sz="2000" i="0" dirty="0" smtClean="0">
                                      <a:latin typeface="Cambria Math" panose="02040503050406030204" pitchFamily="18" charset="0"/>
                                    </a:rPr>
                                    <m:t>S</m:t>
                                  </m:r>
                                </m:e>
                                <m:sub>
                                  <m:r>
                                    <a:rPr lang="en-US" sz="2000" i="1" dirty="0" smtClean="0">
                                      <a:latin typeface="Cambria Math" panose="02040503050406030204" pitchFamily="18" charset="0"/>
                                    </a:rPr>
                                    <m:t>𝑓</m:t>
                                  </m:r>
                                </m:sub>
                              </m:sSub>
                            </m:oMath>
                          </a14:m>
                          <a:r>
                            <a:rPr lang="en-US" sz="2000" i="0" dirty="0"/>
                            <a:t> + MLWE + MSIS</a:t>
                          </a:r>
                        </a:p>
                      </a:txBody>
                      <a:tcPr anchor="ctr"/>
                    </a:tc>
                    <a:extLst>
                      <a:ext uri="{0D108BD9-81ED-4DB2-BD59-A6C34878D82A}">
                        <a16:rowId xmlns:a16="http://schemas.microsoft.com/office/drawing/2014/main" val="2344730541"/>
                      </a:ext>
                    </a:extLst>
                  </a:tr>
                  <a:tr h="373114">
                    <a:tc>
                      <a:txBody>
                        <a:bodyPr/>
                        <a:lstStyle/>
                        <a:p>
                          <a:pPr algn="ctr"/>
                          <a:r>
                            <a:rPr lang="en-US" sz="2000" dirty="0">
                              <a:solidFill>
                                <a:srgbClr val="C00000"/>
                              </a:solidFill>
                            </a:rPr>
                            <a:t>[AGJ+’24]</a:t>
                          </a:r>
                        </a:p>
                      </a:txBody>
                      <a:tcPr anchor="ctr">
                        <a:lnB w="38100" cap="flat" cmpd="sng" algn="ctr">
                          <a:solidFill>
                            <a:schemeClr val="tx1"/>
                          </a:solidFill>
                          <a:prstDash val="solid"/>
                          <a:round/>
                          <a:headEnd type="none" w="med" len="med"/>
                          <a:tailEnd type="none" w="med" len="med"/>
                        </a:lnB>
                      </a:tcPr>
                    </a:tc>
                    <a:tc>
                      <a:txBody>
                        <a:bodyPr/>
                        <a:lstStyle/>
                        <a:p>
                          <a:pPr algn="ctr"/>
                          <a:r>
                            <a:rPr lang="en-US" sz="2000" dirty="0"/>
                            <a:t>Anonymous credentials </a:t>
                          </a:r>
                          <a:r>
                            <a:rPr lang="en-US" sz="2000" dirty="0">
                              <a:solidFill>
                                <a:srgbClr val="C00000"/>
                              </a:solidFill>
                            </a:rPr>
                            <a:t>(w/o rate-limit)</a:t>
                          </a:r>
                        </a:p>
                      </a:txBody>
                      <a:tcPr anchor="ctr">
                        <a:lnB w="38100" cap="flat" cmpd="sng" algn="ctr">
                          <a:solidFill>
                            <a:schemeClr val="tx1"/>
                          </a:solidFill>
                          <a:prstDash val="solid"/>
                          <a:round/>
                          <a:headEnd type="none" w="med" len="med"/>
                          <a:tailEnd type="none" w="med" len="med"/>
                        </a:lnB>
                      </a:tcPr>
                    </a:tc>
                    <a:tc>
                      <a:txBody>
                        <a:bodyPr/>
                        <a:lstStyle/>
                        <a:p>
                          <a:pPr algn="ctr"/>
                          <a:r>
                            <a:rPr lang="en-US" sz="2000" dirty="0"/>
                            <a:t>~80KB</a:t>
                          </a:r>
                        </a:p>
                      </a:txBody>
                      <a:tcPr anchor="ctr">
                        <a:lnB w="38100" cap="flat" cmpd="sng" algn="ctr">
                          <a:solidFill>
                            <a:schemeClr val="tx1"/>
                          </a:solidFill>
                          <a:prstDash val="solid"/>
                          <a:round/>
                          <a:headEnd type="none" w="med" len="med"/>
                          <a:tailEnd type="none" w="med" len="med"/>
                        </a:lnB>
                      </a:tcPr>
                    </a:tc>
                    <a:tc vMerge="1">
                      <a:txBody>
                        <a:bodyPr/>
                        <a:lstStyle/>
                        <a:p>
                          <a:endParaRPr 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i="0" dirty="0"/>
                            <a:t>MLWE + MSIS</a:t>
                          </a:r>
                          <a:endParaRPr lang="en-US" sz="2000" dirty="0"/>
                        </a:p>
                      </a:txBody>
                      <a:tcPr anchor="ct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2407592"/>
                      </a:ext>
                    </a:extLst>
                  </a:tr>
                </a:tbl>
              </a:graphicData>
            </a:graphic>
          </p:graphicFrame>
        </mc:Choice>
        <mc:Fallback xmlns="">
          <p:graphicFrame>
            <p:nvGraphicFramePr>
              <p:cNvPr id="4" name="Table 3">
                <a:extLst>
                  <a:ext uri="{FF2B5EF4-FFF2-40B4-BE49-F238E27FC236}">
                    <a16:creationId xmlns:a16="http://schemas.microsoft.com/office/drawing/2014/main" id="{7568C2F3-39BA-20AB-A71F-2FAB02325296}"/>
                  </a:ext>
                </a:extLst>
              </p:cNvPr>
              <p:cNvGraphicFramePr>
                <a:graphicFrameLocks noGrp="1"/>
              </p:cNvGraphicFramePr>
              <p:nvPr>
                <p:extLst>
                  <p:ext uri="{D42A27DB-BD31-4B8C-83A1-F6EECF244321}">
                    <p14:modId xmlns:p14="http://schemas.microsoft.com/office/powerpoint/2010/main" val="3533598193"/>
                  </p:ext>
                </p:extLst>
              </p:nvPr>
            </p:nvGraphicFramePr>
            <p:xfrm>
              <a:off x="723900" y="1878403"/>
              <a:ext cx="11087100" cy="3505200"/>
            </p:xfrm>
            <a:graphic>
              <a:graphicData uri="http://schemas.openxmlformats.org/drawingml/2006/table">
                <a:tbl>
                  <a:tblPr firstRow="1" bandRow="1">
                    <a:tableStyleId>{5C22544A-7EE6-4342-B048-85BDC9FD1C3A}</a:tableStyleId>
                  </a:tblPr>
                  <a:tblGrid>
                    <a:gridCol w="1602505">
                      <a:extLst>
                        <a:ext uri="{9D8B030D-6E8A-4147-A177-3AD203B41FA5}">
                          <a16:colId xmlns:a16="http://schemas.microsoft.com/office/drawing/2014/main" val="3764495056"/>
                        </a:ext>
                      </a:extLst>
                    </a:gridCol>
                    <a:gridCol w="2905725">
                      <a:extLst>
                        <a:ext uri="{9D8B030D-6E8A-4147-A177-3AD203B41FA5}">
                          <a16:colId xmlns:a16="http://schemas.microsoft.com/office/drawing/2014/main" val="3543970758"/>
                        </a:ext>
                      </a:extLst>
                    </a:gridCol>
                    <a:gridCol w="1397270">
                      <a:extLst>
                        <a:ext uri="{9D8B030D-6E8A-4147-A177-3AD203B41FA5}">
                          <a16:colId xmlns:a16="http://schemas.microsoft.com/office/drawing/2014/main" val="1928312539"/>
                        </a:ext>
                      </a:extLst>
                    </a:gridCol>
                    <a:gridCol w="1917700">
                      <a:extLst>
                        <a:ext uri="{9D8B030D-6E8A-4147-A177-3AD203B41FA5}">
                          <a16:colId xmlns:a16="http://schemas.microsoft.com/office/drawing/2014/main" val="2343454477"/>
                        </a:ext>
                      </a:extLst>
                    </a:gridCol>
                    <a:gridCol w="3263900">
                      <a:extLst>
                        <a:ext uri="{9D8B030D-6E8A-4147-A177-3AD203B41FA5}">
                          <a16:colId xmlns:a16="http://schemas.microsoft.com/office/drawing/2014/main" val="1866191139"/>
                        </a:ext>
                      </a:extLst>
                    </a:gridCol>
                  </a:tblGrid>
                  <a:tr h="7010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Construction</a:t>
                          </a:r>
                        </a:p>
                      </a:txBody>
                      <a:tcPr anchor="ctr"/>
                    </a:tc>
                    <a:tc>
                      <a:txBody>
                        <a:bodyPr/>
                        <a:lstStyle/>
                        <a:p>
                          <a:pPr algn="ctr"/>
                          <a:r>
                            <a:rPr lang="en-US" sz="2000" dirty="0"/>
                            <a:t>Primitive</a:t>
                          </a:r>
                        </a:p>
                      </a:txBody>
                      <a:tcPr anchor="ctr"/>
                    </a:tc>
                    <a:tc>
                      <a:txBody>
                        <a:bodyPr/>
                        <a:lstStyle/>
                        <a:p>
                          <a:pPr algn="ctr"/>
                          <a:r>
                            <a:rPr lang="en-US" sz="2000" dirty="0"/>
                            <a:t>Token Size</a:t>
                          </a:r>
                        </a:p>
                      </a:txBody>
                      <a:tcPr anchor="ctr"/>
                    </a:tc>
                    <a:tc>
                      <a:txBody>
                        <a:bodyPr/>
                        <a:lstStyle/>
                        <a:p>
                          <a:pPr algn="ctr"/>
                          <a:r>
                            <a:rPr lang="en-US" sz="2000" dirty="0"/>
                            <a:t>Privacy / Anonymity</a:t>
                          </a:r>
                        </a:p>
                      </a:txBody>
                      <a:tcPr anchor="ctr"/>
                    </a:tc>
                    <a:tc>
                      <a:txBody>
                        <a:bodyPr/>
                        <a:lstStyle/>
                        <a:p>
                          <a:pPr algn="ctr"/>
                          <a:r>
                            <a:rPr lang="en-US" sz="2000" dirty="0"/>
                            <a:t>Assumptions</a:t>
                          </a:r>
                        </a:p>
                        <a:p>
                          <a:pPr algn="ctr"/>
                          <a:r>
                            <a:rPr lang="en-US" sz="2000" dirty="0"/>
                            <a:t>(ROM assumed)</a:t>
                          </a:r>
                        </a:p>
                      </a:txBody>
                      <a:tcPr anchor="ctr"/>
                    </a:tc>
                    <a:extLst>
                      <a:ext uri="{0D108BD9-81ED-4DB2-BD59-A6C34878D82A}">
                        <a16:rowId xmlns:a16="http://schemas.microsoft.com/office/drawing/2014/main" val="1699897538"/>
                      </a:ext>
                    </a:extLst>
                  </a:tr>
                  <a:tr h="701040">
                    <a:tc>
                      <a:txBody>
                        <a:bodyPr/>
                        <a:lstStyle/>
                        <a:p>
                          <a:pPr algn="ctr"/>
                          <a:r>
                            <a:rPr lang="en-US" sz="2000" dirty="0">
                              <a:solidFill>
                                <a:srgbClr val="C00000"/>
                              </a:solidFill>
                            </a:rPr>
                            <a:t>[JS’25]</a:t>
                          </a:r>
                        </a:p>
                      </a:txBody>
                      <a:tcPr anchor="ctr"/>
                    </a:tc>
                    <a:tc>
                      <a:txBody>
                        <a:bodyPr/>
                        <a:lstStyle/>
                        <a:p>
                          <a:pPr algn="ctr"/>
                          <a:r>
                            <a:rPr lang="en-US" sz="2000" dirty="0"/>
                            <a:t>Blind Signature </a:t>
                          </a:r>
                          <a:br>
                            <a:rPr lang="en-US" sz="2000" dirty="0"/>
                          </a:br>
                          <a:r>
                            <a:rPr lang="en-US" sz="2000" dirty="0"/>
                            <a:t>(</a:t>
                          </a:r>
                          <a:r>
                            <a:rPr lang="en-US" sz="2000" dirty="0">
                              <a:solidFill>
                                <a:schemeClr val="accent2"/>
                              </a:solidFill>
                            </a:rPr>
                            <a:t>One-time rate-limit</a:t>
                          </a:r>
                          <a:r>
                            <a:rPr lang="en-US" sz="2000" dirty="0"/>
                            <a:t>)</a:t>
                          </a:r>
                        </a:p>
                      </a:txBody>
                      <a:tcPr anchor="ctr"/>
                    </a:tc>
                    <a:tc>
                      <a:txBody>
                        <a:bodyPr/>
                        <a:lstStyle/>
                        <a:p>
                          <a:pPr algn="ctr"/>
                          <a:r>
                            <a:rPr lang="en-US" sz="2000" dirty="0"/>
                            <a:t>~40KB</a:t>
                          </a:r>
                        </a:p>
                      </a:txBody>
                      <a:tcPr anchor="ctr"/>
                    </a:tc>
                    <a:tc rowSpan="4">
                      <a:txBody>
                        <a:bodyPr/>
                        <a:lstStyle/>
                        <a:p>
                          <a:pPr algn="ctr"/>
                          <a:r>
                            <a:rPr lang="en-US" sz="2000" dirty="0"/>
                            <a:t>Computational</a:t>
                          </a:r>
                        </a:p>
                      </a:txBody>
                      <a:tcPr anchor="ctr">
                        <a:lnB w="38100" cap="flat" cmpd="sng" algn="ctr">
                          <a:solidFill>
                            <a:schemeClr val="tx1"/>
                          </a:solidFill>
                          <a:prstDash val="solid"/>
                          <a:round/>
                          <a:headEnd type="none" w="med" len="med"/>
                          <a:tailEnd type="none" w="med" len="med"/>
                        </a:lnB>
                      </a:tcPr>
                    </a:tc>
                    <a:tc>
                      <a:txBody>
                        <a:bodyPr/>
                        <a:lstStyle/>
                        <a:p>
                          <a:pPr algn="ctr"/>
                          <a:r>
                            <a:rPr lang="en-US" sz="2000" i="0" dirty="0"/>
                            <a:t>MLWE + MSIS</a:t>
                          </a:r>
                          <a:endParaRPr lang="en-US" sz="2000" dirty="0"/>
                        </a:p>
                      </a:txBody>
                      <a:tcPr anchor="ctr"/>
                    </a:tc>
                    <a:extLst>
                      <a:ext uri="{0D108BD9-81ED-4DB2-BD59-A6C34878D82A}">
                        <a16:rowId xmlns:a16="http://schemas.microsoft.com/office/drawing/2014/main" val="4249803019"/>
                      </a:ext>
                    </a:extLst>
                  </a:tr>
                  <a:tr h="701040">
                    <a:tc>
                      <a:txBody>
                        <a:bodyPr/>
                        <a:lstStyle/>
                        <a:p>
                          <a:pPr algn="ctr"/>
                          <a:r>
                            <a:rPr lang="en-US" sz="2000" dirty="0">
                              <a:solidFill>
                                <a:srgbClr val="C00000"/>
                              </a:solidFill>
                            </a:rPr>
                            <a:t>[BGY’25]</a:t>
                          </a:r>
                        </a:p>
                      </a:txBody>
                      <a:tcPr anchor="ctr"/>
                    </a:tc>
                    <a:tc>
                      <a:txBody>
                        <a:bodyPr/>
                        <a:lstStyle/>
                        <a:p>
                          <a:pPr algn="ctr"/>
                          <a:r>
                            <a:rPr lang="en-US" sz="2000" dirty="0"/>
                            <a:t>Batched Blind Signature (</a:t>
                          </a:r>
                          <a:r>
                            <a:rPr lang="en-US" sz="2000" dirty="0">
                              <a:solidFill>
                                <a:schemeClr val="accent3"/>
                              </a:solidFill>
                            </a:rPr>
                            <a:t>Multiple-time rate-limit</a:t>
                          </a:r>
                          <a:r>
                            <a:rPr lang="en-US" sz="2000"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~300KB</a:t>
                          </a:r>
                        </a:p>
                      </a:txBody>
                      <a:tcPr anchor="ctr"/>
                    </a:tc>
                    <a:tc vMerge="1">
                      <a:txBody>
                        <a:bodyPr/>
                        <a:lstStyle/>
                        <a:p>
                          <a:endParaRPr lang="en-US" sz="2000" dirty="0"/>
                        </a:p>
                      </a:txBody>
                      <a:tcPr/>
                    </a:tc>
                    <a:tc>
                      <a:txBody>
                        <a:bodyPr/>
                        <a:lstStyle/>
                        <a:p>
                          <a:pPr algn="ctr"/>
                          <a:r>
                            <a:rPr lang="en-US" sz="2000" dirty="0"/>
                            <a:t>OM-SIS </a:t>
                          </a:r>
                          <a:r>
                            <a:rPr lang="en-US" sz="2000" i="0" dirty="0"/>
                            <a:t>+ MLWE</a:t>
                          </a:r>
                          <a:endParaRPr lang="en-US" sz="2000" dirty="0"/>
                        </a:p>
                      </a:txBody>
                      <a:tcPr anchor="ctr"/>
                    </a:tc>
                    <a:extLst>
                      <a:ext uri="{0D108BD9-81ED-4DB2-BD59-A6C34878D82A}">
                        <a16:rowId xmlns:a16="http://schemas.microsoft.com/office/drawing/2014/main" val="520163459"/>
                      </a:ext>
                    </a:extLst>
                  </a:tr>
                  <a:tr h="701040">
                    <a:tc>
                      <a:txBody>
                        <a:bodyPr/>
                        <a:lstStyle/>
                        <a:p>
                          <a:pPr algn="ctr"/>
                          <a:r>
                            <a:rPr lang="en-US" sz="2000" dirty="0">
                              <a:solidFill>
                                <a:srgbClr val="C00000"/>
                              </a:solidFill>
                            </a:rPr>
                            <a:t>[BLNS’23]</a:t>
                          </a:r>
                        </a:p>
                      </a:txBody>
                      <a:tcPr anchor="ctr"/>
                    </a:tc>
                    <a:tc>
                      <a:txBody>
                        <a:bodyPr/>
                        <a:lstStyle/>
                        <a:p>
                          <a:pPr algn="ctr"/>
                          <a:r>
                            <a:rPr lang="en-US" sz="2000" dirty="0"/>
                            <a:t>Anonymous credentials </a:t>
                          </a:r>
                          <a:r>
                            <a:rPr lang="en-US" sz="2000" dirty="0">
                              <a:solidFill>
                                <a:srgbClr val="C00000"/>
                              </a:solidFill>
                            </a:rPr>
                            <a:t>(w/o rate-limit)</a:t>
                          </a:r>
                        </a:p>
                      </a:txBody>
                      <a:tcPr anchor="ctr"/>
                    </a:tc>
                    <a:tc>
                      <a:txBody>
                        <a:bodyPr/>
                        <a:lstStyle/>
                        <a:p>
                          <a:pPr algn="ctr"/>
                          <a:r>
                            <a:rPr lang="en-US" sz="2000" dirty="0"/>
                            <a:t>~60KB</a:t>
                          </a:r>
                        </a:p>
                      </a:txBody>
                      <a:tcPr anchor="ctr"/>
                    </a:tc>
                    <a:tc vMerge="1">
                      <a:txBody>
                        <a:bodyPr/>
                        <a:lstStyle/>
                        <a:p>
                          <a:endParaRPr lang="en-US" sz="2000" dirty="0"/>
                        </a:p>
                      </a:txBody>
                      <a:tcPr/>
                    </a:tc>
                    <a:tc>
                      <a:txBody>
                        <a:bodyPr/>
                        <a:lstStyle/>
                        <a:p>
                          <a:endParaRPr lang="en-US"/>
                        </a:p>
                      </a:txBody>
                      <a:tcPr anchor="ctr">
                        <a:blipFill>
                          <a:blip r:embed="rId3"/>
                          <a:stretch>
                            <a:fillRect l="-240078" t="-300000" r="-1167" b="-114286"/>
                          </a:stretch>
                        </a:blipFill>
                      </a:tcPr>
                    </a:tc>
                    <a:extLst>
                      <a:ext uri="{0D108BD9-81ED-4DB2-BD59-A6C34878D82A}">
                        <a16:rowId xmlns:a16="http://schemas.microsoft.com/office/drawing/2014/main" val="2344730541"/>
                      </a:ext>
                    </a:extLst>
                  </a:tr>
                  <a:tr h="701040">
                    <a:tc>
                      <a:txBody>
                        <a:bodyPr/>
                        <a:lstStyle/>
                        <a:p>
                          <a:pPr algn="ctr"/>
                          <a:r>
                            <a:rPr lang="en-US" sz="2000" dirty="0">
                              <a:solidFill>
                                <a:srgbClr val="C00000"/>
                              </a:solidFill>
                            </a:rPr>
                            <a:t>[AGJ+’24]</a:t>
                          </a:r>
                        </a:p>
                      </a:txBody>
                      <a:tcPr anchor="ctr">
                        <a:lnB w="38100" cap="flat" cmpd="sng" algn="ctr">
                          <a:solidFill>
                            <a:schemeClr val="tx1"/>
                          </a:solidFill>
                          <a:prstDash val="solid"/>
                          <a:round/>
                          <a:headEnd type="none" w="med" len="med"/>
                          <a:tailEnd type="none" w="med" len="med"/>
                        </a:lnB>
                      </a:tcPr>
                    </a:tc>
                    <a:tc>
                      <a:txBody>
                        <a:bodyPr/>
                        <a:lstStyle/>
                        <a:p>
                          <a:pPr algn="ctr"/>
                          <a:r>
                            <a:rPr lang="en-US" sz="2000" dirty="0"/>
                            <a:t>Anonymous credentials </a:t>
                          </a:r>
                          <a:r>
                            <a:rPr lang="en-US" sz="2000" dirty="0">
                              <a:solidFill>
                                <a:srgbClr val="C00000"/>
                              </a:solidFill>
                            </a:rPr>
                            <a:t>(w/o rate-limit)</a:t>
                          </a:r>
                        </a:p>
                      </a:txBody>
                      <a:tcPr anchor="ctr">
                        <a:lnB w="38100" cap="flat" cmpd="sng" algn="ctr">
                          <a:solidFill>
                            <a:schemeClr val="tx1"/>
                          </a:solidFill>
                          <a:prstDash val="solid"/>
                          <a:round/>
                          <a:headEnd type="none" w="med" len="med"/>
                          <a:tailEnd type="none" w="med" len="med"/>
                        </a:lnB>
                      </a:tcPr>
                    </a:tc>
                    <a:tc>
                      <a:txBody>
                        <a:bodyPr/>
                        <a:lstStyle/>
                        <a:p>
                          <a:pPr algn="ctr"/>
                          <a:r>
                            <a:rPr lang="en-US" sz="2000" dirty="0"/>
                            <a:t>~80KB</a:t>
                          </a:r>
                        </a:p>
                      </a:txBody>
                      <a:tcPr anchor="ctr">
                        <a:lnB w="38100" cap="flat" cmpd="sng" algn="ctr">
                          <a:solidFill>
                            <a:schemeClr val="tx1"/>
                          </a:solidFill>
                          <a:prstDash val="solid"/>
                          <a:round/>
                          <a:headEnd type="none" w="med" len="med"/>
                          <a:tailEnd type="none" w="med" len="med"/>
                        </a:lnB>
                      </a:tcPr>
                    </a:tc>
                    <a:tc vMerge="1">
                      <a:txBody>
                        <a:bodyPr/>
                        <a:lstStyle/>
                        <a:p>
                          <a:endParaRPr 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i="0" dirty="0"/>
                            <a:t>MLWE + MSIS</a:t>
                          </a:r>
                          <a:endParaRPr lang="en-US" sz="2000" dirty="0"/>
                        </a:p>
                      </a:txBody>
                      <a:tcPr anchor="ct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2407592"/>
                      </a:ext>
                    </a:extLst>
                  </a:tr>
                </a:tbl>
              </a:graphicData>
            </a:graphic>
          </p:graphicFrame>
        </mc:Fallback>
      </mc:AlternateContent>
    </p:spTree>
    <p:extLst>
      <p:ext uri="{BB962C8B-B14F-4D97-AF65-F5344CB8AC3E}">
        <p14:creationId xmlns:p14="http://schemas.microsoft.com/office/powerpoint/2010/main" val="634481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C1FBF-8FC6-E4F8-523E-707A80A311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DFFB68-20B8-C653-AC4C-CBD78BE51C32}"/>
              </a:ext>
            </a:extLst>
          </p:cNvPr>
          <p:cNvSpPr>
            <a:spLocks noGrp="1"/>
          </p:cNvSpPr>
          <p:nvPr>
            <p:ph type="title"/>
          </p:nvPr>
        </p:nvSpPr>
        <p:spPr/>
        <p:txBody>
          <a:bodyPr/>
          <a:lstStyle/>
          <a:p>
            <a:r>
              <a:rPr lang="en-US" dirty="0"/>
              <a:t>Achieving Post-quantum Anonymity</a:t>
            </a:r>
          </a:p>
        </p:txBody>
      </p:sp>
      <p:sp>
        <p:nvSpPr>
          <p:cNvPr id="3" name="Content Placeholder 2">
            <a:extLst>
              <a:ext uri="{FF2B5EF4-FFF2-40B4-BE49-F238E27FC236}">
                <a16:creationId xmlns:a16="http://schemas.microsoft.com/office/drawing/2014/main" id="{E6B5C745-DBB5-FCF7-CFCE-50A513CE12EF}"/>
              </a:ext>
            </a:extLst>
          </p:cNvPr>
          <p:cNvSpPr>
            <a:spLocks noGrp="1"/>
          </p:cNvSpPr>
          <p:nvPr>
            <p:ph idx="1"/>
          </p:nvPr>
        </p:nvSpPr>
        <p:spPr/>
        <p:txBody>
          <a:bodyPr>
            <a:normAutofit/>
          </a:bodyPr>
          <a:lstStyle/>
          <a:p>
            <a:r>
              <a:rPr lang="en-US" sz="3200" dirty="0">
                <a:solidFill>
                  <a:srgbClr val="C00000"/>
                </a:solidFill>
              </a:rPr>
              <a:t>Full-on post-quantum scheme </a:t>
            </a:r>
          </a:p>
          <a:p>
            <a:pPr lvl="1"/>
            <a:r>
              <a:rPr lang="en-US" sz="2800" dirty="0">
                <a:solidFill>
                  <a:srgbClr val="C00000"/>
                </a:solidFill>
              </a:rPr>
              <a:t>Still quite inefficient</a:t>
            </a:r>
          </a:p>
          <a:p>
            <a:r>
              <a:rPr lang="en-US" sz="3200" dirty="0">
                <a:solidFill>
                  <a:srgbClr val="C00000"/>
                </a:solidFill>
              </a:rPr>
              <a:t>Using a lattice-based PRF + group-based primitive</a:t>
            </a:r>
          </a:p>
          <a:p>
            <a:pPr lvl="1"/>
            <a:r>
              <a:rPr lang="en-US" sz="2800" dirty="0">
                <a:solidFill>
                  <a:srgbClr val="C00000"/>
                </a:solidFill>
              </a:rPr>
              <a:t>Proving correct PRF evaluation is expensive</a:t>
            </a:r>
          </a:p>
          <a:p>
            <a:pPr lvl="1"/>
            <a:r>
              <a:rPr lang="en-US" sz="2800" dirty="0">
                <a:solidFill>
                  <a:srgbClr val="C00000"/>
                </a:solidFill>
              </a:rPr>
              <a:t>Mixing assumptions, e.g., LWE + group-based</a:t>
            </a:r>
          </a:p>
          <a:p>
            <a:r>
              <a:rPr lang="en-US" sz="3200" b="1" dirty="0">
                <a:solidFill>
                  <a:schemeClr val="accent3"/>
                </a:solidFill>
              </a:rPr>
              <a:t>This work:</a:t>
            </a:r>
            <a:r>
              <a:rPr lang="en-US" sz="3200" dirty="0">
                <a:solidFill>
                  <a:schemeClr val="accent3"/>
                </a:solidFill>
              </a:rPr>
              <a:t> what if we go further?</a:t>
            </a:r>
          </a:p>
          <a:p>
            <a:pPr lvl="1"/>
            <a:r>
              <a:rPr lang="en-US" sz="2800" dirty="0">
                <a:solidFill>
                  <a:schemeClr val="accent3"/>
                </a:solidFill>
              </a:rPr>
              <a:t>Group-based construction</a:t>
            </a:r>
            <a:endParaRPr lang="en-US" sz="3200" dirty="0">
              <a:solidFill>
                <a:schemeClr val="accent3"/>
              </a:solidFill>
            </a:endParaRPr>
          </a:p>
          <a:p>
            <a:pPr lvl="1"/>
            <a:r>
              <a:rPr lang="en-US" sz="2800" u="sng" dirty="0">
                <a:solidFill>
                  <a:schemeClr val="accent3"/>
                </a:solidFill>
              </a:rPr>
              <a:t>Statistical / Everlasting Anonymity</a:t>
            </a:r>
          </a:p>
          <a:p>
            <a:pPr lvl="1"/>
            <a:r>
              <a:rPr lang="en-US" sz="2800" dirty="0">
                <a:solidFill>
                  <a:schemeClr val="accent3"/>
                </a:solidFill>
              </a:rPr>
              <a:t>Somewhat efficient</a:t>
            </a:r>
            <a:endParaRPr lang="en-US" sz="2800" dirty="0">
              <a:solidFill>
                <a:srgbClr val="C00000"/>
              </a:solidFill>
            </a:endParaRPr>
          </a:p>
        </p:txBody>
      </p:sp>
    </p:spTree>
    <p:extLst>
      <p:ext uri="{BB962C8B-B14F-4D97-AF65-F5344CB8AC3E}">
        <p14:creationId xmlns:p14="http://schemas.microsoft.com/office/powerpoint/2010/main" val="798492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6E726-373F-BD44-1A95-3C130BF2FD40}"/>
              </a:ext>
            </a:extLst>
          </p:cNvPr>
          <p:cNvSpPr>
            <a:spLocks noGrp="1"/>
          </p:cNvSpPr>
          <p:nvPr>
            <p:ph type="title"/>
          </p:nvPr>
        </p:nvSpPr>
        <p:spPr/>
        <p:txBody>
          <a:bodyPr/>
          <a:lstStyle/>
          <a:p>
            <a:r>
              <a:rPr lang="en-US" dirty="0">
                <a:latin typeface="Candara" panose="020E0502030303020204" pitchFamily="34" charset="0"/>
              </a:rPr>
              <a:t>Our Results</a:t>
            </a:r>
          </a:p>
        </p:txBody>
      </p:sp>
      <p:sp>
        <p:nvSpPr>
          <p:cNvPr id="3" name="Content Placeholder 2">
            <a:extLst>
              <a:ext uri="{FF2B5EF4-FFF2-40B4-BE49-F238E27FC236}">
                <a16:creationId xmlns:a16="http://schemas.microsoft.com/office/drawing/2014/main" id="{C777BE25-F33F-65B9-18F0-73A5BFED8D17}"/>
              </a:ext>
            </a:extLst>
          </p:cNvPr>
          <p:cNvSpPr>
            <a:spLocks noGrp="1"/>
          </p:cNvSpPr>
          <p:nvPr>
            <p:ph idx="1"/>
          </p:nvPr>
        </p:nvSpPr>
        <p:spPr/>
        <p:txBody>
          <a:bodyPr>
            <a:normAutofit/>
          </a:bodyPr>
          <a:lstStyle/>
          <a:p>
            <a:r>
              <a:rPr lang="en-US" sz="3200" dirty="0">
                <a:solidFill>
                  <a:schemeClr val="accent3"/>
                </a:solidFill>
              </a:rPr>
              <a:t>Pairing-based anonymous tokens construction with</a:t>
            </a:r>
          </a:p>
          <a:p>
            <a:pPr lvl="1"/>
            <a:r>
              <a:rPr lang="en-US" sz="2800" u="sng" dirty="0">
                <a:solidFill>
                  <a:schemeClr val="accent3"/>
                </a:solidFill>
              </a:rPr>
              <a:t>Everlasting Anonymity</a:t>
            </a:r>
          </a:p>
          <a:p>
            <a:pPr lvl="1"/>
            <a:r>
              <a:rPr lang="en-US" sz="2800" u="sng" dirty="0">
                <a:solidFill>
                  <a:schemeClr val="accent3"/>
                </a:solidFill>
              </a:rPr>
              <a:t>Unforgeability &amp; </a:t>
            </a:r>
            <a:r>
              <a:rPr lang="en-US" sz="2800" u="sng" dirty="0" err="1">
                <a:solidFill>
                  <a:schemeClr val="accent3"/>
                </a:solidFill>
              </a:rPr>
              <a:t>Linkability</a:t>
            </a:r>
            <a:r>
              <a:rPr lang="en-US" sz="2800" dirty="0">
                <a:solidFill>
                  <a:schemeClr val="accent3"/>
                </a:solidFill>
              </a:rPr>
              <a:t> from q-Type assumption + SXDH + ROM</a:t>
            </a:r>
          </a:p>
          <a:p>
            <a:pPr lvl="1"/>
            <a:r>
              <a:rPr lang="en-US" sz="2800" dirty="0">
                <a:solidFill>
                  <a:schemeClr val="accent3"/>
                </a:solidFill>
              </a:rPr>
              <a:t>Token generation time is independent of </a:t>
            </a:r>
            <a:r>
              <a:rPr lang="en-US" sz="2800" u="sng" dirty="0">
                <a:solidFill>
                  <a:schemeClr val="accent3"/>
                </a:solidFill>
              </a:rPr>
              <a:t>total number of tokens available per each token dispenser</a:t>
            </a:r>
            <a:endParaRPr lang="en-US" sz="2800" dirty="0">
              <a:solidFill>
                <a:srgbClr val="C00000"/>
              </a:solidFill>
            </a:endParaRPr>
          </a:p>
        </p:txBody>
      </p:sp>
    </p:spTree>
    <p:extLst>
      <p:ext uri="{BB962C8B-B14F-4D97-AF65-F5344CB8AC3E}">
        <p14:creationId xmlns:p14="http://schemas.microsoft.com/office/powerpoint/2010/main" val="2692798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60D96-732F-27F3-F2D7-2D957C471F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EF4514-4404-3364-58D3-D178C0E7BC43}"/>
              </a:ext>
            </a:extLst>
          </p:cNvPr>
          <p:cNvSpPr>
            <a:spLocks noGrp="1"/>
          </p:cNvSpPr>
          <p:nvPr>
            <p:ph type="title"/>
          </p:nvPr>
        </p:nvSpPr>
        <p:spPr/>
        <p:txBody>
          <a:bodyPr/>
          <a:lstStyle/>
          <a:p>
            <a:r>
              <a:rPr lang="en-US" dirty="0">
                <a:latin typeface="Candara" panose="020E0502030303020204" pitchFamily="34" charset="0"/>
              </a:rPr>
              <a:t>Comparison with Lattice-Based Constructions of similar primitives</a:t>
            </a: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CA083C70-CAA8-6DE6-09D6-FCEC05079893}"/>
                  </a:ext>
                </a:extLst>
              </p:cNvPr>
              <p:cNvGraphicFramePr>
                <a:graphicFrameLocks noGrp="1"/>
              </p:cNvGraphicFramePr>
              <p:nvPr/>
            </p:nvGraphicFramePr>
            <p:xfrm>
              <a:off x="723900" y="1878403"/>
              <a:ext cx="11087100" cy="4206240"/>
            </p:xfrm>
            <a:graphic>
              <a:graphicData uri="http://schemas.openxmlformats.org/drawingml/2006/table">
                <a:tbl>
                  <a:tblPr firstRow="1" bandRow="1">
                    <a:tableStyleId>{5C22544A-7EE6-4342-B048-85BDC9FD1C3A}</a:tableStyleId>
                  </a:tblPr>
                  <a:tblGrid>
                    <a:gridCol w="1602505">
                      <a:extLst>
                        <a:ext uri="{9D8B030D-6E8A-4147-A177-3AD203B41FA5}">
                          <a16:colId xmlns:a16="http://schemas.microsoft.com/office/drawing/2014/main" val="3764495056"/>
                        </a:ext>
                      </a:extLst>
                    </a:gridCol>
                    <a:gridCol w="2905725">
                      <a:extLst>
                        <a:ext uri="{9D8B030D-6E8A-4147-A177-3AD203B41FA5}">
                          <a16:colId xmlns:a16="http://schemas.microsoft.com/office/drawing/2014/main" val="3543970758"/>
                        </a:ext>
                      </a:extLst>
                    </a:gridCol>
                    <a:gridCol w="1397270">
                      <a:extLst>
                        <a:ext uri="{9D8B030D-6E8A-4147-A177-3AD203B41FA5}">
                          <a16:colId xmlns:a16="http://schemas.microsoft.com/office/drawing/2014/main" val="1928312539"/>
                        </a:ext>
                      </a:extLst>
                    </a:gridCol>
                    <a:gridCol w="1917700">
                      <a:extLst>
                        <a:ext uri="{9D8B030D-6E8A-4147-A177-3AD203B41FA5}">
                          <a16:colId xmlns:a16="http://schemas.microsoft.com/office/drawing/2014/main" val="2343454477"/>
                        </a:ext>
                      </a:extLst>
                    </a:gridCol>
                    <a:gridCol w="3263900">
                      <a:extLst>
                        <a:ext uri="{9D8B030D-6E8A-4147-A177-3AD203B41FA5}">
                          <a16:colId xmlns:a16="http://schemas.microsoft.com/office/drawing/2014/main" val="1866191139"/>
                        </a:ext>
                      </a:extLst>
                    </a:gridCol>
                  </a:tblGrid>
                  <a:tr h="37311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Construction</a:t>
                          </a:r>
                        </a:p>
                      </a:txBody>
                      <a:tcPr anchor="ctr"/>
                    </a:tc>
                    <a:tc>
                      <a:txBody>
                        <a:bodyPr/>
                        <a:lstStyle/>
                        <a:p>
                          <a:pPr algn="ctr"/>
                          <a:r>
                            <a:rPr lang="en-US" sz="2000" dirty="0"/>
                            <a:t>Primitive</a:t>
                          </a:r>
                        </a:p>
                      </a:txBody>
                      <a:tcPr anchor="ctr"/>
                    </a:tc>
                    <a:tc>
                      <a:txBody>
                        <a:bodyPr/>
                        <a:lstStyle/>
                        <a:p>
                          <a:pPr algn="ctr"/>
                          <a:r>
                            <a:rPr lang="en-US" sz="2000" dirty="0"/>
                            <a:t>Token Size</a:t>
                          </a:r>
                        </a:p>
                      </a:txBody>
                      <a:tcPr anchor="ctr"/>
                    </a:tc>
                    <a:tc>
                      <a:txBody>
                        <a:bodyPr/>
                        <a:lstStyle/>
                        <a:p>
                          <a:pPr algn="ctr"/>
                          <a:r>
                            <a:rPr lang="en-US" sz="2000" dirty="0"/>
                            <a:t>Privacy / Anonymity</a:t>
                          </a:r>
                        </a:p>
                      </a:txBody>
                      <a:tcPr anchor="ctr"/>
                    </a:tc>
                    <a:tc>
                      <a:txBody>
                        <a:bodyPr/>
                        <a:lstStyle/>
                        <a:p>
                          <a:pPr algn="ctr"/>
                          <a:r>
                            <a:rPr lang="en-US" sz="2000" dirty="0"/>
                            <a:t>Assumptions</a:t>
                          </a:r>
                        </a:p>
                        <a:p>
                          <a:pPr algn="ctr"/>
                          <a:r>
                            <a:rPr lang="en-US" sz="2000" dirty="0"/>
                            <a:t>(ROM assumed)</a:t>
                          </a:r>
                        </a:p>
                      </a:txBody>
                      <a:tcPr anchor="ctr"/>
                    </a:tc>
                    <a:extLst>
                      <a:ext uri="{0D108BD9-81ED-4DB2-BD59-A6C34878D82A}">
                        <a16:rowId xmlns:a16="http://schemas.microsoft.com/office/drawing/2014/main" val="1699897538"/>
                      </a:ext>
                    </a:extLst>
                  </a:tr>
                  <a:tr h="373114">
                    <a:tc>
                      <a:txBody>
                        <a:bodyPr/>
                        <a:lstStyle/>
                        <a:p>
                          <a:pPr algn="ctr"/>
                          <a:r>
                            <a:rPr lang="en-US" sz="2000" dirty="0">
                              <a:solidFill>
                                <a:srgbClr val="C00000"/>
                              </a:solidFill>
                            </a:rPr>
                            <a:t>[JS’25]</a:t>
                          </a:r>
                        </a:p>
                      </a:txBody>
                      <a:tcPr anchor="ctr"/>
                    </a:tc>
                    <a:tc>
                      <a:txBody>
                        <a:bodyPr/>
                        <a:lstStyle/>
                        <a:p>
                          <a:pPr algn="ctr"/>
                          <a:r>
                            <a:rPr lang="en-US" sz="2000" dirty="0"/>
                            <a:t>Blind Signature </a:t>
                          </a:r>
                          <a:br>
                            <a:rPr lang="en-US" sz="2000" dirty="0"/>
                          </a:br>
                          <a:r>
                            <a:rPr lang="en-US" sz="2000" dirty="0"/>
                            <a:t>(</a:t>
                          </a:r>
                          <a:r>
                            <a:rPr lang="en-US" sz="2000" dirty="0">
                              <a:solidFill>
                                <a:schemeClr val="accent2"/>
                              </a:solidFill>
                            </a:rPr>
                            <a:t>One-time rate-limit</a:t>
                          </a:r>
                          <a:r>
                            <a:rPr lang="en-US" sz="2000" dirty="0"/>
                            <a:t>)</a:t>
                          </a:r>
                        </a:p>
                      </a:txBody>
                      <a:tcPr anchor="ctr"/>
                    </a:tc>
                    <a:tc>
                      <a:txBody>
                        <a:bodyPr/>
                        <a:lstStyle/>
                        <a:p>
                          <a:pPr algn="ctr"/>
                          <a:r>
                            <a:rPr lang="en-US" sz="2000" dirty="0"/>
                            <a:t>~40KB</a:t>
                          </a:r>
                        </a:p>
                      </a:txBody>
                      <a:tcPr anchor="ctr"/>
                    </a:tc>
                    <a:tc rowSpan="4">
                      <a:txBody>
                        <a:bodyPr/>
                        <a:lstStyle/>
                        <a:p>
                          <a:pPr algn="ctr"/>
                          <a:r>
                            <a:rPr lang="en-US" sz="2000" dirty="0"/>
                            <a:t>Computational</a:t>
                          </a:r>
                        </a:p>
                      </a:txBody>
                      <a:tcPr anchor="ctr">
                        <a:lnB w="38100" cap="flat" cmpd="sng" algn="ctr">
                          <a:solidFill>
                            <a:schemeClr val="tx1"/>
                          </a:solidFill>
                          <a:prstDash val="solid"/>
                          <a:round/>
                          <a:headEnd type="none" w="med" len="med"/>
                          <a:tailEnd type="none" w="med" len="med"/>
                        </a:lnB>
                      </a:tcPr>
                    </a:tc>
                    <a:tc>
                      <a:txBody>
                        <a:bodyPr/>
                        <a:lstStyle/>
                        <a:p>
                          <a:pPr algn="ctr"/>
                          <a:r>
                            <a:rPr lang="en-US" sz="2000" i="0" dirty="0"/>
                            <a:t>MLWE + MSIS</a:t>
                          </a:r>
                          <a:endParaRPr lang="en-US" sz="2000" dirty="0"/>
                        </a:p>
                      </a:txBody>
                      <a:tcPr anchor="ctr"/>
                    </a:tc>
                    <a:extLst>
                      <a:ext uri="{0D108BD9-81ED-4DB2-BD59-A6C34878D82A}">
                        <a16:rowId xmlns:a16="http://schemas.microsoft.com/office/drawing/2014/main" val="4249803019"/>
                      </a:ext>
                    </a:extLst>
                  </a:tr>
                  <a:tr h="373114">
                    <a:tc>
                      <a:txBody>
                        <a:bodyPr/>
                        <a:lstStyle/>
                        <a:p>
                          <a:pPr algn="ctr"/>
                          <a:r>
                            <a:rPr lang="en-US" sz="2000" dirty="0">
                              <a:solidFill>
                                <a:srgbClr val="C00000"/>
                              </a:solidFill>
                            </a:rPr>
                            <a:t>[BGY’25]</a:t>
                          </a:r>
                        </a:p>
                      </a:txBody>
                      <a:tcPr anchor="ctr"/>
                    </a:tc>
                    <a:tc>
                      <a:txBody>
                        <a:bodyPr/>
                        <a:lstStyle/>
                        <a:p>
                          <a:pPr algn="ctr"/>
                          <a:r>
                            <a:rPr lang="en-US" sz="2000" dirty="0"/>
                            <a:t>Batched Blind Signature (</a:t>
                          </a:r>
                          <a:r>
                            <a:rPr lang="en-US" sz="2000" dirty="0">
                              <a:solidFill>
                                <a:schemeClr val="accent3"/>
                              </a:solidFill>
                            </a:rPr>
                            <a:t>Multiple-time rate-limit</a:t>
                          </a:r>
                          <a:r>
                            <a:rPr lang="en-US" sz="2000"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~300KB</a:t>
                          </a:r>
                        </a:p>
                      </a:txBody>
                      <a:tcPr anchor="ctr"/>
                    </a:tc>
                    <a:tc vMerge="1">
                      <a:txBody>
                        <a:bodyPr/>
                        <a:lstStyle/>
                        <a:p>
                          <a:endParaRPr lang="en-US" sz="2000" dirty="0"/>
                        </a:p>
                      </a:txBody>
                      <a:tcPr/>
                    </a:tc>
                    <a:tc>
                      <a:txBody>
                        <a:bodyPr/>
                        <a:lstStyle/>
                        <a:p>
                          <a:pPr algn="ctr"/>
                          <a:r>
                            <a:rPr lang="en-US" sz="2000" dirty="0"/>
                            <a:t>OM-SIS </a:t>
                          </a:r>
                          <a:r>
                            <a:rPr lang="en-US" sz="2000" i="0" dirty="0"/>
                            <a:t>+ MLWE</a:t>
                          </a:r>
                          <a:endParaRPr lang="en-US" sz="2000" dirty="0"/>
                        </a:p>
                      </a:txBody>
                      <a:tcPr anchor="ctr"/>
                    </a:tc>
                    <a:extLst>
                      <a:ext uri="{0D108BD9-81ED-4DB2-BD59-A6C34878D82A}">
                        <a16:rowId xmlns:a16="http://schemas.microsoft.com/office/drawing/2014/main" val="520163459"/>
                      </a:ext>
                    </a:extLst>
                  </a:tr>
                  <a:tr h="373114">
                    <a:tc>
                      <a:txBody>
                        <a:bodyPr/>
                        <a:lstStyle/>
                        <a:p>
                          <a:pPr algn="ctr"/>
                          <a:r>
                            <a:rPr lang="en-US" sz="2000" dirty="0">
                              <a:solidFill>
                                <a:srgbClr val="C00000"/>
                              </a:solidFill>
                            </a:rPr>
                            <a:t>[BLNS’23]</a:t>
                          </a:r>
                        </a:p>
                      </a:txBody>
                      <a:tcPr anchor="ctr"/>
                    </a:tc>
                    <a:tc>
                      <a:txBody>
                        <a:bodyPr/>
                        <a:lstStyle/>
                        <a:p>
                          <a:pPr algn="ctr"/>
                          <a:r>
                            <a:rPr lang="en-US" sz="2000" dirty="0"/>
                            <a:t>Anonymous credentials </a:t>
                          </a:r>
                          <a:r>
                            <a:rPr lang="en-US" sz="2000" dirty="0">
                              <a:solidFill>
                                <a:srgbClr val="C00000"/>
                              </a:solidFill>
                            </a:rPr>
                            <a:t>(w/o rate-limit)</a:t>
                          </a:r>
                        </a:p>
                      </a:txBody>
                      <a:tcPr anchor="ctr"/>
                    </a:tc>
                    <a:tc>
                      <a:txBody>
                        <a:bodyPr/>
                        <a:lstStyle/>
                        <a:p>
                          <a:pPr algn="ctr"/>
                          <a:r>
                            <a:rPr lang="en-US" sz="2000" dirty="0"/>
                            <a:t>~60KB</a:t>
                          </a:r>
                        </a:p>
                      </a:txBody>
                      <a:tcPr anchor="ctr"/>
                    </a:tc>
                    <a:tc vMerge="1">
                      <a:txBody>
                        <a:bodyPr/>
                        <a:lstStyle/>
                        <a:p>
                          <a:endParaRPr lang="en-US" sz="2000" dirty="0"/>
                        </a:p>
                      </a:txBody>
                      <a:tcPr/>
                    </a:tc>
                    <a:tc>
                      <a:txBody>
                        <a:bodyPr/>
                        <a:lstStyle/>
                        <a:p>
                          <a:pPr algn="ctr"/>
                          <a14:m>
                            <m:oMath xmlns:m="http://schemas.openxmlformats.org/officeDocument/2006/math">
                              <m:r>
                                <m:rPr>
                                  <m:sty m:val="p"/>
                                </m:rPr>
                                <a:rPr lang="en-US" sz="2000" i="0" dirty="0" smtClean="0">
                                  <a:latin typeface="Cambria Math" panose="02040503050406030204" pitchFamily="18" charset="0"/>
                                </a:rPr>
                                <m:t>ISI</m:t>
                              </m:r>
                              <m:sSub>
                                <m:sSubPr>
                                  <m:ctrlPr>
                                    <a:rPr lang="en-US" sz="2000" i="1" dirty="0" smtClean="0">
                                      <a:latin typeface="Cambria Math" panose="02040503050406030204" pitchFamily="18" charset="0"/>
                                    </a:rPr>
                                  </m:ctrlPr>
                                </m:sSubPr>
                                <m:e>
                                  <m:r>
                                    <m:rPr>
                                      <m:sty m:val="p"/>
                                    </m:rPr>
                                    <a:rPr lang="en-US" sz="2000" i="0" dirty="0" smtClean="0">
                                      <a:latin typeface="Cambria Math" panose="02040503050406030204" pitchFamily="18" charset="0"/>
                                    </a:rPr>
                                    <m:t>S</m:t>
                                  </m:r>
                                </m:e>
                                <m:sub>
                                  <m:r>
                                    <a:rPr lang="en-US" sz="2000" i="1" dirty="0" smtClean="0">
                                      <a:latin typeface="Cambria Math" panose="02040503050406030204" pitchFamily="18" charset="0"/>
                                    </a:rPr>
                                    <m:t>𝑓</m:t>
                                  </m:r>
                                </m:sub>
                              </m:sSub>
                            </m:oMath>
                          </a14:m>
                          <a:r>
                            <a:rPr lang="en-US" sz="2000" i="0" dirty="0"/>
                            <a:t> + MLWE + MSIS</a:t>
                          </a:r>
                        </a:p>
                      </a:txBody>
                      <a:tcPr anchor="ctr"/>
                    </a:tc>
                    <a:extLst>
                      <a:ext uri="{0D108BD9-81ED-4DB2-BD59-A6C34878D82A}">
                        <a16:rowId xmlns:a16="http://schemas.microsoft.com/office/drawing/2014/main" val="2344730541"/>
                      </a:ext>
                    </a:extLst>
                  </a:tr>
                  <a:tr h="373114">
                    <a:tc>
                      <a:txBody>
                        <a:bodyPr/>
                        <a:lstStyle/>
                        <a:p>
                          <a:pPr algn="ctr"/>
                          <a:r>
                            <a:rPr lang="en-US" sz="2000" dirty="0">
                              <a:solidFill>
                                <a:srgbClr val="C00000"/>
                              </a:solidFill>
                            </a:rPr>
                            <a:t>[AGJ+’24]</a:t>
                          </a:r>
                        </a:p>
                      </a:txBody>
                      <a:tcPr anchor="ctr">
                        <a:lnB w="38100" cap="flat" cmpd="sng" algn="ctr">
                          <a:solidFill>
                            <a:schemeClr val="tx1"/>
                          </a:solidFill>
                          <a:prstDash val="solid"/>
                          <a:round/>
                          <a:headEnd type="none" w="med" len="med"/>
                          <a:tailEnd type="none" w="med" len="med"/>
                        </a:lnB>
                      </a:tcPr>
                    </a:tc>
                    <a:tc>
                      <a:txBody>
                        <a:bodyPr/>
                        <a:lstStyle/>
                        <a:p>
                          <a:pPr algn="ctr"/>
                          <a:r>
                            <a:rPr lang="en-US" sz="2000" dirty="0"/>
                            <a:t>Anonymous credentials </a:t>
                          </a:r>
                          <a:r>
                            <a:rPr lang="en-US" sz="2000" dirty="0">
                              <a:solidFill>
                                <a:srgbClr val="C00000"/>
                              </a:solidFill>
                            </a:rPr>
                            <a:t>(w/o rate-limit)</a:t>
                          </a:r>
                        </a:p>
                      </a:txBody>
                      <a:tcPr anchor="ctr">
                        <a:lnB w="38100" cap="flat" cmpd="sng" algn="ctr">
                          <a:solidFill>
                            <a:schemeClr val="tx1"/>
                          </a:solidFill>
                          <a:prstDash val="solid"/>
                          <a:round/>
                          <a:headEnd type="none" w="med" len="med"/>
                          <a:tailEnd type="none" w="med" len="med"/>
                        </a:lnB>
                      </a:tcPr>
                    </a:tc>
                    <a:tc>
                      <a:txBody>
                        <a:bodyPr/>
                        <a:lstStyle/>
                        <a:p>
                          <a:pPr algn="ctr"/>
                          <a:r>
                            <a:rPr lang="en-US" sz="2000" dirty="0"/>
                            <a:t>~80KB</a:t>
                          </a:r>
                        </a:p>
                      </a:txBody>
                      <a:tcPr anchor="ctr">
                        <a:lnB w="38100" cap="flat" cmpd="sng" algn="ctr">
                          <a:solidFill>
                            <a:schemeClr val="tx1"/>
                          </a:solidFill>
                          <a:prstDash val="solid"/>
                          <a:round/>
                          <a:headEnd type="none" w="med" len="med"/>
                          <a:tailEnd type="none" w="med" len="med"/>
                        </a:lnB>
                      </a:tcPr>
                    </a:tc>
                    <a:tc vMerge="1">
                      <a:txBody>
                        <a:bodyPr/>
                        <a:lstStyle/>
                        <a:p>
                          <a:endParaRPr 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i="0" dirty="0"/>
                            <a:t>MLWE + MSIS</a:t>
                          </a:r>
                          <a:endParaRPr lang="en-US" sz="2000" dirty="0"/>
                        </a:p>
                      </a:txBody>
                      <a:tcPr anchor="ct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2407592"/>
                      </a:ext>
                    </a:extLst>
                  </a:tr>
                  <a:tr h="373114">
                    <a:tc>
                      <a:txBody>
                        <a:bodyPr/>
                        <a:lstStyle/>
                        <a:p>
                          <a:pPr algn="ctr"/>
                          <a:r>
                            <a:rPr lang="en-US" sz="2000" b="1" dirty="0">
                              <a:solidFill>
                                <a:schemeClr val="accent3"/>
                              </a:solidFill>
                            </a:rPr>
                            <a:t>Ours (with BLS12-381)</a:t>
                          </a:r>
                        </a:p>
                      </a:txBody>
                      <a:tcPr anchor="ctr">
                        <a:lnL w="12700" cmpd="sng">
                          <a:noFill/>
                        </a:lnL>
                        <a:lnR w="12700" cmpd="sng">
                          <a:noFill/>
                        </a:lnR>
                        <a:lnT w="381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sz="2000" b="1" dirty="0">
                              <a:solidFill>
                                <a:schemeClr val="accent3"/>
                              </a:solidFill>
                            </a:rPr>
                            <a:t>Context-based </a:t>
                          </a:r>
                          <a:br>
                            <a:rPr lang="en-US" sz="2000" b="1" dirty="0">
                              <a:solidFill>
                                <a:schemeClr val="accent3"/>
                              </a:solidFill>
                            </a:rPr>
                          </a:br>
                          <a:r>
                            <a:rPr lang="en-US" sz="2000" b="1" dirty="0">
                              <a:solidFill>
                                <a:schemeClr val="accent3"/>
                              </a:solidFill>
                            </a:rPr>
                            <a:t>multiple-time rate-limit</a:t>
                          </a:r>
                        </a:p>
                      </a:txBody>
                      <a:tcPr anchor="ctr">
                        <a:lnL w="12700" cmpd="sng">
                          <a:noFill/>
                        </a:lnL>
                        <a:lnR w="12700" cmpd="sng">
                          <a:noFill/>
                        </a:lnR>
                        <a:lnT w="381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sz="2000" b="1" dirty="0">
                              <a:solidFill>
                                <a:schemeClr val="accent3"/>
                              </a:solidFill>
                            </a:rPr>
                            <a:t>~20KB</a:t>
                          </a:r>
                        </a:p>
                      </a:txBody>
                      <a:tcPr anchor="ctr">
                        <a:lnL w="12700" cmpd="sng">
                          <a:noFill/>
                        </a:lnL>
                        <a:lnR w="12700" cmpd="sng">
                          <a:noFill/>
                        </a:lnR>
                        <a:lnT w="381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sz="2000" b="1" dirty="0">
                              <a:solidFill>
                                <a:schemeClr val="accent3"/>
                              </a:solidFill>
                            </a:rPr>
                            <a:t>Statistical</a:t>
                          </a:r>
                        </a:p>
                      </a:txBody>
                      <a:tcPr anchor="ctr">
                        <a:lnL w="12700" cmpd="sng">
                          <a:noFill/>
                        </a:lnL>
                        <a:lnR w="12700" cmpd="sng">
                          <a:noFill/>
                        </a:lnR>
                        <a:lnT w="381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sz="2000" b="1" dirty="0">
                              <a:solidFill>
                                <a:schemeClr val="accent3"/>
                              </a:solidFill>
                            </a:rPr>
                            <a:t>q-ARSDH + SXDH</a:t>
                          </a:r>
                        </a:p>
                      </a:txBody>
                      <a:tcPr anchor="ctr">
                        <a:lnL w="12700" cmpd="sng">
                          <a:noFill/>
                        </a:lnL>
                        <a:lnR w="12700" cmpd="sng">
                          <a:noFill/>
                        </a:lnR>
                        <a:lnT w="381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11735006"/>
                      </a:ext>
                    </a:extLst>
                  </a:tr>
                </a:tbl>
              </a:graphicData>
            </a:graphic>
          </p:graphicFrame>
        </mc:Choice>
        <mc:Fallback xmlns="">
          <p:graphicFrame>
            <p:nvGraphicFramePr>
              <p:cNvPr id="4" name="Table 3">
                <a:extLst>
                  <a:ext uri="{FF2B5EF4-FFF2-40B4-BE49-F238E27FC236}">
                    <a16:creationId xmlns:a16="http://schemas.microsoft.com/office/drawing/2014/main" id="{CA083C70-CAA8-6DE6-09D6-FCEC05079893}"/>
                  </a:ext>
                </a:extLst>
              </p:cNvPr>
              <p:cNvGraphicFramePr>
                <a:graphicFrameLocks noGrp="1"/>
              </p:cNvGraphicFramePr>
              <p:nvPr/>
            </p:nvGraphicFramePr>
            <p:xfrm>
              <a:off x="723900" y="1878403"/>
              <a:ext cx="11087100" cy="4206240"/>
            </p:xfrm>
            <a:graphic>
              <a:graphicData uri="http://schemas.openxmlformats.org/drawingml/2006/table">
                <a:tbl>
                  <a:tblPr firstRow="1" bandRow="1">
                    <a:tableStyleId>{5C22544A-7EE6-4342-B048-85BDC9FD1C3A}</a:tableStyleId>
                  </a:tblPr>
                  <a:tblGrid>
                    <a:gridCol w="1602505">
                      <a:extLst>
                        <a:ext uri="{9D8B030D-6E8A-4147-A177-3AD203B41FA5}">
                          <a16:colId xmlns:a16="http://schemas.microsoft.com/office/drawing/2014/main" val="3764495056"/>
                        </a:ext>
                      </a:extLst>
                    </a:gridCol>
                    <a:gridCol w="2905725">
                      <a:extLst>
                        <a:ext uri="{9D8B030D-6E8A-4147-A177-3AD203B41FA5}">
                          <a16:colId xmlns:a16="http://schemas.microsoft.com/office/drawing/2014/main" val="3543970758"/>
                        </a:ext>
                      </a:extLst>
                    </a:gridCol>
                    <a:gridCol w="1397270">
                      <a:extLst>
                        <a:ext uri="{9D8B030D-6E8A-4147-A177-3AD203B41FA5}">
                          <a16:colId xmlns:a16="http://schemas.microsoft.com/office/drawing/2014/main" val="1928312539"/>
                        </a:ext>
                      </a:extLst>
                    </a:gridCol>
                    <a:gridCol w="1917700">
                      <a:extLst>
                        <a:ext uri="{9D8B030D-6E8A-4147-A177-3AD203B41FA5}">
                          <a16:colId xmlns:a16="http://schemas.microsoft.com/office/drawing/2014/main" val="2343454477"/>
                        </a:ext>
                      </a:extLst>
                    </a:gridCol>
                    <a:gridCol w="3263900">
                      <a:extLst>
                        <a:ext uri="{9D8B030D-6E8A-4147-A177-3AD203B41FA5}">
                          <a16:colId xmlns:a16="http://schemas.microsoft.com/office/drawing/2014/main" val="1866191139"/>
                        </a:ext>
                      </a:extLst>
                    </a:gridCol>
                  </a:tblGrid>
                  <a:tr h="7010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Construction</a:t>
                          </a:r>
                        </a:p>
                      </a:txBody>
                      <a:tcPr anchor="ctr"/>
                    </a:tc>
                    <a:tc>
                      <a:txBody>
                        <a:bodyPr/>
                        <a:lstStyle/>
                        <a:p>
                          <a:pPr algn="ctr"/>
                          <a:r>
                            <a:rPr lang="en-US" sz="2000" dirty="0"/>
                            <a:t>Primitive</a:t>
                          </a:r>
                        </a:p>
                      </a:txBody>
                      <a:tcPr anchor="ctr"/>
                    </a:tc>
                    <a:tc>
                      <a:txBody>
                        <a:bodyPr/>
                        <a:lstStyle/>
                        <a:p>
                          <a:pPr algn="ctr"/>
                          <a:r>
                            <a:rPr lang="en-US" sz="2000" dirty="0"/>
                            <a:t>Token Size</a:t>
                          </a:r>
                        </a:p>
                      </a:txBody>
                      <a:tcPr anchor="ctr"/>
                    </a:tc>
                    <a:tc>
                      <a:txBody>
                        <a:bodyPr/>
                        <a:lstStyle/>
                        <a:p>
                          <a:pPr algn="ctr"/>
                          <a:r>
                            <a:rPr lang="en-US" sz="2000" dirty="0"/>
                            <a:t>Privacy / Anonymity</a:t>
                          </a:r>
                        </a:p>
                      </a:txBody>
                      <a:tcPr anchor="ctr"/>
                    </a:tc>
                    <a:tc>
                      <a:txBody>
                        <a:bodyPr/>
                        <a:lstStyle/>
                        <a:p>
                          <a:pPr algn="ctr"/>
                          <a:r>
                            <a:rPr lang="en-US" sz="2000" dirty="0"/>
                            <a:t>Assumptions</a:t>
                          </a:r>
                        </a:p>
                        <a:p>
                          <a:pPr algn="ctr"/>
                          <a:r>
                            <a:rPr lang="en-US" sz="2000" dirty="0"/>
                            <a:t>(ROM assumed)</a:t>
                          </a:r>
                        </a:p>
                      </a:txBody>
                      <a:tcPr anchor="ctr"/>
                    </a:tc>
                    <a:extLst>
                      <a:ext uri="{0D108BD9-81ED-4DB2-BD59-A6C34878D82A}">
                        <a16:rowId xmlns:a16="http://schemas.microsoft.com/office/drawing/2014/main" val="1699897538"/>
                      </a:ext>
                    </a:extLst>
                  </a:tr>
                  <a:tr h="701040">
                    <a:tc>
                      <a:txBody>
                        <a:bodyPr/>
                        <a:lstStyle/>
                        <a:p>
                          <a:pPr algn="ctr"/>
                          <a:r>
                            <a:rPr lang="en-US" sz="2000" dirty="0">
                              <a:solidFill>
                                <a:srgbClr val="C00000"/>
                              </a:solidFill>
                            </a:rPr>
                            <a:t>[JS’25]</a:t>
                          </a:r>
                        </a:p>
                      </a:txBody>
                      <a:tcPr anchor="ctr"/>
                    </a:tc>
                    <a:tc>
                      <a:txBody>
                        <a:bodyPr/>
                        <a:lstStyle/>
                        <a:p>
                          <a:pPr algn="ctr"/>
                          <a:r>
                            <a:rPr lang="en-US" sz="2000" dirty="0"/>
                            <a:t>Blind Signature </a:t>
                          </a:r>
                          <a:br>
                            <a:rPr lang="en-US" sz="2000" dirty="0"/>
                          </a:br>
                          <a:r>
                            <a:rPr lang="en-US" sz="2000" dirty="0"/>
                            <a:t>(</a:t>
                          </a:r>
                          <a:r>
                            <a:rPr lang="en-US" sz="2000" dirty="0">
                              <a:solidFill>
                                <a:schemeClr val="accent2"/>
                              </a:solidFill>
                            </a:rPr>
                            <a:t>One-time rate-limit</a:t>
                          </a:r>
                          <a:r>
                            <a:rPr lang="en-US" sz="2000" dirty="0"/>
                            <a:t>)</a:t>
                          </a:r>
                        </a:p>
                      </a:txBody>
                      <a:tcPr anchor="ctr"/>
                    </a:tc>
                    <a:tc>
                      <a:txBody>
                        <a:bodyPr/>
                        <a:lstStyle/>
                        <a:p>
                          <a:pPr algn="ctr"/>
                          <a:r>
                            <a:rPr lang="en-US" sz="2000" dirty="0"/>
                            <a:t>~40KB</a:t>
                          </a:r>
                        </a:p>
                      </a:txBody>
                      <a:tcPr anchor="ctr"/>
                    </a:tc>
                    <a:tc rowSpan="4">
                      <a:txBody>
                        <a:bodyPr/>
                        <a:lstStyle/>
                        <a:p>
                          <a:pPr algn="ctr"/>
                          <a:r>
                            <a:rPr lang="en-US" sz="2000" dirty="0"/>
                            <a:t>Computational</a:t>
                          </a:r>
                        </a:p>
                      </a:txBody>
                      <a:tcPr anchor="ctr">
                        <a:lnB w="38100" cap="flat" cmpd="sng" algn="ctr">
                          <a:solidFill>
                            <a:schemeClr val="tx1"/>
                          </a:solidFill>
                          <a:prstDash val="solid"/>
                          <a:round/>
                          <a:headEnd type="none" w="med" len="med"/>
                          <a:tailEnd type="none" w="med" len="med"/>
                        </a:lnB>
                      </a:tcPr>
                    </a:tc>
                    <a:tc>
                      <a:txBody>
                        <a:bodyPr/>
                        <a:lstStyle/>
                        <a:p>
                          <a:pPr algn="ctr"/>
                          <a:r>
                            <a:rPr lang="en-US" sz="2000" i="0" dirty="0"/>
                            <a:t>MLWE + MSIS</a:t>
                          </a:r>
                          <a:endParaRPr lang="en-US" sz="2000" dirty="0"/>
                        </a:p>
                      </a:txBody>
                      <a:tcPr anchor="ctr"/>
                    </a:tc>
                    <a:extLst>
                      <a:ext uri="{0D108BD9-81ED-4DB2-BD59-A6C34878D82A}">
                        <a16:rowId xmlns:a16="http://schemas.microsoft.com/office/drawing/2014/main" val="4249803019"/>
                      </a:ext>
                    </a:extLst>
                  </a:tr>
                  <a:tr h="701040">
                    <a:tc>
                      <a:txBody>
                        <a:bodyPr/>
                        <a:lstStyle/>
                        <a:p>
                          <a:pPr algn="ctr"/>
                          <a:r>
                            <a:rPr lang="en-US" sz="2000" dirty="0">
                              <a:solidFill>
                                <a:srgbClr val="C00000"/>
                              </a:solidFill>
                            </a:rPr>
                            <a:t>[BGY’25]</a:t>
                          </a:r>
                        </a:p>
                      </a:txBody>
                      <a:tcPr anchor="ctr"/>
                    </a:tc>
                    <a:tc>
                      <a:txBody>
                        <a:bodyPr/>
                        <a:lstStyle/>
                        <a:p>
                          <a:pPr algn="ctr"/>
                          <a:r>
                            <a:rPr lang="en-US" sz="2000" dirty="0"/>
                            <a:t>Batched Blind Signature (</a:t>
                          </a:r>
                          <a:r>
                            <a:rPr lang="en-US" sz="2000" dirty="0">
                              <a:solidFill>
                                <a:schemeClr val="accent3"/>
                              </a:solidFill>
                            </a:rPr>
                            <a:t>Multiple-time rate-limit</a:t>
                          </a:r>
                          <a:r>
                            <a:rPr lang="en-US" sz="2000"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~300KB</a:t>
                          </a:r>
                        </a:p>
                      </a:txBody>
                      <a:tcPr anchor="ctr"/>
                    </a:tc>
                    <a:tc vMerge="1">
                      <a:txBody>
                        <a:bodyPr/>
                        <a:lstStyle/>
                        <a:p>
                          <a:endParaRPr lang="en-US" sz="2000" dirty="0"/>
                        </a:p>
                      </a:txBody>
                      <a:tcPr/>
                    </a:tc>
                    <a:tc>
                      <a:txBody>
                        <a:bodyPr/>
                        <a:lstStyle/>
                        <a:p>
                          <a:pPr algn="ctr"/>
                          <a:r>
                            <a:rPr lang="en-US" sz="2000" dirty="0"/>
                            <a:t>OM-SIS </a:t>
                          </a:r>
                          <a:r>
                            <a:rPr lang="en-US" sz="2000" i="0" dirty="0"/>
                            <a:t>+ MLWE</a:t>
                          </a:r>
                          <a:endParaRPr lang="en-US" sz="2000" dirty="0"/>
                        </a:p>
                      </a:txBody>
                      <a:tcPr anchor="ctr"/>
                    </a:tc>
                    <a:extLst>
                      <a:ext uri="{0D108BD9-81ED-4DB2-BD59-A6C34878D82A}">
                        <a16:rowId xmlns:a16="http://schemas.microsoft.com/office/drawing/2014/main" val="520163459"/>
                      </a:ext>
                    </a:extLst>
                  </a:tr>
                  <a:tr h="701040">
                    <a:tc>
                      <a:txBody>
                        <a:bodyPr/>
                        <a:lstStyle/>
                        <a:p>
                          <a:pPr algn="ctr"/>
                          <a:r>
                            <a:rPr lang="en-US" sz="2000" dirty="0">
                              <a:solidFill>
                                <a:srgbClr val="C00000"/>
                              </a:solidFill>
                            </a:rPr>
                            <a:t>[BLNS’23]</a:t>
                          </a:r>
                        </a:p>
                      </a:txBody>
                      <a:tcPr anchor="ctr"/>
                    </a:tc>
                    <a:tc>
                      <a:txBody>
                        <a:bodyPr/>
                        <a:lstStyle/>
                        <a:p>
                          <a:pPr algn="ctr"/>
                          <a:r>
                            <a:rPr lang="en-US" sz="2000" dirty="0"/>
                            <a:t>Anonymous credentials </a:t>
                          </a:r>
                          <a:r>
                            <a:rPr lang="en-US" sz="2000" dirty="0">
                              <a:solidFill>
                                <a:srgbClr val="C00000"/>
                              </a:solidFill>
                            </a:rPr>
                            <a:t>(w/o rate-limit)</a:t>
                          </a:r>
                        </a:p>
                      </a:txBody>
                      <a:tcPr anchor="ctr"/>
                    </a:tc>
                    <a:tc>
                      <a:txBody>
                        <a:bodyPr/>
                        <a:lstStyle/>
                        <a:p>
                          <a:pPr algn="ctr"/>
                          <a:r>
                            <a:rPr lang="en-US" sz="2000" dirty="0"/>
                            <a:t>~60KB</a:t>
                          </a:r>
                        </a:p>
                      </a:txBody>
                      <a:tcPr anchor="ctr"/>
                    </a:tc>
                    <a:tc vMerge="1">
                      <a:txBody>
                        <a:bodyPr/>
                        <a:lstStyle/>
                        <a:p>
                          <a:endParaRPr lang="en-US" sz="2000" dirty="0"/>
                        </a:p>
                      </a:txBody>
                      <a:tcPr/>
                    </a:tc>
                    <a:tc>
                      <a:txBody>
                        <a:bodyPr/>
                        <a:lstStyle/>
                        <a:p>
                          <a:endParaRPr lang="en-US"/>
                        </a:p>
                      </a:txBody>
                      <a:tcPr anchor="ctr">
                        <a:blipFill>
                          <a:blip r:embed="rId3"/>
                          <a:stretch>
                            <a:fillRect l="-240078" t="-307273" r="-1167" b="-216364"/>
                          </a:stretch>
                        </a:blipFill>
                      </a:tcPr>
                    </a:tc>
                    <a:extLst>
                      <a:ext uri="{0D108BD9-81ED-4DB2-BD59-A6C34878D82A}">
                        <a16:rowId xmlns:a16="http://schemas.microsoft.com/office/drawing/2014/main" val="2344730541"/>
                      </a:ext>
                    </a:extLst>
                  </a:tr>
                  <a:tr h="701040">
                    <a:tc>
                      <a:txBody>
                        <a:bodyPr/>
                        <a:lstStyle/>
                        <a:p>
                          <a:pPr algn="ctr"/>
                          <a:r>
                            <a:rPr lang="en-US" sz="2000" dirty="0">
                              <a:solidFill>
                                <a:srgbClr val="C00000"/>
                              </a:solidFill>
                            </a:rPr>
                            <a:t>[AGJ+’24]</a:t>
                          </a:r>
                        </a:p>
                      </a:txBody>
                      <a:tcPr anchor="ctr">
                        <a:lnB w="38100" cap="flat" cmpd="sng" algn="ctr">
                          <a:solidFill>
                            <a:schemeClr val="tx1"/>
                          </a:solidFill>
                          <a:prstDash val="solid"/>
                          <a:round/>
                          <a:headEnd type="none" w="med" len="med"/>
                          <a:tailEnd type="none" w="med" len="med"/>
                        </a:lnB>
                      </a:tcPr>
                    </a:tc>
                    <a:tc>
                      <a:txBody>
                        <a:bodyPr/>
                        <a:lstStyle/>
                        <a:p>
                          <a:pPr algn="ctr"/>
                          <a:r>
                            <a:rPr lang="en-US" sz="2000" dirty="0"/>
                            <a:t>Anonymous credentials </a:t>
                          </a:r>
                          <a:r>
                            <a:rPr lang="en-US" sz="2000" dirty="0">
                              <a:solidFill>
                                <a:srgbClr val="C00000"/>
                              </a:solidFill>
                            </a:rPr>
                            <a:t>(w/o rate-limit)</a:t>
                          </a:r>
                        </a:p>
                      </a:txBody>
                      <a:tcPr anchor="ctr">
                        <a:lnB w="38100" cap="flat" cmpd="sng" algn="ctr">
                          <a:solidFill>
                            <a:schemeClr val="tx1"/>
                          </a:solidFill>
                          <a:prstDash val="solid"/>
                          <a:round/>
                          <a:headEnd type="none" w="med" len="med"/>
                          <a:tailEnd type="none" w="med" len="med"/>
                        </a:lnB>
                      </a:tcPr>
                    </a:tc>
                    <a:tc>
                      <a:txBody>
                        <a:bodyPr/>
                        <a:lstStyle/>
                        <a:p>
                          <a:pPr algn="ctr"/>
                          <a:r>
                            <a:rPr lang="en-US" sz="2000" dirty="0"/>
                            <a:t>~80KB</a:t>
                          </a:r>
                        </a:p>
                      </a:txBody>
                      <a:tcPr anchor="ctr">
                        <a:lnB w="38100" cap="flat" cmpd="sng" algn="ctr">
                          <a:solidFill>
                            <a:schemeClr val="tx1"/>
                          </a:solidFill>
                          <a:prstDash val="solid"/>
                          <a:round/>
                          <a:headEnd type="none" w="med" len="med"/>
                          <a:tailEnd type="none" w="med" len="med"/>
                        </a:lnB>
                      </a:tcPr>
                    </a:tc>
                    <a:tc vMerge="1">
                      <a:txBody>
                        <a:bodyPr/>
                        <a:lstStyle/>
                        <a:p>
                          <a:endParaRPr 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i="0" dirty="0"/>
                            <a:t>MLWE + MSIS</a:t>
                          </a:r>
                          <a:endParaRPr lang="en-US" sz="2000" dirty="0"/>
                        </a:p>
                      </a:txBody>
                      <a:tcPr anchor="ct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2407592"/>
                      </a:ext>
                    </a:extLst>
                  </a:tr>
                  <a:tr h="701040">
                    <a:tc>
                      <a:txBody>
                        <a:bodyPr/>
                        <a:lstStyle/>
                        <a:p>
                          <a:pPr algn="ctr"/>
                          <a:r>
                            <a:rPr lang="en-US" sz="2000" b="1" dirty="0">
                              <a:solidFill>
                                <a:schemeClr val="accent3"/>
                              </a:solidFill>
                            </a:rPr>
                            <a:t>Ours (with BLS12-381)</a:t>
                          </a:r>
                        </a:p>
                      </a:txBody>
                      <a:tcPr anchor="ctr">
                        <a:lnL w="12700" cmpd="sng">
                          <a:noFill/>
                        </a:lnL>
                        <a:lnR w="12700" cmpd="sng">
                          <a:noFill/>
                        </a:lnR>
                        <a:lnT w="381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sz="2000" b="1" dirty="0">
                              <a:solidFill>
                                <a:schemeClr val="accent3"/>
                              </a:solidFill>
                            </a:rPr>
                            <a:t>Context-based </a:t>
                          </a:r>
                          <a:br>
                            <a:rPr lang="en-US" sz="2000" b="1" dirty="0">
                              <a:solidFill>
                                <a:schemeClr val="accent3"/>
                              </a:solidFill>
                            </a:rPr>
                          </a:br>
                          <a:r>
                            <a:rPr lang="en-US" sz="2000" b="1" dirty="0">
                              <a:solidFill>
                                <a:schemeClr val="accent3"/>
                              </a:solidFill>
                            </a:rPr>
                            <a:t>multiple-time rate-limit</a:t>
                          </a:r>
                        </a:p>
                      </a:txBody>
                      <a:tcPr anchor="ctr">
                        <a:lnL w="12700" cmpd="sng">
                          <a:noFill/>
                        </a:lnL>
                        <a:lnR w="12700" cmpd="sng">
                          <a:noFill/>
                        </a:lnR>
                        <a:lnT w="381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sz="2000" b="1" dirty="0">
                              <a:solidFill>
                                <a:schemeClr val="accent3"/>
                              </a:solidFill>
                            </a:rPr>
                            <a:t>~20KB</a:t>
                          </a:r>
                        </a:p>
                      </a:txBody>
                      <a:tcPr anchor="ctr">
                        <a:lnL w="12700" cmpd="sng">
                          <a:noFill/>
                        </a:lnL>
                        <a:lnR w="12700" cmpd="sng">
                          <a:noFill/>
                        </a:lnR>
                        <a:lnT w="381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sz="2000" b="1" dirty="0">
                              <a:solidFill>
                                <a:schemeClr val="accent3"/>
                              </a:solidFill>
                            </a:rPr>
                            <a:t>Statistical</a:t>
                          </a:r>
                        </a:p>
                      </a:txBody>
                      <a:tcPr anchor="ctr">
                        <a:lnL w="12700" cmpd="sng">
                          <a:noFill/>
                        </a:lnL>
                        <a:lnR w="12700" cmpd="sng">
                          <a:noFill/>
                        </a:lnR>
                        <a:lnT w="381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sz="2000" b="1" dirty="0">
                              <a:solidFill>
                                <a:schemeClr val="accent3"/>
                              </a:solidFill>
                            </a:rPr>
                            <a:t>q-ARSDH + SXDH</a:t>
                          </a:r>
                        </a:p>
                      </a:txBody>
                      <a:tcPr anchor="ctr">
                        <a:lnL w="12700" cmpd="sng">
                          <a:noFill/>
                        </a:lnL>
                        <a:lnR w="12700" cmpd="sng">
                          <a:noFill/>
                        </a:lnR>
                        <a:lnT w="381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11735006"/>
                      </a:ext>
                    </a:extLst>
                  </a:tr>
                </a:tbl>
              </a:graphicData>
            </a:graphic>
          </p:graphicFrame>
        </mc:Fallback>
      </mc:AlternateContent>
    </p:spTree>
    <p:extLst>
      <p:ext uri="{BB962C8B-B14F-4D97-AF65-F5344CB8AC3E}">
        <p14:creationId xmlns:p14="http://schemas.microsoft.com/office/powerpoint/2010/main" val="14460063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429DA-DDA4-E459-EC10-87D28B0289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4E90DD-1130-671F-DD7F-9A69F765EA2B}"/>
              </a:ext>
            </a:extLst>
          </p:cNvPr>
          <p:cNvSpPr>
            <a:spLocks noGrp="1"/>
          </p:cNvSpPr>
          <p:nvPr>
            <p:ph type="title"/>
          </p:nvPr>
        </p:nvSpPr>
        <p:spPr/>
        <p:txBody>
          <a:bodyPr/>
          <a:lstStyle/>
          <a:p>
            <a:r>
              <a:rPr lang="en-US" dirty="0">
                <a:latin typeface="Candara" panose="020E0502030303020204" pitchFamily="34" charset="0"/>
              </a:rPr>
              <a:t>Definition of (Everlasting) Anonymity</a:t>
            </a:r>
          </a:p>
        </p:txBody>
      </p:sp>
      <p:cxnSp>
        <p:nvCxnSpPr>
          <p:cNvPr id="9" name="Straight Arrow Connector 8">
            <a:extLst>
              <a:ext uri="{FF2B5EF4-FFF2-40B4-BE49-F238E27FC236}">
                <a16:creationId xmlns:a16="http://schemas.microsoft.com/office/drawing/2014/main" id="{37545F79-9ACD-E8E4-7EA5-ED4A1B822B19}"/>
              </a:ext>
            </a:extLst>
          </p:cNvPr>
          <p:cNvCxnSpPr/>
          <p:nvPr/>
        </p:nvCxnSpPr>
        <p:spPr>
          <a:xfrm rot="5400000" flipV="1">
            <a:off x="2573123" y="3845282"/>
            <a:ext cx="0" cy="1420319"/>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161602BB-07C2-B33A-005D-FB4F045D309C}"/>
              </a:ext>
            </a:extLst>
          </p:cNvPr>
          <p:cNvCxnSpPr>
            <a:cxnSpLocks/>
          </p:cNvCxnSpPr>
          <p:nvPr/>
        </p:nvCxnSpPr>
        <p:spPr>
          <a:xfrm rot="5400000">
            <a:off x="2542015" y="5226268"/>
            <a:ext cx="0" cy="1420319"/>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1AE19E3-5DC5-F78B-8CA3-30EB00F95532}"/>
                  </a:ext>
                </a:extLst>
              </p:cNvPr>
              <p:cNvSpPr txBox="1"/>
              <p:nvPr/>
            </p:nvSpPr>
            <p:spPr>
              <a:xfrm>
                <a:off x="2021318" y="6104548"/>
                <a:ext cx="1041394" cy="4616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𝑏</m:t>
                      </m:r>
                      <m:r>
                        <a:rPr lang="en-US" sz="2400" b="0" i="1" smtClean="0">
                          <a:solidFill>
                            <a:srgbClr val="C00000"/>
                          </a:solidFill>
                          <a:latin typeface="Cambria Math" panose="02040503050406030204" pitchFamily="18" charset="0"/>
                        </a:rPr>
                        <m:t>′</m:t>
                      </m:r>
                    </m:oMath>
                  </m:oMathPara>
                </a14:m>
                <a:endParaRPr lang="en-US" sz="2400" dirty="0">
                  <a:solidFill>
                    <a:srgbClr val="C00000"/>
                  </a:solidFill>
                </a:endParaRPr>
              </a:p>
            </p:txBody>
          </p:sp>
        </mc:Choice>
        <mc:Fallback xmlns="">
          <p:sp>
            <p:nvSpPr>
              <p:cNvPr id="11" name="TextBox 10">
                <a:extLst>
                  <a:ext uri="{FF2B5EF4-FFF2-40B4-BE49-F238E27FC236}">
                    <a16:creationId xmlns:a16="http://schemas.microsoft.com/office/drawing/2014/main" id="{23C73398-281A-FE1F-A969-05D4045F47C1}"/>
                  </a:ext>
                </a:extLst>
              </p:cNvPr>
              <p:cNvSpPr txBox="1">
                <a:spLocks noRot="1" noChangeAspect="1" noMove="1" noResize="1" noEditPoints="1" noAdjustHandles="1" noChangeArrowheads="1" noChangeShapeType="1" noTextEdit="1"/>
              </p:cNvSpPr>
              <p:nvPr/>
            </p:nvSpPr>
            <p:spPr>
              <a:xfrm>
                <a:off x="2021318" y="6104548"/>
                <a:ext cx="1041394" cy="46166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DE2E72F-FF9F-410B-98BE-282AF3F1DA47}"/>
                  </a:ext>
                </a:extLst>
              </p:cNvPr>
              <p:cNvSpPr txBox="1"/>
              <p:nvPr/>
            </p:nvSpPr>
            <p:spPr>
              <a:xfrm>
                <a:off x="3594970" y="6142997"/>
                <a:ext cx="2919896" cy="523220"/>
              </a:xfrm>
              <a:prstGeom prst="rect">
                <a:avLst/>
              </a:prstGeom>
              <a:noFill/>
            </p:spPr>
            <p:txBody>
              <a:bodyPr wrap="square">
                <a:spAutoFit/>
              </a:bodyPr>
              <a:lstStyle/>
              <a:p>
                <a:r>
                  <a:rPr lang="en-US" sz="2800" dirty="0">
                    <a:solidFill>
                      <a:srgbClr val="C00000"/>
                    </a:solidFill>
                    <a:ea typeface="Cambria Math" panose="02040503050406030204" pitchFamily="18" charset="0"/>
                  </a:rPr>
                  <a:t>Adversary </a:t>
                </a:r>
                <a14:m>
                  <m:oMath xmlns:m="http://schemas.openxmlformats.org/officeDocument/2006/math">
                    <m:r>
                      <a:rPr lang="en-US" sz="2800" i="1" smtClean="0">
                        <a:solidFill>
                          <a:srgbClr val="C00000"/>
                        </a:solidFill>
                        <a:latin typeface="Cambria Math" panose="02040503050406030204" pitchFamily="18" charset="0"/>
                        <a:ea typeface="Cambria Math" panose="02040503050406030204" pitchFamily="18" charset="0"/>
                      </a:rPr>
                      <m:t>𝒜</m:t>
                    </m:r>
                  </m:oMath>
                </a14:m>
                <a:endParaRPr lang="en-US" sz="2800" dirty="0">
                  <a:solidFill>
                    <a:srgbClr val="C00000"/>
                  </a:solidFill>
                </a:endParaRPr>
              </a:p>
            </p:txBody>
          </p:sp>
        </mc:Choice>
        <mc:Fallback xmlns="">
          <p:sp>
            <p:nvSpPr>
              <p:cNvPr id="12" name="TextBox 11">
                <a:extLst>
                  <a:ext uri="{FF2B5EF4-FFF2-40B4-BE49-F238E27FC236}">
                    <a16:creationId xmlns:a16="http://schemas.microsoft.com/office/drawing/2014/main" id="{8DE2E72F-FF9F-410B-98BE-282AF3F1DA47}"/>
                  </a:ext>
                </a:extLst>
              </p:cNvPr>
              <p:cNvSpPr txBox="1">
                <a:spLocks noRot="1" noChangeAspect="1" noMove="1" noResize="1" noEditPoints="1" noAdjustHandles="1" noChangeArrowheads="1" noChangeShapeType="1" noTextEdit="1"/>
              </p:cNvSpPr>
              <p:nvPr/>
            </p:nvSpPr>
            <p:spPr>
              <a:xfrm>
                <a:off x="3594970" y="6142997"/>
                <a:ext cx="2919896" cy="523220"/>
              </a:xfrm>
              <a:prstGeom prst="rect">
                <a:avLst/>
              </a:prstGeom>
              <a:blipFill>
                <a:blip r:embed="rId4"/>
                <a:stretch>
                  <a:fillRect l="-4329" t="-11628" b="-27907"/>
                </a:stretch>
              </a:blipFill>
            </p:spPr>
            <p:txBody>
              <a:bodyPr/>
              <a:lstStyle/>
              <a:p>
                <a:r>
                  <a:rPr lang="en-US">
                    <a:noFill/>
                  </a:rPr>
                  <a:t> </a:t>
                </a:r>
              </a:p>
            </p:txBody>
          </p:sp>
        </mc:Fallback>
      </mc:AlternateContent>
      <p:sp>
        <p:nvSpPr>
          <p:cNvPr id="13" name="Rounded Rectangle 12">
            <a:extLst>
              <a:ext uri="{FF2B5EF4-FFF2-40B4-BE49-F238E27FC236}">
                <a16:creationId xmlns:a16="http://schemas.microsoft.com/office/drawing/2014/main" id="{A39FF354-DC82-D972-835E-6193E48447DC}"/>
              </a:ext>
            </a:extLst>
          </p:cNvPr>
          <p:cNvSpPr/>
          <p:nvPr/>
        </p:nvSpPr>
        <p:spPr>
          <a:xfrm>
            <a:off x="7004919" y="2403058"/>
            <a:ext cx="1786404" cy="1220405"/>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C00000"/>
                </a:solidFill>
              </a:rPr>
              <a:t>User</a:t>
            </a:r>
          </a:p>
        </p:txBody>
      </p:sp>
      <p:sp>
        <p:nvSpPr>
          <p:cNvPr id="14" name="Rounded Rectangle 13">
            <a:extLst>
              <a:ext uri="{FF2B5EF4-FFF2-40B4-BE49-F238E27FC236}">
                <a16:creationId xmlns:a16="http://schemas.microsoft.com/office/drawing/2014/main" id="{602109C1-AECF-9EE2-6125-7DEA5B7E62A6}"/>
              </a:ext>
            </a:extLst>
          </p:cNvPr>
          <p:cNvSpPr/>
          <p:nvPr/>
        </p:nvSpPr>
        <p:spPr>
          <a:xfrm>
            <a:off x="8190007" y="4817412"/>
            <a:ext cx="1584344" cy="1259174"/>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C00000"/>
                </a:solidFill>
              </a:rPr>
              <a:t>Show</a:t>
            </a:r>
          </a:p>
        </p:txBody>
      </p:sp>
      <p:cxnSp>
        <p:nvCxnSpPr>
          <p:cNvPr id="17" name="Straight Arrow Connector 16">
            <a:extLst>
              <a:ext uri="{FF2B5EF4-FFF2-40B4-BE49-F238E27FC236}">
                <a16:creationId xmlns:a16="http://schemas.microsoft.com/office/drawing/2014/main" id="{3AF60D5D-EA60-5891-F353-E10C7F7013B9}"/>
              </a:ext>
            </a:extLst>
          </p:cNvPr>
          <p:cNvCxnSpPr>
            <a:cxnSpLocks/>
          </p:cNvCxnSpPr>
          <p:nvPr/>
        </p:nvCxnSpPr>
        <p:spPr>
          <a:xfrm>
            <a:off x="5896079" y="5390154"/>
            <a:ext cx="1776930"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1F68E45F-AD4B-C63A-DCE5-83FCF6364B32}"/>
              </a:ext>
            </a:extLst>
          </p:cNvPr>
          <p:cNvSpPr txBox="1"/>
          <p:nvPr/>
        </p:nvSpPr>
        <p:spPr>
          <a:xfrm>
            <a:off x="6205772" y="4846934"/>
            <a:ext cx="1252190" cy="461665"/>
          </a:xfrm>
          <a:prstGeom prst="rect">
            <a:avLst/>
          </a:prstGeom>
          <a:noFill/>
        </p:spPr>
        <p:txBody>
          <a:bodyPr wrap="square">
            <a:spAutoFit/>
          </a:bodyPr>
          <a:lstStyle/>
          <a:p>
            <a:r>
              <a:rPr lang="en-US" sz="2400" dirty="0" err="1">
                <a:solidFill>
                  <a:srgbClr val="C00000"/>
                </a:solidFill>
                <a:latin typeface="Cambria Math" panose="02040503050406030204" pitchFamily="18" charset="0"/>
                <a:ea typeface="Cambria Math" panose="02040503050406030204" pitchFamily="18" charset="0"/>
              </a:rPr>
              <a:t>sid,ctxt</a:t>
            </a:r>
            <a:endParaRPr lang="en-US" sz="2400" dirty="0">
              <a:solidFill>
                <a:srgbClr val="C00000"/>
              </a:solidFill>
              <a:latin typeface="Cambria Math" panose="02040503050406030204" pitchFamily="18" charset="0"/>
              <a:ea typeface="Cambria Math" panose="02040503050406030204" pitchFamily="18" charset="0"/>
            </a:endParaRPr>
          </a:p>
        </p:txBody>
      </p:sp>
      <p:cxnSp>
        <p:nvCxnSpPr>
          <p:cNvPr id="19" name="Straight Arrow Connector 18">
            <a:extLst>
              <a:ext uri="{FF2B5EF4-FFF2-40B4-BE49-F238E27FC236}">
                <a16:creationId xmlns:a16="http://schemas.microsoft.com/office/drawing/2014/main" id="{697F0B74-7002-4AAC-9415-48338C1D11AF}"/>
              </a:ext>
            </a:extLst>
          </p:cNvPr>
          <p:cNvCxnSpPr>
            <a:cxnSpLocks/>
          </p:cNvCxnSpPr>
          <p:nvPr/>
        </p:nvCxnSpPr>
        <p:spPr>
          <a:xfrm flipH="1">
            <a:off x="5883565" y="5618309"/>
            <a:ext cx="1789444"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E0AF143-BB20-9E1E-BB36-635B9AB63D9A}"/>
                  </a:ext>
                </a:extLst>
              </p:cNvPr>
              <p:cNvSpPr txBox="1"/>
              <p:nvPr/>
            </p:nvSpPr>
            <p:spPr>
              <a:xfrm>
                <a:off x="6418580" y="5649821"/>
                <a:ext cx="655175"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C00000"/>
                          </a:solidFill>
                          <a:latin typeface="Cambria Math" panose="02040503050406030204" pitchFamily="18" charset="0"/>
                        </a:rPr>
                        <m:t>𝑠</m:t>
                      </m:r>
                      <m:r>
                        <a:rPr lang="en-US" sz="2400" b="0" i="1" smtClean="0">
                          <a:solidFill>
                            <a:srgbClr val="C00000"/>
                          </a:solidFill>
                          <a:latin typeface="Cambria Math" panose="02040503050406030204" pitchFamily="18" charset="0"/>
                        </a:rPr>
                        <m:t>𝑛</m:t>
                      </m:r>
                      <m:r>
                        <a:rPr lang="en-US" sz="2400" b="0" i="1" smtClean="0">
                          <a:solidFill>
                            <a:srgbClr val="C00000"/>
                          </a:solidFill>
                          <a:latin typeface="Cambria Math" panose="02040503050406030204" pitchFamily="18" charset="0"/>
                        </a:rPr>
                        <m:t>, </m:t>
                      </m:r>
                      <m:r>
                        <a:rPr lang="en-US" sz="2400" b="0" i="1" smtClean="0">
                          <a:solidFill>
                            <a:srgbClr val="C00000"/>
                          </a:solidFill>
                          <a:latin typeface="Cambria Math" panose="02040503050406030204" pitchFamily="18" charset="0"/>
                        </a:rPr>
                        <m:t>𝜋</m:t>
                      </m:r>
                    </m:oMath>
                  </m:oMathPara>
                </a14:m>
                <a:endParaRPr lang="en-US" sz="2400" dirty="0"/>
              </a:p>
            </p:txBody>
          </p:sp>
        </mc:Choice>
        <mc:Fallback xmlns="">
          <p:sp>
            <p:nvSpPr>
              <p:cNvPr id="20" name="TextBox 19">
                <a:extLst>
                  <a:ext uri="{FF2B5EF4-FFF2-40B4-BE49-F238E27FC236}">
                    <a16:creationId xmlns:a16="http://schemas.microsoft.com/office/drawing/2014/main" id="{BE0AF143-BB20-9E1E-BB36-635B9AB63D9A}"/>
                  </a:ext>
                </a:extLst>
              </p:cNvPr>
              <p:cNvSpPr txBox="1">
                <a:spLocks noRot="1" noChangeAspect="1" noMove="1" noResize="1" noEditPoints="1" noAdjustHandles="1" noChangeArrowheads="1" noChangeShapeType="1" noTextEdit="1"/>
              </p:cNvSpPr>
              <p:nvPr/>
            </p:nvSpPr>
            <p:spPr>
              <a:xfrm>
                <a:off x="6418580" y="5649821"/>
                <a:ext cx="655175" cy="461665"/>
              </a:xfrm>
              <a:prstGeom prst="rect">
                <a:avLst/>
              </a:prstGeom>
              <a:blipFill>
                <a:blip r:embed="rId5"/>
                <a:stretch>
                  <a:fillRect r="-192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EA8F8F9C-0F19-BE07-DE4C-B75BA312BA19}"/>
                  </a:ext>
                </a:extLst>
              </p:cNvPr>
              <p:cNvSpPr txBox="1"/>
              <p:nvPr/>
            </p:nvSpPr>
            <p:spPr>
              <a:xfrm>
                <a:off x="2206242" y="3902691"/>
                <a:ext cx="662468"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𝑐𝑟𝑠</m:t>
                      </m:r>
                    </m:oMath>
                  </m:oMathPara>
                </a14:m>
                <a:endParaRPr lang="en-US" sz="2400" dirty="0">
                  <a:solidFill>
                    <a:srgbClr val="C00000"/>
                  </a:solidFill>
                </a:endParaRPr>
              </a:p>
            </p:txBody>
          </p:sp>
        </mc:Choice>
        <mc:Fallback xmlns="">
          <p:sp>
            <p:nvSpPr>
              <p:cNvPr id="21" name="TextBox 20">
                <a:extLst>
                  <a:ext uri="{FF2B5EF4-FFF2-40B4-BE49-F238E27FC236}">
                    <a16:creationId xmlns:a16="http://schemas.microsoft.com/office/drawing/2014/main" id="{DF232FFA-85C6-12E9-35E1-64227416CA3B}"/>
                  </a:ext>
                </a:extLst>
              </p:cNvPr>
              <p:cNvSpPr txBox="1">
                <a:spLocks noRot="1" noChangeAspect="1" noMove="1" noResize="1" noEditPoints="1" noAdjustHandles="1" noChangeArrowheads="1" noChangeShapeType="1" noTextEdit="1"/>
              </p:cNvSpPr>
              <p:nvPr/>
            </p:nvSpPr>
            <p:spPr>
              <a:xfrm>
                <a:off x="2206242" y="3902691"/>
                <a:ext cx="662468" cy="461665"/>
              </a:xfrm>
              <a:prstGeom prst="rect">
                <a:avLst/>
              </a:prstGeom>
              <a:blipFill>
                <a:blip r:embed="rId6"/>
                <a:stretch>
                  <a:fillRect/>
                </a:stretch>
              </a:blipFill>
            </p:spPr>
            <p:txBody>
              <a:bodyPr/>
              <a:lstStyle/>
              <a:p>
                <a:r>
                  <a:rPr lang="en-US">
                    <a:noFill/>
                  </a:rPr>
                  <a:t> </a:t>
                </a:r>
              </a:p>
            </p:txBody>
          </p:sp>
        </mc:Fallback>
      </mc:AlternateContent>
      <p:cxnSp>
        <p:nvCxnSpPr>
          <p:cNvPr id="22" name="Straight Arrow Connector 21">
            <a:extLst>
              <a:ext uri="{FF2B5EF4-FFF2-40B4-BE49-F238E27FC236}">
                <a16:creationId xmlns:a16="http://schemas.microsoft.com/office/drawing/2014/main" id="{F6783549-EECE-C979-898A-5A6655E718AB}"/>
              </a:ext>
            </a:extLst>
          </p:cNvPr>
          <p:cNvCxnSpPr>
            <a:cxnSpLocks/>
          </p:cNvCxnSpPr>
          <p:nvPr/>
        </p:nvCxnSpPr>
        <p:spPr>
          <a:xfrm flipH="1">
            <a:off x="1862963" y="5221299"/>
            <a:ext cx="1389212"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B3388AF8-32C2-7697-87FB-D8275F0EA4EC}"/>
                  </a:ext>
                </a:extLst>
              </p:cNvPr>
              <p:cNvSpPr txBox="1"/>
              <p:nvPr/>
            </p:nvSpPr>
            <p:spPr>
              <a:xfrm>
                <a:off x="2206242" y="4723562"/>
                <a:ext cx="662468"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𝑝</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𝑘</m:t>
                          </m:r>
                        </m:e>
                        <m:sub>
                          <m:r>
                            <a:rPr lang="en-US" sz="2400" b="0" i="1" smtClean="0">
                              <a:solidFill>
                                <a:srgbClr val="C00000"/>
                              </a:solidFill>
                              <a:latin typeface="Cambria Math" panose="02040503050406030204" pitchFamily="18" charset="0"/>
                            </a:rPr>
                            <m:t>𝐼</m:t>
                          </m:r>
                        </m:sub>
                      </m:sSub>
                    </m:oMath>
                  </m:oMathPara>
                </a14:m>
                <a:endParaRPr lang="en-US" sz="2400" dirty="0">
                  <a:solidFill>
                    <a:srgbClr val="C00000"/>
                  </a:solidFill>
                </a:endParaRPr>
              </a:p>
            </p:txBody>
          </p:sp>
        </mc:Choice>
        <mc:Fallback xmlns="">
          <p:sp>
            <p:nvSpPr>
              <p:cNvPr id="23" name="TextBox 22">
                <a:extLst>
                  <a:ext uri="{FF2B5EF4-FFF2-40B4-BE49-F238E27FC236}">
                    <a16:creationId xmlns:a16="http://schemas.microsoft.com/office/drawing/2014/main" id="{3CD68F90-CDE1-FE19-9782-DB33CFF4FF03}"/>
                  </a:ext>
                </a:extLst>
              </p:cNvPr>
              <p:cNvSpPr txBox="1">
                <a:spLocks noRot="1" noChangeAspect="1" noMove="1" noResize="1" noEditPoints="1" noAdjustHandles="1" noChangeArrowheads="1" noChangeShapeType="1" noTextEdit="1"/>
              </p:cNvSpPr>
              <p:nvPr/>
            </p:nvSpPr>
            <p:spPr>
              <a:xfrm>
                <a:off x="2206242" y="4723562"/>
                <a:ext cx="662468" cy="461665"/>
              </a:xfrm>
              <a:prstGeom prst="rect">
                <a:avLst/>
              </a:prstGeom>
              <a:blipFill>
                <a:blip r:embed="rId7"/>
                <a:stretch>
                  <a:fillRect b="-8108"/>
                </a:stretch>
              </a:blipFill>
            </p:spPr>
            <p:txBody>
              <a:bodyPr/>
              <a:lstStyle/>
              <a:p>
                <a:r>
                  <a:rPr lang="en-US">
                    <a:noFill/>
                  </a:rPr>
                  <a:t> </a:t>
                </a:r>
              </a:p>
            </p:txBody>
          </p:sp>
        </mc:Fallback>
      </mc:AlternateContent>
      <p:sp>
        <p:nvSpPr>
          <p:cNvPr id="24" name="Rounded Rectangular Callout 23">
            <a:extLst>
              <a:ext uri="{FF2B5EF4-FFF2-40B4-BE49-F238E27FC236}">
                <a16:creationId xmlns:a16="http://schemas.microsoft.com/office/drawing/2014/main" id="{C71B60F0-238D-0A70-B58A-5ECC51E8F067}"/>
              </a:ext>
            </a:extLst>
          </p:cNvPr>
          <p:cNvSpPr/>
          <p:nvPr/>
        </p:nvSpPr>
        <p:spPr>
          <a:xfrm>
            <a:off x="248107" y="2521725"/>
            <a:ext cx="1583748" cy="1381018"/>
          </a:xfrm>
          <a:prstGeom prst="wedgeRoundRectCallout">
            <a:avLst>
              <a:gd name="adj1" fmla="val 71981"/>
              <a:gd name="adj2" fmla="val 126284"/>
              <a:gd name="adj3" fmla="val 16667"/>
            </a:avLst>
          </a:prstGeom>
          <a:solidFill>
            <a:srgbClr val="F3E7E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rPr>
              <a:t>Possibly malicious key</a:t>
            </a:r>
          </a:p>
        </p:txBody>
      </p:sp>
      <p:pic>
        <p:nvPicPr>
          <p:cNvPr id="32" name="Picture 2" descr="Cartoon Devil Images – Browse 449,268 Stock Photos, Vectors, and Video |  Adobe Stock">
            <a:extLst>
              <a:ext uri="{FF2B5EF4-FFF2-40B4-BE49-F238E27FC236}">
                <a16:creationId xmlns:a16="http://schemas.microsoft.com/office/drawing/2014/main" id="{B577865C-FB2C-B45D-3A3E-EA254C583C3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26562" y="4211188"/>
            <a:ext cx="1893360" cy="1893360"/>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FA2FE74A-4F51-32A7-9BFA-1C5D7877326D}"/>
              </a:ext>
            </a:extLst>
          </p:cNvPr>
          <p:cNvSpPr txBox="1"/>
          <p:nvPr/>
        </p:nvSpPr>
        <p:spPr>
          <a:xfrm>
            <a:off x="8997689" y="2388090"/>
            <a:ext cx="1584344" cy="1200329"/>
          </a:xfrm>
          <a:prstGeom prst="rect">
            <a:avLst/>
          </a:prstGeom>
          <a:noFill/>
        </p:spPr>
        <p:txBody>
          <a:bodyPr wrap="square" rtlCol="0">
            <a:spAutoFit/>
          </a:bodyPr>
          <a:lstStyle/>
          <a:p>
            <a:pPr algn="ctr"/>
            <a:r>
              <a:rPr lang="en-US" sz="2400" dirty="0">
                <a:solidFill>
                  <a:srgbClr val="C00000"/>
                </a:solidFill>
              </a:rPr>
              <a:t>Real user or simulator</a:t>
            </a:r>
          </a:p>
        </p:txBody>
      </p:sp>
      <p:sp>
        <p:nvSpPr>
          <p:cNvPr id="36" name="TextBox 35">
            <a:extLst>
              <a:ext uri="{FF2B5EF4-FFF2-40B4-BE49-F238E27FC236}">
                <a16:creationId xmlns:a16="http://schemas.microsoft.com/office/drawing/2014/main" id="{8CD99915-C219-CC59-932B-E6EBD98FECD1}"/>
              </a:ext>
            </a:extLst>
          </p:cNvPr>
          <p:cNvSpPr txBox="1"/>
          <p:nvPr/>
        </p:nvSpPr>
        <p:spPr>
          <a:xfrm>
            <a:off x="9985758" y="4954394"/>
            <a:ext cx="1584344" cy="1200329"/>
          </a:xfrm>
          <a:prstGeom prst="rect">
            <a:avLst/>
          </a:prstGeom>
          <a:noFill/>
        </p:spPr>
        <p:txBody>
          <a:bodyPr wrap="square" rtlCol="0">
            <a:spAutoFit/>
          </a:bodyPr>
          <a:lstStyle/>
          <a:p>
            <a:pPr algn="ctr"/>
            <a:r>
              <a:rPr lang="en-US" sz="2400" dirty="0">
                <a:solidFill>
                  <a:srgbClr val="C00000"/>
                </a:solidFill>
              </a:rPr>
              <a:t>Real user or simulator</a:t>
            </a:r>
          </a:p>
        </p:txBody>
      </p:sp>
      <p:grpSp>
        <p:nvGrpSpPr>
          <p:cNvPr id="3" name="Group 2">
            <a:extLst>
              <a:ext uri="{FF2B5EF4-FFF2-40B4-BE49-F238E27FC236}">
                <a16:creationId xmlns:a16="http://schemas.microsoft.com/office/drawing/2014/main" id="{2DE6FA52-4008-DA2F-C570-6C22A08ADB0F}"/>
              </a:ext>
            </a:extLst>
          </p:cNvPr>
          <p:cNvGrpSpPr/>
          <p:nvPr/>
        </p:nvGrpSpPr>
        <p:grpSpPr>
          <a:xfrm rot="3165241">
            <a:off x="5987511" y="3490627"/>
            <a:ext cx="720766" cy="1263175"/>
            <a:chOff x="4357771" y="2866836"/>
            <a:chExt cx="720766" cy="1263175"/>
          </a:xfrm>
        </p:grpSpPr>
        <p:cxnSp>
          <p:nvCxnSpPr>
            <p:cNvPr id="15" name="Straight Arrow Connector 14">
              <a:extLst>
                <a:ext uri="{FF2B5EF4-FFF2-40B4-BE49-F238E27FC236}">
                  <a16:creationId xmlns:a16="http://schemas.microsoft.com/office/drawing/2014/main" id="{160D670E-E67D-C6B2-609F-E25B51531D92}"/>
                </a:ext>
              </a:extLst>
            </p:cNvPr>
            <p:cNvCxnSpPr>
              <a:cxnSpLocks/>
            </p:cNvCxnSpPr>
            <p:nvPr/>
          </p:nvCxnSpPr>
          <p:spPr>
            <a:xfrm flipV="1">
              <a:off x="4357771" y="2892188"/>
              <a:ext cx="0" cy="1237823"/>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66581E6D-55ED-E775-9257-4C3C204F39BF}"/>
                </a:ext>
              </a:extLst>
            </p:cNvPr>
            <p:cNvCxnSpPr>
              <a:cxnSpLocks/>
            </p:cNvCxnSpPr>
            <p:nvPr/>
          </p:nvCxnSpPr>
          <p:spPr>
            <a:xfrm>
              <a:off x="4571817" y="2866836"/>
              <a:ext cx="0" cy="1238738"/>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3A823E32-F9DE-D7F2-EF2D-27EFE15163C1}"/>
                </a:ext>
              </a:extLst>
            </p:cNvPr>
            <p:cNvCxnSpPr>
              <a:cxnSpLocks/>
            </p:cNvCxnSpPr>
            <p:nvPr/>
          </p:nvCxnSpPr>
          <p:spPr>
            <a:xfrm flipV="1">
              <a:off x="4818001" y="2867751"/>
              <a:ext cx="0" cy="1237823"/>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D0A7A057-329F-98D2-3230-B0F1493B41C2}"/>
                </a:ext>
              </a:extLst>
            </p:cNvPr>
            <p:cNvCxnSpPr>
              <a:cxnSpLocks/>
            </p:cNvCxnSpPr>
            <p:nvPr/>
          </p:nvCxnSpPr>
          <p:spPr>
            <a:xfrm>
              <a:off x="5078537" y="2878661"/>
              <a:ext cx="0" cy="1238738"/>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grpSp>
      <p:sp>
        <p:nvSpPr>
          <p:cNvPr id="42" name="TextBox 41">
            <a:extLst>
              <a:ext uri="{FF2B5EF4-FFF2-40B4-BE49-F238E27FC236}">
                <a16:creationId xmlns:a16="http://schemas.microsoft.com/office/drawing/2014/main" id="{76F6F32A-3DD5-5AB2-87E3-8EF35FD81F35}"/>
              </a:ext>
            </a:extLst>
          </p:cNvPr>
          <p:cNvSpPr txBox="1"/>
          <p:nvPr/>
        </p:nvSpPr>
        <p:spPr>
          <a:xfrm>
            <a:off x="29112" y="5827548"/>
            <a:ext cx="2216524" cy="1015663"/>
          </a:xfrm>
          <a:prstGeom prst="rect">
            <a:avLst/>
          </a:prstGeom>
          <a:noFill/>
        </p:spPr>
        <p:txBody>
          <a:bodyPr wrap="square" rtlCol="0">
            <a:spAutoFit/>
          </a:bodyPr>
          <a:lstStyle/>
          <a:p>
            <a:r>
              <a:rPr lang="en-US" sz="2000" dirty="0">
                <a:solidFill>
                  <a:srgbClr val="C00000"/>
                </a:solidFill>
              </a:rPr>
              <a:t>Wins if guess correctly whether real or simulated</a:t>
            </a:r>
          </a:p>
        </p:txBody>
      </p:sp>
      <p:sp>
        <p:nvSpPr>
          <p:cNvPr id="4" name="Rounded Rectangle 3">
            <a:extLst>
              <a:ext uri="{FF2B5EF4-FFF2-40B4-BE49-F238E27FC236}">
                <a16:creationId xmlns:a16="http://schemas.microsoft.com/office/drawing/2014/main" id="{94A3BC5A-AD64-2F62-60B4-C27CF58A8295}"/>
              </a:ext>
            </a:extLst>
          </p:cNvPr>
          <p:cNvSpPr/>
          <p:nvPr/>
        </p:nvSpPr>
        <p:spPr>
          <a:xfrm>
            <a:off x="3626562" y="1665343"/>
            <a:ext cx="1786404" cy="1220405"/>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err="1">
                <a:solidFill>
                  <a:srgbClr val="C00000"/>
                </a:solidFill>
              </a:rPr>
              <a:t>NewUsr</a:t>
            </a:r>
            <a:endParaRPr lang="en-US" sz="2800" b="1" dirty="0">
              <a:solidFill>
                <a:srgbClr val="C00000"/>
              </a:solidFill>
            </a:endParaRPr>
          </a:p>
        </p:txBody>
      </p:sp>
      <p:grpSp>
        <p:nvGrpSpPr>
          <p:cNvPr id="7" name="Group 6">
            <a:extLst>
              <a:ext uri="{FF2B5EF4-FFF2-40B4-BE49-F238E27FC236}">
                <a16:creationId xmlns:a16="http://schemas.microsoft.com/office/drawing/2014/main" id="{E81351B5-4441-14DE-BE34-EE67B2BFF4A6}"/>
              </a:ext>
            </a:extLst>
          </p:cNvPr>
          <p:cNvGrpSpPr/>
          <p:nvPr/>
        </p:nvGrpSpPr>
        <p:grpSpPr>
          <a:xfrm rot="18377207">
            <a:off x="3912177" y="3531078"/>
            <a:ext cx="1369300" cy="197198"/>
            <a:chOff x="3951190" y="3731012"/>
            <a:chExt cx="1369300" cy="197198"/>
          </a:xfrm>
        </p:grpSpPr>
        <p:cxnSp>
          <p:nvCxnSpPr>
            <p:cNvPr id="5" name="Straight Arrow Connector 4">
              <a:extLst>
                <a:ext uri="{FF2B5EF4-FFF2-40B4-BE49-F238E27FC236}">
                  <a16:creationId xmlns:a16="http://schemas.microsoft.com/office/drawing/2014/main" id="{15761889-02FB-A5F4-0B69-73F6D644B93E}"/>
                </a:ext>
              </a:extLst>
            </p:cNvPr>
            <p:cNvCxnSpPr>
              <a:cxnSpLocks/>
            </p:cNvCxnSpPr>
            <p:nvPr/>
          </p:nvCxnSpPr>
          <p:spPr>
            <a:xfrm rot="3165241" flipV="1">
              <a:off x="4570102" y="3112100"/>
              <a:ext cx="0" cy="1237823"/>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028602EE-01E0-10C5-9FD6-E497B65D2937}"/>
                </a:ext>
              </a:extLst>
            </p:cNvPr>
            <p:cNvCxnSpPr>
              <a:cxnSpLocks/>
            </p:cNvCxnSpPr>
            <p:nvPr/>
          </p:nvCxnSpPr>
          <p:spPr>
            <a:xfrm rot="3165241">
              <a:off x="4701121" y="3308841"/>
              <a:ext cx="0" cy="1238738"/>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grpSp>
      <p:sp>
        <p:nvSpPr>
          <p:cNvPr id="26" name="TextBox 25">
            <a:extLst>
              <a:ext uri="{FF2B5EF4-FFF2-40B4-BE49-F238E27FC236}">
                <a16:creationId xmlns:a16="http://schemas.microsoft.com/office/drawing/2014/main" id="{AD03BE29-8290-5CC2-FD23-64967B50833D}"/>
              </a:ext>
            </a:extLst>
          </p:cNvPr>
          <p:cNvSpPr txBox="1"/>
          <p:nvPr/>
        </p:nvSpPr>
        <p:spPr>
          <a:xfrm rot="19396160">
            <a:off x="5364782" y="3404347"/>
            <a:ext cx="1268722" cy="461665"/>
          </a:xfrm>
          <a:prstGeom prst="rect">
            <a:avLst/>
          </a:prstGeom>
          <a:noFill/>
        </p:spPr>
        <p:txBody>
          <a:bodyPr wrap="square">
            <a:spAutoFit/>
          </a:bodyPr>
          <a:lstStyle/>
          <a:p>
            <a:r>
              <a:rPr lang="en-US" sz="2400" dirty="0" err="1">
                <a:solidFill>
                  <a:srgbClr val="C00000"/>
                </a:solidFill>
                <a:latin typeface="Cambria Math" panose="02040503050406030204" pitchFamily="18" charset="0"/>
                <a:ea typeface="Cambria Math" panose="02040503050406030204" pitchFamily="18" charset="0"/>
              </a:rPr>
              <a:t>sid</a:t>
            </a:r>
            <a:r>
              <a:rPr lang="en-US" sz="2400" dirty="0">
                <a:solidFill>
                  <a:srgbClr val="C00000"/>
                </a:solidFill>
                <a:latin typeface="Cambria Math" panose="02040503050406030204" pitchFamily="18" charset="0"/>
                <a:ea typeface="Cambria Math" panose="02040503050406030204" pitchFamily="18" charset="0"/>
              </a:rPr>
              <a:t>, </a:t>
            </a:r>
            <a:r>
              <a:rPr lang="en-US" sz="2400" dirty="0" err="1">
                <a:solidFill>
                  <a:srgbClr val="C00000"/>
                </a:solidFill>
                <a:latin typeface="Cambria Math" panose="02040503050406030204" pitchFamily="18" charset="0"/>
                <a:ea typeface="Cambria Math" panose="02040503050406030204" pitchFamily="18" charset="0"/>
              </a:rPr>
              <a:t>uid</a:t>
            </a:r>
            <a:endParaRPr lang="en-US" sz="2400" dirty="0">
              <a:latin typeface="Cambria Math" panose="02040503050406030204" pitchFamily="18" charset="0"/>
              <a:ea typeface="Cambria Math" panose="02040503050406030204" pitchFamily="18" charset="0"/>
            </a:endParaRPr>
          </a:p>
        </p:txBody>
      </p:sp>
      <p:sp>
        <p:nvSpPr>
          <p:cNvPr id="28" name="TextBox 27">
            <a:extLst>
              <a:ext uri="{FF2B5EF4-FFF2-40B4-BE49-F238E27FC236}">
                <a16:creationId xmlns:a16="http://schemas.microsoft.com/office/drawing/2014/main" id="{0CA9889A-ACEE-CA03-8671-1E1641B4D8E9}"/>
              </a:ext>
            </a:extLst>
          </p:cNvPr>
          <p:cNvSpPr txBox="1"/>
          <p:nvPr/>
        </p:nvSpPr>
        <p:spPr>
          <a:xfrm>
            <a:off x="3733525" y="3108601"/>
            <a:ext cx="755280" cy="461665"/>
          </a:xfrm>
          <a:prstGeom prst="rect">
            <a:avLst/>
          </a:prstGeom>
          <a:noFill/>
        </p:spPr>
        <p:txBody>
          <a:bodyPr wrap="square">
            <a:spAutoFit/>
          </a:bodyPr>
          <a:lstStyle/>
          <a:p>
            <a:r>
              <a:rPr lang="en-US" sz="2400" dirty="0" err="1">
                <a:solidFill>
                  <a:srgbClr val="C00000"/>
                </a:solidFill>
                <a:latin typeface="Cambria Math" panose="02040503050406030204" pitchFamily="18" charset="0"/>
                <a:ea typeface="Cambria Math" panose="02040503050406030204" pitchFamily="18" charset="0"/>
              </a:rPr>
              <a:t>uid</a:t>
            </a:r>
            <a:endParaRPr lang="en-US" sz="2400" dirty="0">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C27E4B37-ED62-A43E-93BA-A12933167DE5}"/>
                  </a:ext>
                </a:extLst>
              </p:cNvPr>
              <p:cNvSpPr txBox="1"/>
              <p:nvPr/>
            </p:nvSpPr>
            <p:spPr>
              <a:xfrm>
                <a:off x="4779449" y="3145575"/>
                <a:ext cx="662468" cy="4778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𝑝</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𝑘</m:t>
                          </m:r>
                        </m:e>
                        <m:sub>
                          <m:r>
                            <a:rPr lang="en-US" sz="2400" b="0" i="1" smtClean="0">
                              <a:solidFill>
                                <a:srgbClr val="C00000"/>
                              </a:solidFill>
                              <a:latin typeface="Cambria Math" panose="02040503050406030204" pitchFamily="18" charset="0"/>
                            </a:rPr>
                            <m:t>𝑈</m:t>
                          </m:r>
                          <m:r>
                            <a:rPr lang="en-US" sz="2400" b="0" i="1" smtClean="0">
                              <a:solidFill>
                                <a:srgbClr val="C00000"/>
                              </a:solidFill>
                              <a:latin typeface="Cambria Math" panose="02040503050406030204" pitchFamily="18" charset="0"/>
                            </a:rPr>
                            <m:t>,</m:t>
                          </m:r>
                          <m:r>
                            <m:rPr>
                              <m:sty m:val="p"/>
                            </m:rPr>
                            <a:rPr lang="en-US" sz="2400" b="0" i="1" smtClean="0">
                              <a:solidFill>
                                <a:srgbClr val="C00000"/>
                              </a:solidFill>
                              <a:latin typeface="Cambria Math" panose="02040503050406030204" pitchFamily="18" charset="0"/>
                            </a:rPr>
                            <m:t>uid</m:t>
                          </m:r>
                        </m:sub>
                      </m:sSub>
                    </m:oMath>
                  </m:oMathPara>
                </a14:m>
                <a:endParaRPr lang="en-US" sz="2400" dirty="0">
                  <a:solidFill>
                    <a:srgbClr val="C00000"/>
                  </a:solidFill>
                </a:endParaRPr>
              </a:p>
            </p:txBody>
          </p:sp>
        </mc:Choice>
        <mc:Fallback xmlns="">
          <p:sp>
            <p:nvSpPr>
              <p:cNvPr id="29" name="TextBox 28">
                <a:extLst>
                  <a:ext uri="{FF2B5EF4-FFF2-40B4-BE49-F238E27FC236}">
                    <a16:creationId xmlns:a16="http://schemas.microsoft.com/office/drawing/2014/main" id="{C27E4B37-ED62-A43E-93BA-A12933167DE5}"/>
                  </a:ext>
                </a:extLst>
              </p:cNvPr>
              <p:cNvSpPr txBox="1">
                <a:spLocks noRot="1" noChangeAspect="1" noMove="1" noResize="1" noEditPoints="1" noAdjustHandles="1" noChangeArrowheads="1" noChangeShapeType="1" noTextEdit="1"/>
              </p:cNvSpPr>
              <p:nvPr/>
            </p:nvSpPr>
            <p:spPr>
              <a:xfrm>
                <a:off x="4779449" y="3145575"/>
                <a:ext cx="662468" cy="477888"/>
              </a:xfrm>
              <a:prstGeom prst="rect">
                <a:avLst/>
              </a:prstGeom>
              <a:blipFill>
                <a:blip r:embed="rId9"/>
                <a:stretch>
                  <a:fillRect l="-1887" r="-60377" b="-5128"/>
                </a:stretch>
              </a:blipFill>
            </p:spPr>
            <p:txBody>
              <a:bodyPr/>
              <a:lstStyle/>
              <a:p>
                <a:r>
                  <a:rPr lang="en-US">
                    <a:noFill/>
                  </a:rPr>
                  <a:t> </a:t>
                </a:r>
              </a:p>
            </p:txBody>
          </p:sp>
        </mc:Fallback>
      </mc:AlternateContent>
      <p:sp>
        <p:nvSpPr>
          <p:cNvPr id="30" name="Arc 29">
            <a:extLst>
              <a:ext uri="{FF2B5EF4-FFF2-40B4-BE49-F238E27FC236}">
                <a16:creationId xmlns:a16="http://schemas.microsoft.com/office/drawing/2014/main" id="{14628814-CD79-0C5B-91E4-B77083931FCE}"/>
              </a:ext>
            </a:extLst>
          </p:cNvPr>
          <p:cNvSpPr/>
          <p:nvPr/>
        </p:nvSpPr>
        <p:spPr>
          <a:xfrm rot="19852221">
            <a:off x="5139677" y="2032894"/>
            <a:ext cx="1897003" cy="1897003"/>
          </a:xfrm>
          <a:prstGeom prst="arc">
            <a:avLst/>
          </a:prstGeom>
          <a:ln w="38100">
            <a:solidFill>
              <a:srgbClr val="C00000"/>
            </a:solidFill>
            <a:prstDash val="sysDash"/>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17E6EC8F-B872-07B5-F3F0-F532016A629E}"/>
                  </a:ext>
                </a:extLst>
              </p:cNvPr>
              <p:cNvSpPr txBox="1"/>
              <p:nvPr/>
            </p:nvSpPr>
            <p:spPr>
              <a:xfrm>
                <a:off x="5891360" y="1468836"/>
                <a:ext cx="662468" cy="4778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𝑝</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𝑘</m:t>
                          </m:r>
                        </m:e>
                        <m:sub>
                          <m:r>
                            <a:rPr lang="en-US" sz="2400" b="0" i="1" smtClean="0">
                              <a:solidFill>
                                <a:srgbClr val="C00000"/>
                              </a:solidFill>
                              <a:latin typeface="Cambria Math" panose="02040503050406030204" pitchFamily="18" charset="0"/>
                            </a:rPr>
                            <m:t>𝑈</m:t>
                          </m:r>
                          <m:r>
                            <a:rPr lang="en-US" sz="2400" b="0" i="1" smtClean="0">
                              <a:solidFill>
                                <a:srgbClr val="C00000"/>
                              </a:solidFill>
                              <a:latin typeface="Cambria Math" panose="02040503050406030204" pitchFamily="18" charset="0"/>
                            </a:rPr>
                            <m:t>,</m:t>
                          </m:r>
                          <m:r>
                            <m:rPr>
                              <m:sty m:val="p"/>
                            </m:rPr>
                            <a:rPr lang="en-US" sz="2400" b="0" i="1" smtClean="0">
                              <a:solidFill>
                                <a:srgbClr val="C00000"/>
                              </a:solidFill>
                              <a:latin typeface="Cambria Math" panose="02040503050406030204" pitchFamily="18" charset="0"/>
                            </a:rPr>
                            <m:t>uid</m:t>
                          </m:r>
                        </m:sub>
                      </m:sSub>
                    </m:oMath>
                  </m:oMathPara>
                </a14:m>
                <a:endParaRPr lang="en-US" sz="2400" dirty="0">
                  <a:solidFill>
                    <a:srgbClr val="C00000"/>
                  </a:solidFill>
                </a:endParaRPr>
              </a:p>
            </p:txBody>
          </p:sp>
        </mc:Choice>
        <mc:Fallback xmlns="">
          <p:sp>
            <p:nvSpPr>
              <p:cNvPr id="43" name="TextBox 42">
                <a:extLst>
                  <a:ext uri="{FF2B5EF4-FFF2-40B4-BE49-F238E27FC236}">
                    <a16:creationId xmlns:a16="http://schemas.microsoft.com/office/drawing/2014/main" id="{17E6EC8F-B872-07B5-F3F0-F532016A629E}"/>
                  </a:ext>
                </a:extLst>
              </p:cNvPr>
              <p:cNvSpPr txBox="1">
                <a:spLocks noRot="1" noChangeAspect="1" noMove="1" noResize="1" noEditPoints="1" noAdjustHandles="1" noChangeArrowheads="1" noChangeShapeType="1" noTextEdit="1"/>
              </p:cNvSpPr>
              <p:nvPr/>
            </p:nvSpPr>
            <p:spPr>
              <a:xfrm>
                <a:off x="5891360" y="1468836"/>
                <a:ext cx="662468" cy="477888"/>
              </a:xfrm>
              <a:prstGeom prst="rect">
                <a:avLst/>
              </a:prstGeom>
              <a:blipFill>
                <a:blip r:embed="rId10"/>
                <a:stretch>
                  <a:fillRect l="-1887" r="-62264" b="-5128"/>
                </a:stretch>
              </a:blipFill>
            </p:spPr>
            <p:txBody>
              <a:bodyPr/>
              <a:lstStyle/>
              <a:p>
                <a:r>
                  <a:rPr lang="en-US">
                    <a:noFill/>
                  </a:rPr>
                  <a:t> </a:t>
                </a:r>
              </a:p>
            </p:txBody>
          </p:sp>
        </mc:Fallback>
      </mc:AlternateContent>
      <p:cxnSp>
        <p:nvCxnSpPr>
          <p:cNvPr id="45" name="Straight Arrow Connector 44">
            <a:extLst>
              <a:ext uri="{FF2B5EF4-FFF2-40B4-BE49-F238E27FC236}">
                <a16:creationId xmlns:a16="http://schemas.microsoft.com/office/drawing/2014/main" id="{C013657C-7340-D30D-DDC8-0F868F5856C6}"/>
              </a:ext>
            </a:extLst>
          </p:cNvPr>
          <p:cNvCxnSpPr>
            <a:cxnSpLocks/>
          </p:cNvCxnSpPr>
          <p:nvPr/>
        </p:nvCxnSpPr>
        <p:spPr>
          <a:xfrm>
            <a:off x="7790841" y="3722731"/>
            <a:ext cx="635740" cy="821583"/>
          </a:xfrm>
          <a:prstGeom prst="straightConnector1">
            <a:avLst/>
          </a:prstGeom>
          <a:ln w="38100">
            <a:solidFill>
              <a:srgbClr val="C00000"/>
            </a:solidFill>
            <a:prstDash val="sysDash"/>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0FFC3729-C8F8-516F-5C15-21E8A0161CA5}"/>
                  </a:ext>
                </a:extLst>
              </p:cNvPr>
              <p:cNvSpPr txBox="1"/>
              <p:nvPr/>
            </p:nvSpPr>
            <p:spPr>
              <a:xfrm>
                <a:off x="8147650" y="3779650"/>
                <a:ext cx="2969852" cy="461665"/>
              </a:xfrm>
              <a:prstGeom prst="rect">
                <a:avLst/>
              </a:prstGeom>
              <a:noFill/>
            </p:spPr>
            <p:txBody>
              <a:bodyPr wrap="none" rtlCol="0">
                <a:spAutoFit/>
              </a:bodyPr>
              <a:lstStyle/>
              <a:p>
                <a:r>
                  <a:rPr lang="en-US" sz="2400" dirty="0">
                    <a:solidFill>
                      <a:srgbClr val="C00000"/>
                    </a:solidFill>
                  </a:rPr>
                  <a:t>Token generator  </a:t>
                </a:r>
                <a14:m>
                  <m:oMath xmlns:m="http://schemas.openxmlformats.org/officeDocument/2006/math">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𝜎</m:t>
                        </m:r>
                      </m:e>
                      <m:sub>
                        <m:r>
                          <m:rPr>
                            <m:sty m:val="p"/>
                          </m:rPr>
                          <a:rPr lang="en-US" sz="2400" b="0" i="0" smtClean="0">
                            <a:solidFill>
                              <a:srgbClr val="C00000"/>
                            </a:solidFill>
                            <a:latin typeface="Cambria Math" panose="02040503050406030204" pitchFamily="18" charset="0"/>
                          </a:rPr>
                          <m:t>sid</m:t>
                        </m:r>
                      </m:sub>
                    </m:sSub>
                  </m:oMath>
                </a14:m>
                <a:endParaRPr lang="en-US" sz="2400" dirty="0">
                  <a:solidFill>
                    <a:srgbClr val="C00000"/>
                  </a:solidFill>
                </a:endParaRPr>
              </a:p>
            </p:txBody>
          </p:sp>
        </mc:Choice>
        <mc:Fallback xmlns="">
          <p:sp>
            <p:nvSpPr>
              <p:cNvPr id="47" name="TextBox 46">
                <a:extLst>
                  <a:ext uri="{FF2B5EF4-FFF2-40B4-BE49-F238E27FC236}">
                    <a16:creationId xmlns:a16="http://schemas.microsoft.com/office/drawing/2014/main" id="{0FFC3729-C8F8-516F-5C15-21E8A0161CA5}"/>
                  </a:ext>
                </a:extLst>
              </p:cNvPr>
              <p:cNvSpPr txBox="1">
                <a:spLocks noRot="1" noChangeAspect="1" noMove="1" noResize="1" noEditPoints="1" noAdjustHandles="1" noChangeArrowheads="1" noChangeShapeType="1" noTextEdit="1"/>
              </p:cNvSpPr>
              <p:nvPr/>
            </p:nvSpPr>
            <p:spPr>
              <a:xfrm>
                <a:off x="8147650" y="3779650"/>
                <a:ext cx="2969852" cy="461665"/>
              </a:xfrm>
              <a:prstGeom prst="rect">
                <a:avLst/>
              </a:prstGeom>
              <a:blipFill>
                <a:blip r:embed="rId11"/>
                <a:stretch>
                  <a:fillRect l="-2979" t="-7895" b="-28947"/>
                </a:stretch>
              </a:blipFill>
            </p:spPr>
            <p:txBody>
              <a:bodyPr/>
              <a:lstStyle/>
              <a:p>
                <a:r>
                  <a:rPr lang="en-US">
                    <a:noFill/>
                  </a:rPr>
                  <a:t> </a:t>
                </a:r>
              </a:p>
            </p:txBody>
          </p:sp>
        </mc:Fallback>
      </mc:AlternateContent>
    </p:spTree>
    <p:extLst>
      <p:ext uri="{BB962C8B-B14F-4D97-AF65-F5344CB8AC3E}">
        <p14:creationId xmlns:p14="http://schemas.microsoft.com/office/powerpoint/2010/main" val="1972560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6"/>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animBg="1"/>
      <p:bldP spid="14" grpId="0" animBg="1"/>
      <p:bldP spid="18" grpId="0"/>
      <p:bldP spid="20" grpId="0"/>
      <p:bldP spid="21" grpId="0"/>
      <p:bldP spid="23" grpId="0"/>
      <p:bldP spid="24" grpId="0" animBg="1"/>
      <p:bldP spid="35" grpId="0"/>
      <p:bldP spid="36" grpId="0"/>
      <p:bldP spid="42" grpId="0"/>
      <p:bldP spid="4" grpId="0" animBg="1"/>
      <p:bldP spid="26" grpId="0"/>
      <p:bldP spid="28" grpId="0"/>
      <p:bldP spid="29" grpId="0"/>
      <p:bldP spid="43" grpId="0"/>
      <p:bldP spid="4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250EA-E110-D4C2-B2BE-6E665E7C03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981B8A-C93E-6364-F8D3-B2413A2ACBC0}"/>
              </a:ext>
            </a:extLst>
          </p:cNvPr>
          <p:cNvSpPr>
            <a:spLocks noGrp="1"/>
          </p:cNvSpPr>
          <p:nvPr>
            <p:ph type="title"/>
          </p:nvPr>
        </p:nvSpPr>
        <p:spPr/>
        <p:txBody>
          <a:bodyPr/>
          <a:lstStyle/>
          <a:p>
            <a:r>
              <a:rPr lang="en-US" dirty="0">
                <a:latin typeface="Candara" panose="020E0502030303020204" pitchFamily="34" charset="0"/>
              </a:rPr>
              <a:t>Anonymity: Real World</a:t>
            </a:r>
          </a:p>
        </p:txBody>
      </p:sp>
      <p:cxnSp>
        <p:nvCxnSpPr>
          <p:cNvPr id="9" name="Straight Arrow Connector 8">
            <a:extLst>
              <a:ext uri="{FF2B5EF4-FFF2-40B4-BE49-F238E27FC236}">
                <a16:creationId xmlns:a16="http://schemas.microsoft.com/office/drawing/2014/main" id="{D4B1A3E6-DF4F-5D0D-CFF4-17AF8AE9D76C}"/>
              </a:ext>
            </a:extLst>
          </p:cNvPr>
          <p:cNvCxnSpPr/>
          <p:nvPr/>
        </p:nvCxnSpPr>
        <p:spPr>
          <a:xfrm rot="5400000" flipV="1">
            <a:off x="2573123" y="3845282"/>
            <a:ext cx="0" cy="1420319"/>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205C4256-D844-06A4-DE9D-5EC738AEE1E6}"/>
              </a:ext>
            </a:extLst>
          </p:cNvPr>
          <p:cNvCxnSpPr>
            <a:cxnSpLocks/>
          </p:cNvCxnSpPr>
          <p:nvPr/>
        </p:nvCxnSpPr>
        <p:spPr>
          <a:xfrm rot="5400000">
            <a:off x="2542015" y="5226268"/>
            <a:ext cx="0" cy="1420319"/>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B940EA-D36D-932D-EA31-EC683A9A2E56}"/>
                  </a:ext>
                </a:extLst>
              </p:cNvPr>
              <p:cNvSpPr txBox="1"/>
              <p:nvPr/>
            </p:nvSpPr>
            <p:spPr>
              <a:xfrm>
                <a:off x="2021318" y="6104548"/>
                <a:ext cx="1041394" cy="4616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𝑏</m:t>
                      </m:r>
                      <m:r>
                        <a:rPr lang="en-US" sz="2400" b="0" i="1" smtClean="0">
                          <a:solidFill>
                            <a:srgbClr val="C00000"/>
                          </a:solidFill>
                          <a:latin typeface="Cambria Math" panose="02040503050406030204" pitchFamily="18" charset="0"/>
                        </a:rPr>
                        <m:t>′</m:t>
                      </m:r>
                    </m:oMath>
                  </m:oMathPara>
                </a14:m>
                <a:endParaRPr lang="en-US" sz="2400" dirty="0">
                  <a:solidFill>
                    <a:srgbClr val="C00000"/>
                  </a:solidFill>
                </a:endParaRPr>
              </a:p>
            </p:txBody>
          </p:sp>
        </mc:Choice>
        <mc:Fallback xmlns="">
          <p:sp>
            <p:nvSpPr>
              <p:cNvPr id="11" name="TextBox 10">
                <a:extLst>
                  <a:ext uri="{FF2B5EF4-FFF2-40B4-BE49-F238E27FC236}">
                    <a16:creationId xmlns:a16="http://schemas.microsoft.com/office/drawing/2014/main" id="{23C73398-281A-FE1F-A969-05D4045F47C1}"/>
                  </a:ext>
                </a:extLst>
              </p:cNvPr>
              <p:cNvSpPr txBox="1">
                <a:spLocks noRot="1" noChangeAspect="1" noMove="1" noResize="1" noEditPoints="1" noAdjustHandles="1" noChangeArrowheads="1" noChangeShapeType="1" noTextEdit="1"/>
              </p:cNvSpPr>
              <p:nvPr/>
            </p:nvSpPr>
            <p:spPr>
              <a:xfrm>
                <a:off x="2021318" y="6104548"/>
                <a:ext cx="1041394" cy="46166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9BA5249-5D0A-46B7-3A90-BC654D0164BA}"/>
                  </a:ext>
                </a:extLst>
              </p:cNvPr>
              <p:cNvSpPr txBox="1"/>
              <p:nvPr/>
            </p:nvSpPr>
            <p:spPr>
              <a:xfrm>
                <a:off x="3594970" y="6142997"/>
                <a:ext cx="2919896" cy="523220"/>
              </a:xfrm>
              <a:prstGeom prst="rect">
                <a:avLst/>
              </a:prstGeom>
              <a:noFill/>
            </p:spPr>
            <p:txBody>
              <a:bodyPr wrap="square">
                <a:spAutoFit/>
              </a:bodyPr>
              <a:lstStyle/>
              <a:p>
                <a:r>
                  <a:rPr lang="en-US" sz="2800" dirty="0">
                    <a:solidFill>
                      <a:srgbClr val="C00000"/>
                    </a:solidFill>
                    <a:ea typeface="Cambria Math" panose="02040503050406030204" pitchFamily="18" charset="0"/>
                  </a:rPr>
                  <a:t>Adversary </a:t>
                </a:r>
                <a14:m>
                  <m:oMath xmlns:m="http://schemas.openxmlformats.org/officeDocument/2006/math">
                    <m:r>
                      <a:rPr lang="en-US" sz="2800" i="1" smtClean="0">
                        <a:solidFill>
                          <a:srgbClr val="C00000"/>
                        </a:solidFill>
                        <a:latin typeface="Cambria Math" panose="02040503050406030204" pitchFamily="18" charset="0"/>
                        <a:ea typeface="Cambria Math" panose="02040503050406030204" pitchFamily="18" charset="0"/>
                      </a:rPr>
                      <m:t>𝒜</m:t>
                    </m:r>
                  </m:oMath>
                </a14:m>
                <a:endParaRPr lang="en-US" sz="2800" dirty="0">
                  <a:solidFill>
                    <a:srgbClr val="C00000"/>
                  </a:solidFill>
                </a:endParaRPr>
              </a:p>
            </p:txBody>
          </p:sp>
        </mc:Choice>
        <mc:Fallback xmlns="">
          <p:sp>
            <p:nvSpPr>
              <p:cNvPr id="12" name="TextBox 11">
                <a:extLst>
                  <a:ext uri="{FF2B5EF4-FFF2-40B4-BE49-F238E27FC236}">
                    <a16:creationId xmlns:a16="http://schemas.microsoft.com/office/drawing/2014/main" id="{F9BA5249-5D0A-46B7-3A90-BC654D0164BA}"/>
                  </a:ext>
                </a:extLst>
              </p:cNvPr>
              <p:cNvSpPr txBox="1">
                <a:spLocks noRot="1" noChangeAspect="1" noMove="1" noResize="1" noEditPoints="1" noAdjustHandles="1" noChangeArrowheads="1" noChangeShapeType="1" noTextEdit="1"/>
              </p:cNvSpPr>
              <p:nvPr/>
            </p:nvSpPr>
            <p:spPr>
              <a:xfrm>
                <a:off x="3594970" y="6142997"/>
                <a:ext cx="2919896" cy="523220"/>
              </a:xfrm>
              <a:prstGeom prst="rect">
                <a:avLst/>
              </a:prstGeom>
              <a:blipFill>
                <a:blip r:embed="rId4"/>
                <a:stretch>
                  <a:fillRect l="-4329" t="-11628" b="-27907"/>
                </a:stretch>
              </a:blipFill>
            </p:spPr>
            <p:txBody>
              <a:bodyPr/>
              <a:lstStyle/>
              <a:p>
                <a:r>
                  <a:rPr lang="en-US">
                    <a:noFill/>
                  </a:rPr>
                  <a:t> </a:t>
                </a:r>
              </a:p>
            </p:txBody>
          </p:sp>
        </mc:Fallback>
      </mc:AlternateContent>
      <p:sp>
        <p:nvSpPr>
          <p:cNvPr id="13" name="Rounded Rectangle 12">
            <a:extLst>
              <a:ext uri="{FF2B5EF4-FFF2-40B4-BE49-F238E27FC236}">
                <a16:creationId xmlns:a16="http://schemas.microsoft.com/office/drawing/2014/main" id="{80140F6D-C75E-DDC7-80AF-5A8608772DBE}"/>
              </a:ext>
            </a:extLst>
          </p:cNvPr>
          <p:cNvSpPr/>
          <p:nvPr/>
        </p:nvSpPr>
        <p:spPr>
          <a:xfrm>
            <a:off x="7004919" y="2403058"/>
            <a:ext cx="1786404" cy="1220405"/>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C00000"/>
                </a:solidFill>
              </a:rPr>
              <a:t>User</a:t>
            </a:r>
          </a:p>
        </p:txBody>
      </p:sp>
      <p:sp>
        <p:nvSpPr>
          <p:cNvPr id="14" name="Rounded Rectangle 13">
            <a:extLst>
              <a:ext uri="{FF2B5EF4-FFF2-40B4-BE49-F238E27FC236}">
                <a16:creationId xmlns:a16="http://schemas.microsoft.com/office/drawing/2014/main" id="{ACDE0F8E-305E-0D72-00D1-AFC7060399AD}"/>
              </a:ext>
            </a:extLst>
          </p:cNvPr>
          <p:cNvSpPr/>
          <p:nvPr/>
        </p:nvSpPr>
        <p:spPr>
          <a:xfrm>
            <a:off x="8190007" y="4817412"/>
            <a:ext cx="1584344" cy="1259174"/>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C00000"/>
                </a:solidFill>
              </a:rPr>
              <a:t>Show</a:t>
            </a:r>
          </a:p>
        </p:txBody>
      </p:sp>
      <p:cxnSp>
        <p:nvCxnSpPr>
          <p:cNvPr id="17" name="Straight Arrow Connector 16">
            <a:extLst>
              <a:ext uri="{FF2B5EF4-FFF2-40B4-BE49-F238E27FC236}">
                <a16:creationId xmlns:a16="http://schemas.microsoft.com/office/drawing/2014/main" id="{6A2B4343-76BF-F790-C39D-F72A8D9FE10E}"/>
              </a:ext>
            </a:extLst>
          </p:cNvPr>
          <p:cNvCxnSpPr>
            <a:cxnSpLocks/>
          </p:cNvCxnSpPr>
          <p:nvPr/>
        </p:nvCxnSpPr>
        <p:spPr>
          <a:xfrm>
            <a:off x="5896079" y="5390154"/>
            <a:ext cx="1776930"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A5D3CC2F-C9F8-C0B4-42AF-CF041BE8A4FC}"/>
              </a:ext>
            </a:extLst>
          </p:cNvPr>
          <p:cNvSpPr txBox="1"/>
          <p:nvPr/>
        </p:nvSpPr>
        <p:spPr>
          <a:xfrm>
            <a:off x="6205772" y="4846934"/>
            <a:ext cx="1252190" cy="461665"/>
          </a:xfrm>
          <a:prstGeom prst="rect">
            <a:avLst/>
          </a:prstGeom>
          <a:noFill/>
        </p:spPr>
        <p:txBody>
          <a:bodyPr wrap="square">
            <a:spAutoFit/>
          </a:bodyPr>
          <a:lstStyle/>
          <a:p>
            <a:r>
              <a:rPr lang="en-US" sz="2400" dirty="0" err="1">
                <a:solidFill>
                  <a:srgbClr val="C00000"/>
                </a:solidFill>
                <a:latin typeface="Cambria Math" panose="02040503050406030204" pitchFamily="18" charset="0"/>
                <a:ea typeface="Cambria Math" panose="02040503050406030204" pitchFamily="18" charset="0"/>
              </a:rPr>
              <a:t>sid,ctxt</a:t>
            </a:r>
            <a:endParaRPr lang="en-US" sz="2400" dirty="0">
              <a:solidFill>
                <a:srgbClr val="C00000"/>
              </a:solidFill>
              <a:latin typeface="Cambria Math" panose="02040503050406030204" pitchFamily="18" charset="0"/>
              <a:ea typeface="Cambria Math" panose="02040503050406030204" pitchFamily="18" charset="0"/>
            </a:endParaRPr>
          </a:p>
        </p:txBody>
      </p:sp>
      <p:cxnSp>
        <p:nvCxnSpPr>
          <p:cNvPr id="19" name="Straight Arrow Connector 18">
            <a:extLst>
              <a:ext uri="{FF2B5EF4-FFF2-40B4-BE49-F238E27FC236}">
                <a16:creationId xmlns:a16="http://schemas.microsoft.com/office/drawing/2014/main" id="{5026CAC0-654B-9CFD-4FBB-F05AE5146D25}"/>
              </a:ext>
            </a:extLst>
          </p:cNvPr>
          <p:cNvCxnSpPr>
            <a:cxnSpLocks/>
          </p:cNvCxnSpPr>
          <p:nvPr/>
        </p:nvCxnSpPr>
        <p:spPr>
          <a:xfrm flipH="1">
            <a:off x="5883565" y="5618309"/>
            <a:ext cx="1789444"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E51C09B-15E5-CCEE-9C4C-513464388E1E}"/>
                  </a:ext>
                </a:extLst>
              </p:cNvPr>
              <p:cNvSpPr txBox="1"/>
              <p:nvPr/>
            </p:nvSpPr>
            <p:spPr>
              <a:xfrm>
                <a:off x="6418580" y="5649821"/>
                <a:ext cx="655175"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C00000"/>
                          </a:solidFill>
                          <a:latin typeface="Cambria Math" panose="02040503050406030204" pitchFamily="18" charset="0"/>
                        </a:rPr>
                        <m:t>𝑠</m:t>
                      </m:r>
                      <m:r>
                        <a:rPr lang="en-US" sz="2400" b="0" i="1" smtClean="0">
                          <a:solidFill>
                            <a:srgbClr val="C00000"/>
                          </a:solidFill>
                          <a:latin typeface="Cambria Math" panose="02040503050406030204" pitchFamily="18" charset="0"/>
                        </a:rPr>
                        <m:t>𝑛</m:t>
                      </m:r>
                      <m:r>
                        <a:rPr lang="en-US" sz="2400" b="0" i="1" smtClean="0">
                          <a:solidFill>
                            <a:srgbClr val="C00000"/>
                          </a:solidFill>
                          <a:latin typeface="Cambria Math" panose="02040503050406030204" pitchFamily="18" charset="0"/>
                        </a:rPr>
                        <m:t>, </m:t>
                      </m:r>
                      <m:r>
                        <a:rPr lang="en-US" sz="2400" b="0" i="1" smtClean="0">
                          <a:solidFill>
                            <a:srgbClr val="C00000"/>
                          </a:solidFill>
                          <a:latin typeface="Cambria Math" panose="02040503050406030204" pitchFamily="18" charset="0"/>
                        </a:rPr>
                        <m:t>𝜋</m:t>
                      </m:r>
                    </m:oMath>
                  </m:oMathPara>
                </a14:m>
                <a:endParaRPr lang="en-US" sz="2400" dirty="0"/>
              </a:p>
            </p:txBody>
          </p:sp>
        </mc:Choice>
        <mc:Fallback xmlns="">
          <p:sp>
            <p:nvSpPr>
              <p:cNvPr id="20" name="TextBox 19">
                <a:extLst>
                  <a:ext uri="{FF2B5EF4-FFF2-40B4-BE49-F238E27FC236}">
                    <a16:creationId xmlns:a16="http://schemas.microsoft.com/office/drawing/2014/main" id="{9E51C09B-15E5-CCEE-9C4C-513464388E1E}"/>
                  </a:ext>
                </a:extLst>
              </p:cNvPr>
              <p:cNvSpPr txBox="1">
                <a:spLocks noRot="1" noChangeAspect="1" noMove="1" noResize="1" noEditPoints="1" noAdjustHandles="1" noChangeArrowheads="1" noChangeShapeType="1" noTextEdit="1"/>
              </p:cNvSpPr>
              <p:nvPr/>
            </p:nvSpPr>
            <p:spPr>
              <a:xfrm>
                <a:off x="6418580" y="5649821"/>
                <a:ext cx="655175" cy="461665"/>
              </a:xfrm>
              <a:prstGeom prst="rect">
                <a:avLst/>
              </a:prstGeom>
              <a:blipFill>
                <a:blip r:embed="rId5"/>
                <a:stretch>
                  <a:fillRect r="-192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2DD2370F-9C2C-CE25-4223-3F970015178D}"/>
                  </a:ext>
                </a:extLst>
              </p:cNvPr>
              <p:cNvSpPr txBox="1"/>
              <p:nvPr/>
            </p:nvSpPr>
            <p:spPr>
              <a:xfrm>
                <a:off x="2206242" y="3902691"/>
                <a:ext cx="662468"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𝑐𝑟𝑠</m:t>
                      </m:r>
                    </m:oMath>
                  </m:oMathPara>
                </a14:m>
                <a:endParaRPr lang="en-US" sz="2400" dirty="0">
                  <a:solidFill>
                    <a:srgbClr val="C00000"/>
                  </a:solidFill>
                </a:endParaRPr>
              </a:p>
            </p:txBody>
          </p:sp>
        </mc:Choice>
        <mc:Fallback xmlns="">
          <p:sp>
            <p:nvSpPr>
              <p:cNvPr id="21" name="TextBox 20">
                <a:extLst>
                  <a:ext uri="{FF2B5EF4-FFF2-40B4-BE49-F238E27FC236}">
                    <a16:creationId xmlns:a16="http://schemas.microsoft.com/office/drawing/2014/main" id="{DF232FFA-85C6-12E9-35E1-64227416CA3B}"/>
                  </a:ext>
                </a:extLst>
              </p:cNvPr>
              <p:cNvSpPr txBox="1">
                <a:spLocks noRot="1" noChangeAspect="1" noMove="1" noResize="1" noEditPoints="1" noAdjustHandles="1" noChangeArrowheads="1" noChangeShapeType="1" noTextEdit="1"/>
              </p:cNvSpPr>
              <p:nvPr/>
            </p:nvSpPr>
            <p:spPr>
              <a:xfrm>
                <a:off x="2206242" y="3902691"/>
                <a:ext cx="662468" cy="461665"/>
              </a:xfrm>
              <a:prstGeom prst="rect">
                <a:avLst/>
              </a:prstGeom>
              <a:blipFill>
                <a:blip r:embed="rId6"/>
                <a:stretch>
                  <a:fillRect/>
                </a:stretch>
              </a:blipFill>
            </p:spPr>
            <p:txBody>
              <a:bodyPr/>
              <a:lstStyle/>
              <a:p>
                <a:r>
                  <a:rPr lang="en-US">
                    <a:noFill/>
                  </a:rPr>
                  <a:t> </a:t>
                </a:r>
              </a:p>
            </p:txBody>
          </p:sp>
        </mc:Fallback>
      </mc:AlternateContent>
      <p:cxnSp>
        <p:nvCxnSpPr>
          <p:cNvPr id="22" name="Straight Arrow Connector 21">
            <a:extLst>
              <a:ext uri="{FF2B5EF4-FFF2-40B4-BE49-F238E27FC236}">
                <a16:creationId xmlns:a16="http://schemas.microsoft.com/office/drawing/2014/main" id="{DFA19A68-0AF5-9B5A-03FE-71869BD0ACC8}"/>
              </a:ext>
            </a:extLst>
          </p:cNvPr>
          <p:cNvCxnSpPr>
            <a:cxnSpLocks/>
          </p:cNvCxnSpPr>
          <p:nvPr/>
        </p:nvCxnSpPr>
        <p:spPr>
          <a:xfrm flipH="1">
            <a:off x="1862963" y="5221299"/>
            <a:ext cx="1389212"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ABC69EA0-8BCA-05DC-65CC-417F412686ED}"/>
                  </a:ext>
                </a:extLst>
              </p:cNvPr>
              <p:cNvSpPr txBox="1"/>
              <p:nvPr/>
            </p:nvSpPr>
            <p:spPr>
              <a:xfrm>
                <a:off x="2206242" y="4723562"/>
                <a:ext cx="662468"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𝑝</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𝑘</m:t>
                          </m:r>
                        </m:e>
                        <m:sub>
                          <m:r>
                            <a:rPr lang="en-US" sz="2400" b="0" i="1" smtClean="0">
                              <a:solidFill>
                                <a:srgbClr val="C00000"/>
                              </a:solidFill>
                              <a:latin typeface="Cambria Math" panose="02040503050406030204" pitchFamily="18" charset="0"/>
                            </a:rPr>
                            <m:t>𝐼</m:t>
                          </m:r>
                        </m:sub>
                      </m:sSub>
                    </m:oMath>
                  </m:oMathPara>
                </a14:m>
                <a:endParaRPr lang="en-US" sz="2400" dirty="0">
                  <a:solidFill>
                    <a:srgbClr val="C00000"/>
                  </a:solidFill>
                </a:endParaRPr>
              </a:p>
            </p:txBody>
          </p:sp>
        </mc:Choice>
        <mc:Fallback xmlns="">
          <p:sp>
            <p:nvSpPr>
              <p:cNvPr id="23" name="TextBox 22">
                <a:extLst>
                  <a:ext uri="{FF2B5EF4-FFF2-40B4-BE49-F238E27FC236}">
                    <a16:creationId xmlns:a16="http://schemas.microsoft.com/office/drawing/2014/main" id="{3CD68F90-CDE1-FE19-9782-DB33CFF4FF03}"/>
                  </a:ext>
                </a:extLst>
              </p:cNvPr>
              <p:cNvSpPr txBox="1">
                <a:spLocks noRot="1" noChangeAspect="1" noMove="1" noResize="1" noEditPoints="1" noAdjustHandles="1" noChangeArrowheads="1" noChangeShapeType="1" noTextEdit="1"/>
              </p:cNvSpPr>
              <p:nvPr/>
            </p:nvSpPr>
            <p:spPr>
              <a:xfrm>
                <a:off x="2206242" y="4723562"/>
                <a:ext cx="662468" cy="461665"/>
              </a:xfrm>
              <a:prstGeom prst="rect">
                <a:avLst/>
              </a:prstGeom>
              <a:blipFill>
                <a:blip r:embed="rId7"/>
                <a:stretch>
                  <a:fillRect b="-8108"/>
                </a:stretch>
              </a:blipFill>
            </p:spPr>
            <p:txBody>
              <a:bodyPr/>
              <a:lstStyle/>
              <a:p>
                <a:r>
                  <a:rPr lang="en-US">
                    <a:noFill/>
                  </a:rPr>
                  <a:t> </a:t>
                </a:r>
              </a:p>
            </p:txBody>
          </p:sp>
        </mc:Fallback>
      </mc:AlternateContent>
      <p:pic>
        <p:nvPicPr>
          <p:cNvPr id="32" name="Picture 2" descr="Cartoon Devil Images – Browse 449,268 Stock Photos, Vectors, and Video |  Adobe Stock">
            <a:extLst>
              <a:ext uri="{FF2B5EF4-FFF2-40B4-BE49-F238E27FC236}">
                <a16:creationId xmlns:a16="http://schemas.microsoft.com/office/drawing/2014/main" id="{6F9DF6E4-5779-C7DE-04DA-7A52AB9431B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26562" y="4211188"/>
            <a:ext cx="1893360" cy="1893360"/>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a:extLst>
              <a:ext uri="{FF2B5EF4-FFF2-40B4-BE49-F238E27FC236}">
                <a16:creationId xmlns:a16="http://schemas.microsoft.com/office/drawing/2014/main" id="{8F74C7F5-65BC-F354-A29E-CE65684A8171}"/>
              </a:ext>
            </a:extLst>
          </p:cNvPr>
          <p:cNvGrpSpPr/>
          <p:nvPr/>
        </p:nvGrpSpPr>
        <p:grpSpPr>
          <a:xfrm rot="3165241">
            <a:off x="5987511" y="3490627"/>
            <a:ext cx="720766" cy="1263175"/>
            <a:chOff x="4357771" y="2866836"/>
            <a:chExt cx="720766" cy="1263175"/>
          </a:xfrm>
        </p:grpSpPr>
        <p:cxnSp>
          <p:nvCxnSpPr>
            <p:cNvPr id="15" name="Straight Arrow Connector 14">
              <a:extLst>
                <a:ext uri="{FF2B5EF4-FFF2-40B4-BE49-F238E27FC236}">
                  <a16:creationId xmlns:a16="http://schemas.microsoft.com/office/drawing/2014/main" id="{B8FE48B3-500B-F2BD-87E8-F40A10CD7173}"/>
                </a:ext>
              </a:extLst>
            </p:cNvPr>
            <p:cNvCxnSpPr>
              <a:cxnSpLocks/>
            </p:cNvCxnSpPr>
            <p:nvPr/>
          </p:nvCxnSpPr>
          <p:spPr>
            <a:xfrm flipV="1">
              <a:off x="4357771" y="2892188"/>
              <a:ext cx="0" cy="1237823"/>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27264429-5F81-264C-1C32-CF406A1F3163}"/>
                </a:ext>
              </a:extLst>
            </p:cNvPr>
            <p:cNvCxnSpPr>
              <a:cxnSpLocks/>
            </p:cNvCxnSpPr>
            <p:nvPr/>
          </p:nvCxnSpPr>
          <p:spPr>
            <a:xfrm>
              <a:off x="4571817" y="2866836"/>
              <a:ext cx="0" cy="1238738"/>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CBD2A652-203F-C531-5FAF-DE9D3DE9862F}"/>
                </a:ext>
              </a:extLst>
            </p:cNvPr>
            <p:cNvCxnSpPr>
              <a:cxnSpLocks/>
            </p:cNvCxnSpPr>
            <p:nvPr/>
          </p:nvCxnSpPr>
          <p:spPr>
            <a:xfrm flipV="1">
              <a:off x="4818001" y="2867751"/>
              <a:ext cx="0" cy="1237823"/>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A78B3FFF-C874-8EC9-FF79-F96B1A475CAE}"/>
                </a:ext>
              </a:extLst>
            </p:cNvPr>
            <p:cNvCxnSpPr>
              <a:cxnSpLocks/>
            </p:cNvCxnSpPr>
            <p:nvPr/>
          </p:nvCxnSpPr>
          <p:spPr>
            <a:xfrm>
              <a:off x="5078537" y="2878661"/>
              <a:ext cx="0" cy="1238738"/>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grpSp>
      <p:sp>
        <p:nvSpPr>
          <p:cNvPr id="42" name="TextBox 41">
            <a:extLst>
              <a:ext uri="{FF2B5EF4-FFF2-40B4-BE49-F238E27FC236}">
                <a16:creationId xmlns:a16="http://schemas.microsoft.com/office/drawing/2014/main" id="{B9D51E73-4B4A-742E-F5B3-E65FB452E2E2}"/>
              </a:ext>
            </a:extLst>
          </p:cNvPr>
          <p:cNvSpPr txBox="1"/>
          <p:nvPr/>
        </p:nvSpPr>
        <p:spPr>
          <a:xfrm>
            <a:off x="29112" y="5827548"/>
            <a:ext cx="2216524" cy="1015663"/>
          </a:xfrm>
          <a:prstGeom prst="rect">
            <a:avLst/>
          </a:prstGeom>
          <a:noFill/>
        </p:spPr>
        <p:txBody>
          <a:bodyPr wrap="square" rtlCol="0">
            <a:spAutoFit/>
          </a:bodyPr>
          <a:lstStyle/>
          <a:p>
            <a:r>
              <a:rPr lang="en-US" sz="2000" dirty="0">
                <a:solidFill>
                  <a:srgbClr val="C00000"/>
                </a:solidFill>
              </a:rPr>
              <a:t>Wins if guess correctly whether real or simulated</a:t>
            </a:r>
          </a:p>
        </p:txBody>
      </p:sp>
      <p:sp>
        <p:nvSpPr>
          <p:cNvPr id="4" name="Rounded Rectangle 3">
            <a:extLst>
              <a:ext uri="{FF2B5EF4-FFF2-40B4-BE49-F238E27FC236}">
                <a16:creationId xmlns:a16="http://schemas.microsoft.com/office/drawing/2014/main" id="{3AE2C738-2453-A477-40EF-15B899A60A51}"/>
              </a:ext>
            </a:extLst>
          </p:cNvPr>
          <p:cNvSpPr/>
          <p:nvPr/>
        </p:nvSpPr>
        <p:spPr>
          <a:xfrm>
            <a:off x="3626562" y="1665343"/>
            <a:ext cx="1786404" cy="1220405"/>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err="1">
                <a:solidFill>
                  <a:srgbClr val="C00000"/>
                </a:solidFill>
              </a:rPr>
              <a:t>NewUsr</a:t>
            </a:r>
            <a:endParaRPr lang="en-US" sz="2800" b="1" dirty="0">
              <a:solidFill>
                <a:srgbClr val="C00000"/>
              </a:solidFill>
            </a:endParaRPr>
          </a:p>
        </p:txBody>
      </p:sp>
      <p:grpSp>
        <p:nvGrpSpPr>
          <p:cNvPr id="7" name="Group 6">
            <a:extLst>
              <a:ext uri="{FF2B5EF4-FFF2-40B4-BE49-F238E27FC236}">
                <a16:creationId xmlns:a16="http://schemas.microsoft.com/office/drawing/2014/main" id="{76C3438B-B373-4943-FC76-FDF260A1C233}"/>
              </a:ext>
            </a:extLst>
          </p:cNvPr>
          <p:cNvGrpSpPr/>
          <p:nvPr/>
        </p:nvGrpSpPr>
        <p:grpSpPr>
          <a:xfrm rot="18377207">
            <a:off x="3912177" y="3531078"/>
            <a:ext cx="1369300" cy="197198"/>
            <a:chOff x="3951190" y="3731012"/>
            <a:chExt cx="1369300" cy="197198"/>
          </a:xfrm>
        </p:grpSpPr>
        <p:cxnSp>
          <p:nvCxnSpPr>
            <p:cNvPr id="5" name="Straight Arrow Connector 4">
              <a:extLst>
                <a:ext uri="{FF2B5EF4-FFF2-40B4-BE49-F238E27FC236}">
                  <a16:creationId xmlns:a16="http://schemas.microsoft.com/office/drawing/2014/main" id="{AF8C174F-0763-95FA-EF47-AA6B32CF1E84}"/>
                </a:ext>
              </a:extLst>
            </p:cNvPr>
            <p:cNvCxnSpPr>
              <a:cxnSpLocks/>
            </p:cNvCxnSpPr>
            <p:nvPr/>
          </p:nvCxnSpPr>
          <p:spPr>
            <a:xfrm rot="3165241" flipV="1">
              <a:off x="4570102" y="3112100"/>
              <a:ext cx="0" cy="1237823"/>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AEA81B95-9E58-5FE0-1C0B-833994231494}"/>
                </a:ext>
              </a:extLst>
            </p:cNvPr>
            <p:cNvCxnSpPr>
              <a:cxnSpLocks/>
            </p:cNvCxnSpPr>
            <p:nvPr/>
          </p:nvCxnSpPr>
          <p:spPr>
            <a:xfrm rot="3165241">
              <a:off x="4701121" y="3308841"/>
              <a:ext cx="0" cy="1238738"/>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grpSp>
      <p:sp>
        <p:nvSpPr>
          <p:cNvPr id="26" name="TextBox 25">
            <a:extLst>
              <a:ext uri="{FF2B5EF4-FFF2-40B4-BE49-F238E27FC236}">
                <a16:creationId xmlns:a16="http://schemas.microsoft.com/office/drawing/2014/main" id="{9DED0616-3624-BB86-7C88-66F0A2DE853C}"/>
              </a:ext>
            </a:extLst>
          </p:cNvPr>
          <p:cNvSpPr txBox="1"/>
          <p:nvPr/>
        </p:nvSpPr>
        <p:spPr>
          <a:xfrm rot="19396160">
            <a:off x="5364782" y="3404347"/>
            <a:ext cx="1268722" cy="461665"/>
          </a:xfrm>
          <a:prstGeom prst="rect">
            <a:avLst/>
          </a:prstGeom>
          <a:noFill/>
        </p:spPr>
        <p:txBody>
          <a:bodyPr wrap="square">
            <a:spAutoFit/>
          </a:bodyPr>
          <a:lstStyle/>
          <a:p>
            <a:r>
              <a:rPr lang="en-US" sz="2400" dirty="0" err="1">
                <a:solidFill>
                  <a:srgbClr val="C00000"/>
                </a:solidFill>
                <a:latin typeface="Cambria Math" panose="02040503050406030204" pitchFamily="18" charset="0"/>
                <a:ea typeface="Cambria Math" panose="02040503050406030204" pitchFamily="18" charset="0"/>
              </a:rPr>
              <a:t>sid</a:t>
            </a:r>
            <a:r>
              <a:rPr lang="en-US" sz="2400" dirty="0">
                <a:solidFill>
                  <a:srgbClr val="C00000"/>
                </a:solidFill>
                <a:latin typeface="Cambria Math" panose="02040503050406030204" pitchFamily="18" charset="0"/>
                <a:ea typeface="Cambria Math" panose="02040503050406030204" pitchFamily="18" charset="0"/>
              </a:rPr>
              <a:t>, </a:t>
            </a:r>
            <a:r>
              <a:rPr lang="en-US" sz="2400" dirty="0" err="1">
                <a:solidFill>
                  <a:srgbClr val="C00000"/>
                </a:solidFill>
                <a:latin typeface="Cambria Math" panose="02040503050406030204" pitchFamily="18" charset="0"/>
                <a:ea typeface="Cambria Math" panose="02040503050406030204" pitchFamily="18" charset="0"/>
              </a:rPr>
              <a:t>uid</a:t>
            </a:r>
            <a:endParaRPr lang="en-US" sz="2400" dirty="0">
              <a:latin typeface="Cambria Math" panose="02040503050406030204" pitchFamily="18" charset="0"/>
              <a:ea typeface="Cambria Math" panose="02040503050406030204" pitchFamily="18" charset="0"/>
            </a:endParaRPr>
          </a:p>
        </p:txBody>
      </p:sp>
      <p:sp>
        <p:nvSpPr>
          <p:cNvPr id="28" name="TextBox 27">
            <a:extLst>
              <a:ext uri="{FF2B5EF4-FFF2-40B4-BE49-F238E27FC236}">
                <a16:creationId xmlns:a16="http://schemas.microsoft.com/office/drawing/2014/main" id="{C11F22EF-8390-6437-6994-D066F459593C}"/>
              </a:ext>
            </a:extLst>
          </p:cNvPr>
          <p:cNvSpPr txBox="1"/>
          <p:nvPr/>
        </p:nvSpPr>
        <p:spPr>
          <a:xfrm>
            <a:off x="3733525" y="3108601"/>
            <a:ext cx="755280" cy="461665"/>
          </a:xfrm>
          <a:prstGeom prst="rect">
            <a:avLst/>
          </a:prstGeom>
          <a:noFill/>
        </p:spPr>
        <p:txBody>
          <a:bodyPr wrap="square">
            <a:spAutoFit/>
          </a:bodyPr>
          <a:lstStyle/>
          <a:p>
            <a:r>
              <a:rPr lang="en-US" sz="2400" dirty="0" err="1">
                <a:solidFill>
                  <a:srgbClr val="C00000"/>
                </a:solidFill>
                <a:latin typeface="Cambria Math" panose="02040503050406030204" pitchFamily="18" charset="0"/>
                <a:ea typeface="Cambria Math" panose="02040503050406030204" pitchFamily="18" charset="0"/>
              </a:rPr>
              <a:t>uid</a:t>
            </a:r>
            <a:endParaRPr lang="en-US" sz="2400" dirty="0">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4077BA11-8B52-CD41-B4C4-DB2EBE5BA1BA}"/>
                  </a:ext>
                </a:extLst>
              </p:cNvPr>
              <p:cNvSpPr txBox="1"/>
              <p:nvPr/>
            </p:nvSpPr>
            <p:spPr>
              <a:xfrm>
                <a:off x="4779449" y="3145575"/>
                <a:ext cx="662468" cy="4778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𝑝</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𝑘</m:t>
                          </m:r>
                        </m:e>
                        <m:sub>
                          <m:r>
                            <a:rPr lang="en-US" sz="2400" b="0" i="1" smtClean="0">
                              <a:solidFill>
                                <a:srgbClr val="C00000"/>
                              </a:solidFill>
                              <a:latin typeface="Cambria Math" panose="02040503050406030204" pitchFamily="18" charset="0"/>
                            </a:rPr>
                            <m:t>𝑈</m:t>
                          </m:r>
                          <m:r>
                            <a:rPr lang="en-US" sz="2400" b="0" i="1" smtClean="0">
                              <a:solidFill>
                                <a:srgbClr val="C00000"/>
                              </a:solidFill>
                              <a:latin typeface="Cambria Math" panose="02040503050406030204" pitchFamily="18" charset="0"/>
                            </a:rPr>
                            <m:t>,</m:t>
                          </m:r>
                          <m:r>
                            <m:rPr>
                              <m:sty m:val="p"/>
                            </m:rPr>
                            <a:rPr lang="en-US" sz="2400" b="0" i="1" smtClean="0">
                              <a:solidFill>
                                <a:srgbClr val="C00000"/>
                              </a:solidFill>
                              <a:latin typeface="Cambria Math" panose="02040503050406030204" pitchFamily="18" charset="0"/>
                            </a:rPr>
                            <m:t>uid</m:t>
                          </m:r>
                        </m:sub>
                      </m:sSub>
                    </m:oMath>
                  </m:oMathPara>
                </a14:m>
                <a:endParaRPr lang="en-US" sz="2400" dirty="0">
                  <a:solidFill>
                    <a:srgbClr val="C00000"/>
                  </a:solidFill>
                </a:endParaRPr>
              </a:p>
            </p:txBody>
          </p:sp>
        </mc:Choice>
        <mc:Fallback xmlns="">
          <p:sp>
            <p:nvSpPr>
              <p:cNvPr id="29" name="TextBox 28">
                <a:extLst>
                  <a:ext uri="{FF2B5EF4-FFF2-40B4-BE49-F238E27FC236}">
                    <a16:creationId xmlns:a16="http://schemas.microsoft.com/office/drawing/2014/main" id="{4077BA11-8B52-CD41-B4C4-DB2EBE5BA1BA}"/>
                  </a:ext>
                </a:extLst>
              </p:cNvPr>
              <p:cNvSpPr txBox="1">
                <a:spLocks noRot="1" noChangeAspect="1" noMove="1" noResize="1" noEditPoints="1" noAdjustHandles="1" noChangeArrowheads="1" noChangeShapeType="1" noTextEdit="1"/>
              </p:cNvSpPr>
              <p:nvPr/>
            </p:nvSpPr>
            <p:spPr>
              <a:xfrm>
                <a:off x="4779449" y="3145575"/>
                <a:ext cx="662468" cy="477888"/>
              </a:xfrm>
              <a:prstGeom prst="rect">
                <a:avLst/>
              </a:prstGeom>
              <a:blipFill>
                <a:blip r:embed="rId9"/>
                <a:stretch>
                  <a:fillRect l="-1887" r="-60377" b="-51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2D02BB4-4202-3B8C-7C31-DCE2A7AE7954}"/>
                  </a:ext>
                </a:extLst>
              </p:cNvPr>
              <p:cNvSpPr txBox="1"/>
              <p:nvPr/>
            </p:nvSpPr>
            <p:spPr>
              <a:xfrm>
                <a:off x="7170754" y="6244137"/>
                <a:ext cx="502124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sz="2400" b="0" i="1" smtClean="0">
                              <a:solidFill>
                                <a:srgbClr val="C00000"/>
                              </a:solidFill>
                              <a:latin typeface="Cambria Math" panose="02040503050406030204" pitchFamily="18" charset="0"/>
                            </a:rPr>
                          </m:ctrlPr>
                        </m:dPr>
                        <m:e>
                          <m:r>
                            <a:rPr lang="en-US" sz="2400" b="0" i="1" smtClean="0">
                              <a:solidFill>
                                <a:srgbClr val="C00000"/>
                              </a:solidFill>
                              <a:latin typeface="Cambria Math" panose="02040503050406030204" pitchFamily="18" charset="0"/>
                            </a:rPr>
                            <m:t>𝑠𝑛</m:t>
                          </m:r>
                          <m:r>
                            <a:rPr lang="en-US" sz="2400" b="0" i="1" smtClean="0">
                              <a:solidFill>
                                <a:srgbClr val="C00000"/>
                              </a:solidFill>
                              <a:latin typeface="Cambria Math" panose="02040503050406030204" pitchFamily="18" charset="0"/>
                            </a:rPr>
                            <m:t>,</m:t>
                          </m:r>
                          <m:r>
                            <a:rPr lang="en-US" sz="2400" b="0" i="1" smtClean="0">
                              <a:solidFill>
                                <a:srgbClr val="C00000"/>
                              </a:solidFill>
                              <a:latin typeface="Cambria Math" panose="02040503050406030204" pitchFamily="18" charset="0"/>
                            </a:rPr>
                            <m:t>𝜋</m:t>
                          </m:r>
                          <m:r>
                            <a:rPr lang="en-US" sz="2400" b="0" i="1" smtClean="0">
                              <a:solidFill>
                                <a:srgbClr val="C00000"/>
                              </a:solidFill>
                              <a:latin typeface="Cambria Math" panose="02040503050406030204" pitchFamily="18" charset="0"/>
                            </a:rPr>
                            <m:t>,</m:t>
                          </m:r>
                          <m:r>
                            <a:rPr lang="en-US" sz="2400" b="0" i="1" smtClean="0">
                              <a:solidFill>
                                <a:srgbClr val="C00000"/>
                              </a:solidFill>
                              <a:latin typeface="Cambria Math" panose="02040503050406030204" pitchFamily="18" charset="0"/>
                            </a:rPr>
                            <m:t>𝜎</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m:t>
                              </m:r>
                            </m:e>
                            <m:sub>
                              <m:r>
                                <m:rPr>
                                  <m:sty m:val="p"/>
                                </m:rPr>
                                <a:rPr lang="en-US" sz="2400" b="0" i="0" smtClean="0">
                                  <a:solidFill>
                                    <a:srgbClr val="C00000"/>
                                  </a:solidFill>
                                  <a:latin typeface="Cambria Math" panose="02040503050406030204" pitchFamily="18" charset="0"/>
                                </a:rPr>
                                <m:t>sid</m:t>
                              </m:r>
                            </m:sub>
                          </m:sSub>
                        </m:e>
                      </m:d>
                      <m:r>
                        <a:rPr lang="en-US" sz="2400" b="0" i="1" smtClean="0">
                          <a:solidFill>
                            <a:srgbClr val="C00000"/>
                          </a:solidFill>
                          <a:latin typeface="Cambria Math" panose="02040503050406030204" pitchFamily="18" charset="0"/>
                        </a:rPr>
                        <m:t>←</m:t>
                      </m:r>
                      <m:r>
                        <m:rPr>
                          <m:sty m:val="p"/>
                        </m:rPr>
                        <a:rPr lang="en-US" sz="2400" i="0">
                          <a:solidFill>
                            <a:srgbClr val="C00000"/>
                          </a:solidFill>
                          <a:latin typeface="Cambria Math" panose="02040503050406030204" pitchFamily="18" charset="0"/>
                        </a:rPr>
                        <m:t>S</m:t>
                      </m:r>
                      <m:r>
                        <m:rPr>
                          <m:sty m:val="p"/>
                        </m:rPr>
                        <a:rPr lang="en-US" sz="2400" b="0" i="0" smtClean="0">
                          <a:solidFill>
                            <a:srgbClr val="C00000"/>
                          </a:solidFill>
                          <a:latin typeface="Cambria Math" panose="02040503050406030204" pitchFamily="18" charset="0"/>
                        </a:rPr>
                        <m:t>how</m:t>
                      </m:r>
                      <m:d>
                        <m:dPr>
                          <m:ctrlPr>
                            <a:rPr lang="en-US" sz="2400" b="0" i="1" smtClean="0">
                              <a:solidFill>
                                <a:srgbClr val="C00000"/>
                              </a:solidFill>
                              <a:latin typeface="Cambria Math" panose="02040503050406030204" pitchFamily="18" charset="0"/>
                            </a:rPr>
                          </m:ctrlPr>
                        </m:dPr>
                        <m:e>
                          <m:r>
                            <a:rPr lang="en-US" sz="2400" b="0" i="1" smtClean="0">
                              <a:solidFill>
                                <a:srgbClr val="C00000"/>
                              </a:solidFill>
                              <a:latin typeface="Cambria Math" panose="02040503050406030204" pitchFamily="18" charset="0"/>
                            </a:rPr>
                            <m:t>𝑝</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𝑘</m:t>
                              </m:r>
                            </m:e>
                            <m:sub>
                              <m:r>
                                <a:rPr lang="en-US" sz="2400" b="0" i="1" smtClean="0">
                                  <a:solidFill>
                                    <a:srgbClr val="C00000"/>
                                  </a:solidFill>
                                  <a:latin typeface="Cambria Math" panose="02040503050406030204" pitchFamily="18" charset="0"/>
                                </a:rPr>
                                <m:t>𝐼</m:t>
                              </m:r>
                            </m:sub>
                          </m:sSub>
                          <m:r>
                            <a:rPr lang="en-US" sz="2400" b="0" i="1" smtClean="0">
                              <a:solidFill>
                                <a:srgbClr val="C00000"/>
                              </a:solidFill>
                              <a:latin typeface="Cambria Math" panose="02040503050406030204" pitchFamily="18" charset="0"/>
                            </a:rPr>
                            <m:t>,</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𝜎</m:t>
                              </m:r>
                            </m:e>
                            <m:sub>
                              <m:r>
                                <m:rPr>
                                  <m:sty m:val="p"/>
                                </m:rPr>
                                <a:rPr lang="en-US" sz="2400" b="0" i="0" smtClean="0">
                                  <a:solidFill>
                                    <a:srgbClr val="C00000"/>
                                  </a:solidFill>
                                  <a:latin typeface="Cambria Math" panose="02040503050406030204" pitchFamily="18" charset="0"/>
                                </a:rPr>
                                <m:t>sid</m:t>
                              </m:r>
                            </m:sub>
                          </m:sSub>
                          <m:r>
                            <a:rPr lang="en-US" sz="2400" b="0" i="1" smtClean="0">
                              <a:solidFill>
                                <a:srgbClr val="C00000"/>
                              </a:solidFill>
                              <a:latin typeface="Cambria Math" panose="02040503050406030204" pitchFamily="18" charset="0"/>
                            </a:rPr>
                            <m:t>,</m:t>
                          </m:r>
                          <m:r>
                            <m:rPr>
                              <m:sty m:val="p"/>
                            </m:rPr>
                            <a:rPr lang="en-US" sz="2400" b="0" i="0" smtClean="0">
                              <a:solidFill>
                                <a:srgbClr val="C00000"/>
                              </a:solidFill>
                              <a:latin typeface="Cambria Math" panose="02040503050406030204" pitchFamily="18" charset="0"/>
                            </a:rPr>
                            <m:t>ctxt</m:t>
                          </m:r>
                        </m:e>
                      </m:d>
                    </m:oMath>
                  </m:oMathPara>
                </a14:m>
                <a:endParaRPr lang="en-US" dirty="0">
                  <a:solidFill>
                    <a:srgbClr val="C00000"/>
                  </a:solidFill>
                </a:endParaRPr>
              </a:p>
            </p:txBody>
          </p:sp>
        </mc:Choice>
        <mc:Fallback xmlns="">
          <p:sp>
            <p:nvSpPr>
              <p:cNvPr id="8" name="TextBox 7">
                <a:extLst>
                  <a:ext uri="{FF2B5EF4-FFF2-40B4-BE49-F238E27FC236}">
                    <a16:creationId xmlns:a16="http://schemas.microsoft.com/office/drawing/2014/main" id="{82D02BB4-4202-3B8C-7C31-DCE2A7AE7954}"/>
                  </a:ext>
                </a:extLst>
              </p:cNvPr>
              <p:cNvSpPr txBox="1">
                <a:spLocks noRot="1" noChangeAspect="1" noMove="1" noResize="1" noEditPoints="1" noAdjustHandles="1" noChangeArrowheads="1" noChangeShapeType="1" noTextEdit="1"/>
              </p:cNvSpPr>
              <p:nvPr/>
            </p:nvSpPr>
            <p:spPr>
              <a:xfrm>
                <a:off x="7170754" y="6244137"/>
                <a:ext cx="5021246" cy="461665"/>
              </a:xfrm>
              <a:prstGeom prst="rect">
                <a:avLst/>
              </a:prstGeom>
              <a:blipFill>
                <a:blip r:embed="rId10"/>
                <a:stretch>
                  <a:fillRect b="-10811"/>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52C2ABAE-67B9-EC6C-57B0-00E0E69F48BC}"/>
              </a:ext>
            </a:extLst>
          </p:cNvPr>
          <p:cNvCxnSpPr>
            <a:cxnSpLocks/>
          </p:cNvCxnSpPr>
          <p:nvPr/>
        </p:nvCxnSpPr>
        <p:spPr>
          <a:xfrm>
            <a:off x="9141203" y="3488358"/>
            <a:ext cx="0" cy="1019941"/>
          </a:xfrm>
          <a:prstGeom prst="straightConnector1">
            <a:avLst/>
          </a:prstGeom>
          <a:ln w="38100">
            <a:solidFill>
              <a:srgbClr val="C00000"/>
            </a:solidFill>
            <a:prstDash val="sysDash"/>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5D10CA8-3796-C941-534B-5AE54269FDC0}"/>
                  </a:ext>
                </a:extLst>
              </p:cNvPr>
              <p:cNvSpPr txBox="1"/>
              <p:nvPr/>
            </p:nvSpPr>
            <p:spPr>
              <a:xfrm>
                <a:off x="9182766" y="3697924"/>
                <a:ext cx="2969852" cy="461665"/>
              </a:xfrm>
              <a:prstGeom prst="rect">
                <a:avLst/>
              </a:prstGeom>
              <a:noFill/>
            </p:spPr>
            <p:txBody>
              <a:bodyPr wrap="none" rtlCol="0">
                <a:spAutoFit/>
              </a:bodyPr>
              <a:lstStyle/>
              <a:p>
                <a:r>
                  <a:rPr lang="en-US" sz="2400" dirty="0">
                    <a:solidFill>
                      <a:srgbClr val="C00000"/>
                    </a:solidFill>
                  </a:rPr>
                  <a:t>Token generator  </a:t>
                </a:r>
                <a14:m>
                  <m:oMath xmlns:m="http://schemas.openxmlformats.org/officeDocument/2006/math">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𝜎</m:t>
                        </m:r>
                      </m:e>
                      <m:sub>
                        <m:r>
                          <m:rPr>
                            <m:sty m:val="p"/>
                          </m:rPr>
                          <a:rPr lang="en-US" sz="2400" b="0" i="0" smtClean="0">
                            <a:solidFill>
                              <a:srgbClr val="C00000"/>
                            </a:solidFill>
                            <a:latin typeface="Cambria Math" panose="02040503050406030204" pitchFamily="18" charset="0"/>
                          </a:rPr>
                          <m:t>sid</m:t>
                        </m:r>
                      </m:sub>
                    </m:sSub>
                  </m:oMath>
                </a14:m>
                <a:endParaRPr lang="en-US" sz="2400" dirty="0">
                  <a:solidFill>
                    <a:srgbClr val="C00000"/>
                  </a:solidFill>
                </a:endParaRPr>
              </a:p>
            </p:txBody>
          </p:sp>
        </mc:Choice>
        <mc:Fallback xmlns="">
          <p:sp>
            <p:nvSpPr>
              <p:cNvPr id="25" name="TextBox 24">
                <a:extLst>
                  <a:ext uri="{FF2B5EF4-FFF2-40B4-BE49-F238E27FC236}">
                    <a16:creationId xmlns:a16="http://schemas.microsoft.com/office/drawing/2014/main" id="{35D10CA8-3796-C941-534B-5AE54269FDC0}"/>
                  </a:ext>
                </a:extLst>
              </p:cNvPr>
              <p:cNvSpPr txBox="1">
                <a:spLocks noRot="1" noChangeAspect="1" noMove="1" noResize="1" noEditPoints="1" noAdjustHandles="1" noChangeArrowheads="1" noChangeShapeType="1" noTextEdit="1"/>
              </p:cNvSpPr>
              <p:nvPr/>
            </p:nvSpPr>
            <p:spPr>
              <a:xfrm>
                <a:off x="9182766" y="3697924"/>
                <a:ext cx="2969852" cy="461665"/>
              </a:xfrm>
              <a:prstGeom prst="rect">
                <a:avLst/>
              </a:prstGeom>
              <a:blipFill>
                <a:blip r:embed="rId11"/>
                <a:stretch>
                  <a:fillRect l="-2966" t="-8108"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4697D1F0-ACDA-961C-258F-A0A482F77689}"/>
                  </a:ext>
                </a:extLst>
              </p:cNvPr>
              <p:cNvSpPr txBox="1"/>
              <p:nvPr/>
            </p:nvSpPr>
            <p:spPr>
              <a:xfrm>
                <a:off x="8791323" y="2911632"/>
                <a:ext cx="2550506" cy="5091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2400" i="0" smtClean="0">
                          <a:solidFill>
                            <a:srgbClr val="C00000"/>
                          </a:solidFill>
                          <a:latin typeface="Cambria Math" panose="02040503050406030204" pitchFamily="18" charset="0"/>
                        </a:rPr>
                        <m:t>U</m:t>
                      </m:r>
                      <m:r>
                        <m:rPr>
                          <m:sty m:val="p"/>
                        </m:rPr>
                        <a:rPr lang="en-US" sz="2400" b="0" i="0" smtClean="0">
                          <a:solidFill>
                            <a:srgbClr val="C00000"/>
                          </a:solidFill>
                          <a:latin typeface="Cambria Math" panose="02040503050406030204" pitchFamily="18" charset="0"/>
                        </a:rPr>
                        <m:t>ser</m:t>
                      </m:r>
                      <m:d>
                        <m:dPr>
                          <m:ctrlPr>
                            <a:rPr lang="en-US" sz="2400" b="0" i="1" smtClean="0">
                              <a:solidFill>
                                <a:srgbClr val="C00000"/>
                              </a:solidFill>
                              <a:latin typeface="Cambria Math" panose="02040503050406030204" pitchFamily="18" charset="0"/>
                            </a:rPr>
                          </m:ctrlPr>
                        </m:dPr>
                        <m:e>
                          <m:r>
                            <a:rPr lang="en-US" sz="2400" b="0" i="1" smtClean="0">
                              <a:solidFill>
                                <a:srgbClr val="C00000"/>
                              </a:solidFill>
                              <a:latin typeface="Cambria Math" panose="02040503050406030204" pitchFamily="18" charset="0"/>
                            </a:rPr>
                            <m:t>𝑝</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𝑘</m:t>
                              </m:r>
                            </m:e>
                            <m:sub>
                              <m:r>
                                <a:rPr lang="en-US" sz="2400" b="0" i="1" smtClean="0">
                                  <a:solidFill>
                                    <a:srgbClr val="C00000"/>
                                  </a:solidFill>
                                  <a:latin typeface="Cambria Math" panose="02040503050406030204" pitchFamily="18" charset="0"/>
                                </a:rPr>
                                <m:t>𝐼</m:t>
                              </m:r>
                            </m:sub>
                          </m:sSub>
                          <m:r>
                            <a:rPr lang="en-US" sz="2400" b="0" i="1" smtClean="0">
                              <a:solidFill>
                                <a:srgbClr val="C00000"/>
                              </a:solidFill>
                              <a:latin typeface="Cambria Math" panose="02040503050406030204" pitchFamily="18" charset="0"/>
                            </a:rPr>
                            <m:t>,</m:t>
                          </m:r>
                          <m:r>
                            <a:rPr lang="en-US" sz="2400" b="0" i="1" smtClean="0">
                              <a:solidFill>
                                <a:srgbClr val="C00000"/>
                              </a:solidFill>
                              <a:latin typeface="Cambria Math" panose="02040503050406030204" pitchFamily="18" charset="0"/>
                            </a:rPr>
                            <m:t>𝑠</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𝑡</m:t>
                              </m:r>
                            </m:e>
                            <m:sub>
                              <m:r>
                                <a:rPr lang="en-US" sz="2400" b="0" i="1" smtClean="0">
                                  <a:solidFill>
                                    <a:srgbClr val="C00000"/>
                                  </a:solidFill>
                                  <a:latin typeface="Cambria Math" panose="02040503050406030204" pitchFamily="18" charset="0"/>
                                </a:rPr>
                                <m:t>𝑈</m:t>
                              </m:r>
                              <m:r>
                                <a:rPr lang="en-US" sz="2400" b="0" i="1" smtClean="0">
                                  <a:solidFill>
                                    <a:srgbClr val="C00000"/>
                                  </a:solidFill>
                                  <a:latin typeface="Cambria Math" panose="02040503050406030204" pitchFamily="18" charset="0"/>
                                </a:rPr>
                                <m:t>,</m:t>
                              </m:r>
                              <m:r>
                                <m:rPr>
                                  <m:sty m:val="p"/>
                                </m:rPr>
                                <a:rPr lang="en-US" sz="2400" b="0" i="1" smtClean="0">
                                  <a:solidFill>
                                    <a:srgbClr val="C00000"/>
                                  </a:solidFill>
                                  <a:latin typeface="Cambria Math" panose="02040503050406030204" pitchFamily="18" charset="0"/>
                                </a:rPr>
                                <m:t>uid</m:t>
                              </m:r>
                            </m:sub>
                          </m:sSub>
                        </m:e>
                      </m:d>
                    </m:oMath>
                  </m:oMathPara>
                </a14:m>
                <a:endParaRPr lang="en-US" dirty="0">
                  <a:solidFill>
                    <a:srgbClr val="C00000"/>
                  </a:solidFill>
                </a:endParaRPr>
              </a:p>
            </p:txBody>
          </p:sp>
        </mc:Choice>
        <mc:Fallback xmlns="">
          <p:sp>
            <p:nvSpPr>
              <p:cNvPr id="31" name="TextBox 30">
                <a:extLst>
                  <a:ext uri="{FF2B5EF4-FFF2-40B4-BE49-F238E27FC236}">
                    <a16:creationId xmlns:a16="http://schemas.microsoft.com/office/drawing/2014/main" id="{4697D1F0-ACDA-961C-258F-A0A482F77689}"/>
                  </a:ext>
                </a:extLst>
              </p:cNvPr>
              <p:cNvSpPr txBox="1">
                <a:spLocks noRot="1" noChangeAspect="1" noMove="1" noResize="1" noEditPoints="1" noAdjustHandles="1" noChangeArrowheads="1" noChangeShapeType="1" noTextEdit="1"/>
              </p:cNvSpPr>
              <p:nvPr/>
            </p:nvSpPr>
            <p:spPr>
              <a:xfrm>
                <a:off x="8791323" y="2911632"/>
                <a:ext cx="2550506" cy="509178"/>
              </a:xfrm>
              <a:prstGeom prst="rect">
                <a:avLst/>
              </a:prstGeom>
              <a:blipFill>
                <a:blip r:embed="rId12"/>
                <a:stretch>
                  <a:fillRect b="-48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C479C9B6-7F15-BB9D-7CB8-EFC0AEC9768E}"/>
                  </a:ext>
                </a:extLst>
              </p:cNvPr>
              <p:cNvSpPr txBox="1"/>
              <p:nvPr/>
            </p:nvSpPr>
            <p:spPr>
              <a:xfrm>
                <a:off x="-800537" y="1461047"/>
                <a:ext cx="4534062" cy="8785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sz="2400" b="0" i="1" smtClean="0">
                              <a:solidFill>
                                <a:srgbClr val="C00000"/>
                              </a:solidFill>
                              <a:latin typeface="Cambria Math" panose="02040503050406030204" pitchFamily="18" charset="0"/>
                            </a:rPr>
                          </m:ctrlPr>
                        </m:dPr>
                        <m:e>
                          <m:r>
                            <a:rPr lang="en-US" sz="2400" i="1">
                              <a:solidFill>
                                <a:srgbClr val="C00000"/>
                              </a:solidFill>
                              <a:latin typeface="Cambria Math" panose="02040503050406030204" pitchFamily="18" charset="0"/>
                            </a:rPr>
                            <m:t>𝑝</m:t>
                          </m:r>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𝑘</m:t>
                              </m:r>
                            </m:e>
                            <m:sub>
                              <m:r>
                                <a:rPr lang="en-US" sz="2400" i="1">
                                  <a:solidFill>
                                    <a:srgbClr val="C00000"/>
                                  </a:solidFill>
                                  <a:latin typeface="Cambria Math" panose="02040503050406030204" pitchFamily="18" charset="0"/>
                                </a:rPr>
                                <m:t>𝑈</m:t>
                              </m:r>
                              <m:r>
                                <a:rPr lang="en-US" sz="2400" i="1">
                                  <a:solidFill>
                                    <a:srgbClr val="C00000"/>
                                  </a:solidFill>
                                  <a:latin typeface="Cambria Math" panose="02040503050406030204" pitchFamily="18" charset="0"/>
                                </a:rPr>
                                <m:t>,</m:t>
                              </m:r>
                              <m:r>
                                <m:rPr>
                                  <m:sty m:val="p"/>
                                </m:rPr>
                                <a:rPr lang="en-US" sz="2400" i="1">
                                  <a:solidFill>
                                    <a:srgbClr val="C00000"/>
                                  </a:solidFill>
                                  <a:latin typeface="Cambria Math" panose="02040503050406030204" pitchFamily="18" charset="0"/>
                                </a:rPr>
                                <m:t>uid</m:t>
                              </m:r>
                            </m:sub>
                          </m:sSub>
                          <m:r>
                            <m:rPr>
                              <m:nor/>
                            </m:rPr>
                            <a:rPr lang="en-US" sz="2400" dirty="0">
                              <a:solidFill>
                                <a:srgbClr val="C00000"/>
                              </a:solidFill>
                            </a:rPr>
                            <m:t> </m:t>
                          </m:r>
                          <m:r>
                            <a:rPr lang="en-US" sz="2400" b="0" i="1" dirty="0" smtClean="0">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𝑠</m:t>
                          </m:r>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𝑡</m:t>
                              </m:r>
                            </m:e>
                            <m:sub>
                              <m:r>
                                <a:rPr lang="en-US" sz="2400" i="1">
                                  <a:solidFill>
                                    <a:srgbClr val="C00000"/>
                                  </a:solidFill>
                                  <a:latin typeface="Cambria Math" panose="02040503050406030204" pitchFamily="18" charset="0"/>
                                </a:rPr>
                                <m:t>𝑈</m:t>
                              </m:r>
                              <m:r>
                                <a:rPr lang="en-US" sz="2400" i="1">
                                  <a:solidFill>
                                    <a:srgbClr val="C00000"/>
                                  </a:solidFill>
                                  <a:latin typeface="Cambria Math" panose="02040503050406030204" pitchFamily="18" charset="0"/>
                                </a:rPr>
                                <m:t>,</m:t>
                              </m:r>
                              <m:r>
                                <m:rPr>
                                  <m:sty m:val="p"/>
                                </m:rPr>
                                <a:rPr lang="en-US" sz="2400" i="1">
                                  <a:solidFill>
                                    <a:srgbClr val="C00000"/>
                                  </a:solidFill>
                                  <a:latin typeface="Cambria Math" panose="02040503050406030204" pitchFamily="18" charset="0"/>
                                </a:rPr>
                                <m:t>uid</m:t>
                              </m:r>
                            </m:sub>
                          </m:sSub>
                        </m:e>
                      </m:d>
                      <m:r>
                        <a:rPr lang="en-US" sz="2400" b="0" i="1" smtClean="0">
                          <a:solidFill>
                            <a:srgbClr val="C00000"/>
                          </a:solidFill>
                          <a:latin typeface="Cambria Math" panose="02040503050406030204" pitchFamily="18" charset="0"/>
                        </a:rPr>
                        <m:t>←</m:t>
                      </m:r>
                    </m:oMath>
                  </m:oMathPara>
                </a14:m>
                <a:endParaRPr lang="en-US" sz="2400" b="0" i="1" dirty="0">
                  <a:solidFill>
                    <a:srgbClr val="C00000"/>
                  </a:solidFill>
                  <a:latin typeface="Cambria Math" panose="02040503050406030204" pitchFamily="18" charset="0"/>
                </a:endParaRPr>
              </a:p>
              <a:p>
                <a:r>
                  <a:rPr lang="en-US" sz="2400" b="0" dirty="0">
                    <a:solidFill>
                      <a:srgbClr val="C00000"/>
                    </a:solidFill>
                  </a:rPr>
                  <a:t>			</a:t>
                </a:r>
                <a14:m>
                  <m:oMath xmlns:m="http://schemas.openxmlformats.org/officeDocument/2006/math">
                    <m:r>
                      <m:rPr>
                        <m:sty m:val="p"/>
                      </m:rPr>
                      <a:rPr lang="en-US" sz="2400" b="0" i="0" smtClean="0">
                        <a:solidFill>
                          <a:srgbClr val="C00000"/>
                        </a:solidFill>
                        <a:latin typeface="Cambria Math" panose="02040503050406030204" pitchFamily="18" charset="0"/>
                      </a:rPr>
                      <m:t>UKGen</m:t>
                    </m:r>
                    <m:d>
                      <m:dPr>
                        <m:ctrlPr>
                          <a:rPr lang="en-US" sz="2400" b="0" i="1" smtClean="0">
                            <a:solidFill>
                              <a:srgbClr val="C00000"/>
                            </a:solidFill>
                            <a:latin typeface="Cambria Math" panose="02040503050406030204" pitchFamily="18" charset="0"/>
                          </a:rPr>
                        </m:ctrlPr>
                      </m:dPr>
                      <m:e>
                        <m:r>
                          <a:rPr lang="en-US" sz="2400" b="0" i="1" smtClean="0">
                            <a:solidFill>
                              <a:srgbClr val="C00000"/>
                            </a:solidFill>
                            <a:latin typeface="Cambria Math" panose="02040503050406030204" pitchFamily="18" charset="0"/>
                          </a:rPr>
                          <m:t>𝑐𝑟𝑠</m:t>
                        </m:r>
                      </m:e>
                    </m:d>
                  </m:oMath>
                </a14:m>
                <a:endParaRPr lang="en-US" dirty="0">
                  <a:solidFill>
                    <a:srgbClr val="C00000"/>
                  </a:solidFill>
                </a:endParaRPr>
              </a:p>
            </p:txBody>
          </p:sp>
        </mc:Choice>
        <mc:Fallback xmlns="">
          <p:sp>
            <p:nvSpPr>
              <p:cNvPr id="38" name="TextBox 37">
                <a:extLst>
                  <a:ext uri="{FF2B5EF4-FFF2-40B4-BE49-F238E27FC236}">
                    <a16:creationId xmlns:a16="http://schemas.microsoft.com/office/drawing/2014/main" id="{C479C9B6-7F15-BB9D-7CB8-EFC0AEC9768E}"/>
                  </a:ext>
                </a:extLst>
              </p:cNvPr>
              <p:cNvSpPr txBox="1">
                <a:spLocks noRot="1" noChangeAspect="1" noMove="1" noResize="1" noEditPoints="1" noAdjustHandles="1" noChangeArrowheads="1" noChangeShapeType="1" noTextEdit="1"/>
              </p:cNvSpPr>
              <p:nvPr/>
            </p:nvSpPr>
            <p:spPr>
              <a:xfrm>
                <a:off x="-800537" y="1461047"/>
                <a:ext cx="4534062" cy="878510"/>
              </a:xfrm>
              <a:prstGeom prst="rect">
                <a:avLst/>
              </a:prstGeom>
              <a:blipFill>
                <a:blip r:embed="rId13"/>
                <a:stretch>
                  <a:fillRect t="-1429"/>
                </a:stretch>
              </a:blipFill>
            </p:spPr>
            <p:txBody>
              <a:bodyPr/>
              <a:lstStyle/>
              <a:p>
                <a:r>
                  <a:rPr lang="en-US">
                    <a:noFill/>
                  </a:rPr>
                  <a:t> </a:t>
                </a:r>
              </a:p>
            </p:txBody>
          </p:sp>
        </mc:Fallback>
      </mc:AlternateContent>
    </p:spTree>
    <p:extLst>
      <p:ext uri="{BB962C8B-B14F-4D97-AF65-F5344CB8AC3E}">
        <p14:creationId xmlns:p14="http://schemas.microsoft.com/office/powerpoint/2010/main" val="3775837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5" grpId="0"/>
      <p:bldP spid="31" grpId="0"/>
      <p:bldP spid="3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03122-8669-FFF8-1E09-EB9403AA8F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7B1B31-9144-08A7-2A5B-850B5978413F}"/>
              </a:ext>
            </a:extLst>
          </p:cNvPr>
          <p:cNvSpPr>
            <a:spLocks noGrp="1"/>
          </p:cNvSpPr>
          <p:nvPr>
            <p:ph type="title"/>
          </p:nvPr>
        </p:nvSpPr>
        <p:spPr/>
        <p:txBody>
          <a:bodyPr/>
          <a:lstStyle/>
          <a:p>
            <a:r>
              <a:rPr lang="en-US" dirty="0">
                <a:latin typeface="Candara" panose="020E0502030303020204" pitchFamily="34" charset="0"/>
              </a:rPr>
              <a:t>Anonymity: Ideal World</a:t>
            </a:r>
          </a:p>
        </p:txBody>
      </p:sp>
      <p:cxnSp>
        <p:nvCxnSpPr>
          <p:cNvPr id="9" name="Straight Arrow Connector 8">
            <a:extLst>
              <a:ext uri="{FF2B5EF4-FFF2-40B4-BE49-F238E27FC236}">
                <a16:creationId xmlns:a16="http://schemas.microsoft.com/office/drawing/2014/main" id="{CFCE5854-A441-1578-6E2B-FF7658544B1D}"/>
              </a:ext>
            </a:extLst>
          </p:cNvPr>
          <p:cNvCxnSpPr/>
          <p:nvPr/>
        </p:nvCxnSpPr>
        <p:spPr>
          <a:xfrm rot="5400000" flipV="1">
            <a:off x="2573123" y="3845282"/>
            <a:ext cx="0" cy="1420319"/>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9B3CF1FE-19D8-C33F-94EB-FCFD0E0C0A6D}"/>
              </a:ext>
            </a:extLst>
          </p:cNvPr>
          <p:cNvCxnSpPr>
            <a:cxnSpLocks/>
          </p:cNvCxnSpPr>
          <p:nvPr/>
        </p:nvCxnSpPr>
        <p:spPr>
          <a:xfrm rot="5400000">
            <a:off x="2542015" y="5226268"/>
            <a:ext cx="0" cy="1420319"/>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ACF55CE-0C41-4163-20A0-61A36C3AB739}"/>
                  </a:ext>
                </a:extLst>
              </p:cNvPr>
              <p:cNvSpPr txBox="1"/>
              <p:nvPr/>
            </p:nvSpPr>
            <p:spPr>
              <a:xfrm>
                <a:off x="2021318" y="6104548"/>
                <a:ext cx="1041394" cy="4616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𝑏</m:t>
                      </m:r>
                      <m:r>
                        <a:rPr lang="en-US" sz="2400" b="0" i="1" smtClean="0">
                          <a:solidFill>
                            <a:srgbClr val="C00000"/>
                          </a:solidFill>
                          <a:latin typeface="Cambria Math" panose="02040503050406030204" pitchFamily="18" charset="0"/>
                        </a:rPr>
                        <m:t>′</m:t>
                      </m:r>
                    </m:oMath>
                  </m:oMathPara>
                </a14:m>
                <a:endParaRPr lang="en-US" sz="2400" dirty="0">
                  <a:solidFill>
                    <a:srgbClr val="C00000"/>
                  </a:solidFill>
                </a:endParaRPr>
              </a:p>
            </p:txBody>
          </p:sp>
        </mc:Choice>
        <mc:Fallback xmlns="">
          <p:sp>
            <p:nvSpPr>
              <p:cNvPr id="11" name="TextBox 10">
                <a:extLst>
                  <a:ext uri="{FF2B5EF4-FFF2-40B4-BE49-F238E27FC236}">
                    <a16:creationId xmlns:a16="http://schemas.microsoft.com/office/drawing/2014/main" id="{23C73398-281A-FE1F-A969-05D4045F47C1}"/>
                  </a:ext>
                </a:extLst>
              </p:cNvPr>
              <p:cNvSpPr txBox="1">
                <a:spLocks noRot="1" noChangeAspect="1" noMove="1" noResize="1" noEditPoints="1" noAdjustHandles="1" noChangeArrowheads="1" noChangeShapeType="1" noTextEdit="1"/>
              </p:cNvSpPr>
              <p:nvPr/>
            </p:nvSpPr>
            <p:spPr>
              <a:xfrm>
                <a:off x="2021318" y="6104548"/>
                <a:ext cx="1041394" cy="46166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72E70AE-3A0B-9353-2CC5-C22633000D71}"/>
                  </a:ext>
                </a:extLst>
              </p:cNvPr>
              <p:cNvSpPr txBox="1"/>
              <p:nvPr/>
            </p:nvSpPr>
            <p:spPr>
              <a:xfrm>
                <a:off x="3594970" y="6142997"/>
                <a:ext cx="2919896" cy="523220"/>
              </a:xfrm>
              <a:prstGeom prst="rect">
                <a:avLst/>
              </a:prstGeom>
              <a:noFill/>
            </p:spPr>
            <p:txBody>
              <a:bodyPr wrap="square">
                <a:spAutoFit/>
              </a:bodyPr>
              <a:lstStyle/>
              <a:p>
                <a:r>
                  <a:rPr lang="en-US" sz="2800" dirty="0">
                    <a:solidFill>
                      <a:srgbClr val="C00000"/>
                    </a:solidFill>
                    <a:ea typeface="Cambria Math" panose="02040503050406030204" pitchFamily="18" charset="0"/>
                  </a:rPr>
                  <a:t>Adversary </a:t>
                </a:r>
                <a14:m>
                  <m:oMath xmlns:m="http://schemas.openxmlformats.org/officeDocument/2006/math">
                    <m:r>
                      <a:rPr lang="en-US" sz="2800" i="1" smtClean="0">
                        <a:solidFill>
                          <a:srgbClr val="C00000"/>
                        </a:solidFill>
                        <a:latin typeface="Cambria Math" panose="02040503050406030204" pitchFamily="18" charset="0"/>
                        <a:ea typeface="Cambria Math" panose="02040503050406030204" pitchFamily="18" charset="0"/>
                      </a:rPr>
                      <m:t>𝒜</m:t>
                    </m:r>
                  </m:oMath>
                </a14:m>
                <a:endParaRPr lang="en-US" sz="2800" dirty="0">
                  <a:solidFill>
                    <a:srgbClr val="C00000"/>
                  </a:solidFill>
                </a:endParaRPr>
              </a:p>
            </p:txBody>
          </p:sp>
        </mc:Choice>
        <mc:Fallback xmlns="">
          <p:sp>
            <p:nvSpPr>
              <p:cNvPr id="12" name="TextBox 11">
                <a:extLst>
                  <a:ext uri="{FF2B5EF4-FFF2-40B4-BE49-F238E27FC236}">
                    <a16:creationId xmlns:a16="http://schemas.microsoft.com/office/drawing/2014/main" id="{372E70AE-3A0B-9353-2CC5-C22633000D71}"/>
                  </a:ext>
                </a:extLst>
              </p:cNvPr>
              <p:cNvSpPr txBox="1">
                <a:spLocks noRot="1" noChangeAspect="1" noMove="1" noResize="1" noEditPoints="1" noAdjustHandles="1" noChangeArrowheads="1" noChangeShapeType="1" noTextEdit="1"/>
              </p:cNvSpPr>
              <p:nvPr/>
            </p:nvSpPr>
            <p:spPr>
              <a:xfrm>
                <a:off x="3594970" y="6142997"/>
                <a:ext cx="2919896" cy="523220"/>
              </a:xfrm>
              <a:prstGeom prst="rect">
                <a:avLst/>
              </a:prstGeom>
              <a:blipFill>
                <a:blip r:embed="rId4"/>
                <a:stretch>
                  <a:fillRect l="-4329" t="-11628" b="-27907"/>
                </a:stretch>
              </a:blipFill>
            </p:spPr>
            <p:txBody>
              <a:bodyPr/>
              <a:lstStyle/>
              <a:p>
                <a:r>
                  <a:rPr lang="en-US">
                    <a:noFill/>
                  </a:rPr>
                  <a:t> </a:t>
                </a:r>
              </a:p>
            </p:txBody>
          </p:sp>
        </mc:Fallback>
      </mc:AlternateContent>
      <p:sp>
        <p:nvSpPr>
          <p:cNvPr id="13" name="Rounded Rectangle 12">
            <a:extLst>
              <a:ext uri="{FF2B5EF4-FFF2-40B4-BE49-F238E27FC236}">
                <a16:creationId xmlns:a16="http://schemas.microsoft.com/office/drawing/2014/main" id="{0519F1D5-ECFC-D694-6273-B22FAAB00941}"/>
              </a:ext>
            </a:extLst>
          </p:cNvPr>
          <p:cNvSpPr/>
          <p:nvPr/>
        </p:nvSpPr>
        <p:spPr>
          <a:xfrm>
            <a:off x="7004919" y="2403058"/>
            <a:ext cx="1786404" cy="1220405"/>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C00000"/>
                </a:solidFill>
              </a:rPr>
              <a:t>User</a:t>
            </a:r>
          </a:p>
        </p:txBody>
      </p:sp>
      <p:sp>
        <p:nvSpPr>
          <p:cNvPr id="14" name="Rounded Rectangle 13">
            <a:extLst>
              <a:ext uri="{FF2B5EF4-FFF2-40B4-BE49-F238E27FC236}">
                <a16:creationId xmlns:a16="http://schemas.microsoft.com/office/drawing/2014/main" id="{650BE83E-1F58-FC38-446B-F59C8676641D}"/>
              </a:ext>
            </a:extLst>
          </p:cNvPr>
          <p:cNvSpPr/>
          <p:nvPr/>
        </p:nvSpPr>
        <p:spPr>
          <a:xfrm>
            <a:off x="8190007" y="4817412"/>
            <a:ext cx="1584344" cy="1259174"/>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C00000"/>
                </a:solidFill>
              </a:rPr>
              <a:t>Show</a:t>
            </a:r>
          </a:p>
        </p:txBody>
      </p:sp>
      <p:cxnSp>
        <p:nvCxnSpPr>
          <p:cNvPr id="17" name="Straight Arrow Connector 16">
            <a:extLst>
              <a:ext uri="{FF2B5EF4-FFF2-40B4-BE49-F238E27FC236}">
                <a16:creationId xmlns:a16="http://schemas.microsoft.com/office/drawing/2014/main" id="{3E587C22-2622-5E18-BF03-217232CF2694}"/>
              </a:ext>
            </a:extLst>
          </p:cNvPr>
          <p:cNvCxnSpPr>
            <a:cxnSpLocks/>
          </p:cNvCxnSpPr>
          <p:nvPr/>
        </p:nvCxnSpPr>
        <p:spPr>
          <a:xfrm>
            <a:off x="5896079" y="5390154"/>
            <a:ext cx="1776930"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86C950EC-25F1-7BFF-CD6A-9875D5D6DA24}"/>
              </a:ext>
            </a:extLst>
          </p:cNvPr>
          <p:cNvSpPr txBox="1"/>
          <p:nvPr/>
        </p:nvSpPr>
        <p:spPr>
          <a:xfrm>
            <a:off x="6205772" y="4846934"/>
            <a:ext cx="1252190" cy="461665"/>
          </a:xfrm>
          <a:prstGeom prst="rect">
            <a:avLst/>
          </a:prstGeom>
          <a:noFill/>
        </p:spPr>
        <p:txBody>
          <a:bodyPr wrap="square">
            <a:spAutoFit/>
          </a:bodyPr>
          <a:lstStyle/>
          <a:p>
            <a:r>
              <a:rPr lang="en-US" sz="2400" dirty="0" err="1">
                <a:solidFill>
                  <a:srgbClr val="C00000"/>
                </a:solidFill>
                <a:latin typeface="Cambria Math" panose="02040503050406030204" pitchFamily="18" charset="0"/>
                <a:ea typeface="Cambria Math" panose="02040503050406030204" pitchFamily="18" charset="0"/>
              </a:rPr>
              <a:t>sid,ctxt</a:t>
            </a:r>
            <a:endParaRPr lang="en-US" sz="2400" dirty="0">
              <a:solidFill>
                <a:srgbClr val="C00000"/>
              </a:solidFill>
              <a:latin typeface="Cambria Math" panose="02040503050406030204" pitchFamily="18" charset="0"/>
              <a:ea typeface="Cambria Math" panose="02040503050406030204" pitchFamily="18" charset="0"/>
            </a:endParaRPr>
          </a:p>
        </p:txBody>
      </p:sp>
      <p:cxnSp>
        <p:nvCxnSpPr>
          <p:cNvPr id="19" name="Straight Arrow Connector 18">
            <a:extLst>
              <a:ext uri="{FF2B5EF4-FFF2-40B4-BE49-F238E27FC236}">
                <a16:creationId xmlns:a16="http://schemas.microsoft.com/office/drawing/2014/main" id="{6D443CD1-5B57-78C6-BF4E-976553D8E770}"/>
              </a:ext>
            </a:extLst>
          </p:cNvPr>
          <p:cNvCxnSpPr>
            <a:cxnSpLocks/>
          </p:cNvCxnSpPr>
          <p:nvPr/>
        </p:nvCxnSpPr>
        <p:spPr>
          <a:xfrm flipH="1">
            <a:off x="5883565" y="5618309"/>
            <a:ext cx="1789444"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E557DA3-5A05-8C65-D05C-03148E6ED54C}"/>
                  </a:ext>
                </a:extLst>
              </p:cNvPr>
              <p:cNvSpPr txBox="1"/>
              <p:nvPr/>
            </p:nvSpPr>
            <p:spPr>
              <a:xfrm>
                <a:off x="6418580" y="5649821"/>
                <a:ext cx="655175"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C00000"/>
                          </a:solidFill>
                          <a:latin typeface="Cambria Math" panose="02040503050406030204" pitchFamily="18" charset="0"/>
                        </a:rPr>
                        <m:t>𝑠</m:t>
                      </m:r>
                      <m:r>
                        <a:rPr lang="en-US" sz="2400" b="0" i="1" smtClean="0">
                          <a:solidFill>
                            <a:srgbClr val="C00000"/>
                          </a:solidFill>
                          <a:latin typeface="Cambria Math" panose="02040503050406030204" pitchFamily="18" charset="0"/>
                        </a:rPr>
                        <m:t>𝑛</m:t>
                      </m:r>
                      <m:r>
                        <a:rPr lang="en-US" sz="2400" b="0" i="1" smtClean="0">
                          <a:solidFill>
                            <a:srgbClr val="C00000"/>
                          </a:solidFill>
                          <a:latin typeface="Cambria Math" panose="02040503050406030204" pitchFamily="18" charset="0"/>
                        </a:rPr>
                        <m:t>, </m:t>
                      </m:r>
                      <m:r>
                        <a:rPr lang="en-US" sz="2400" b="0" i="1" smtClean="0">
                          <a:solidFill>
                            <a:srgbClr val="C00000"/>
                          </a:solidFill>
                          <a:latin typeface="Cambria Math" panose="02040503050406030204" pitchFamily="18" charset="0"/>
                        </a:rPr>
                        <m:t>𝜋</m:t>
                      </m:r>
                    </m:oMath>
                  </m:oMathPara>
                </a14:m>
                <a:endParaRPr lang="en-US" sz="2400" dirty="0"/>
              </a:p>
            </p:txBody>
          </p:sp>
        </mc:Choice>
        <mc:Fallback xmlns="">
          <p:sp>
            <p:nvSpPr>
              <p:cNvPr id="20" name="TextBox 19">
                <a:extLst>
                  <a:ext uri="{FF2B5EF4-FFF2-40B4-BE49-F238E27FC236}">
                    <a16:creationId xmlns:a16="http://schemas.microsoft.com/office/drawing/2014/main" id="{3E557DA3-5A05-8C65-D05C-03148E6ED54C}"/>
                  </a:ext>
                </a:extLst>
              </p:cNvPr>
              <p:cNvSpPr txBox="1">
                <a:spLocks noRot="1" noChangeAspect="1" noMove="1" noResize="1" noEditPoints="1" noAdjustHandles="1" noChangeArrowheads="1" noChangeShapeType="1" noTextEdit="1"/>
              </p:cNvSpPr>
              <p:nvPr/>
            </p:nvSpPr>
            <p:spPr>
              <a:xfrm>
                <a:off x="6418580" y="5649821"/>
                <a:ext cx="655175" cy="461665"/>
              </a:xfrm>
              <a:prstGeom prst="rect">
                <a:avLst/>
              </a:prstGeom>
              <a:blipFill>
                <a:blip r:embed="rId5"/>
                <a:stretch>
                  <a:fillRect r="-192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6661A81-33C3-F5FC-6B35-2F4EA0D13815}"/>
                  </a:ext>
                </a:extLst>
              </p:cNvPr>
              <p:cNvSpPr txBox="1"/>
              <p:nvPr/>
            </p:nvSpPr>
            <p:spPr>
              <a:xfrm>
                <a:off x="2206242" y="3902691"/>
                <a:ext cx="662468"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𝑐𝑟𝑠</m:t>
                      </m:r>
                    </m:oMath>
                  </m:oMathPara>
                </a14:m>
                <a:endParaRPr lang="en-US" sz="2400" dirty="0">
                  <a:solidFill>
                    <a:srgbClr val="C00000"/>
                  </a:solidFill>
                </a:endParaRPr>
              </a:p>
            </p:txBody>
          </p:sp>
        </mc:Choice>
        <mc:Fallback xmlns="">
          <p:sp>
            <p:nvSpPr>
              <p:cNvPr id="21" name="TextBox 20">
                <a:extLst>
                  <a:ext uri="{FF2B5EF4-FFF2-40B4-BE49-F238E27FC236}">
                    <a16:creationId xmlns:a16="http://schemas.microsoft.com/office/drawing/2014/main" id="{DF232FFA-85C6-12E9-35E1-64227416CA3B}"/>
                  </a:ext>
                </a:extLst>
              </p:cNvPr>
              <p:cNvSpPr txBox="1">
                <a:spLocks noRot="1" noChangeAspect="1" noMove="1" noResize="1" noEditPoints="1" noAdjustHandles="1" noChangeArrowheads="1" noChangeShapeType="1" noTextEdit="1"/>
              </p:cNvSpPr>
              <p:nvPr/>
            </p:nvSpPr>
            <p:spPr>
              <a:xfrm>
                <a:off x="2206242" y="3902691"/>
                <a:ext cx="662468" cy="461665"/>
              </a:xfrm>
              <a:prstGeom prst="rect">
                <a:avLst/>
              </a:prstGeom>
              <a:blipFill>
                <a:blip r:embed="rId6"/>
                <a:stretch>
                  <a:fillRect/>
                </a:stretch>
              </a:blipFill>
            </p:spPr>
            <p:txBody>
              <a:bodyPr/>
              <a:lstStyle/>
              <a:p>
                <a:r>
                  <a:rPr lang="en-US">
                    <a:noFill/>
                  </a:rPr>
                  <a:t> </a:t>
                </a:r>
              </a:p>
            </p:txBody>
          </p:sp>
        </mc:Fallback>
      </mc:AlternateContent>
      <p:cxnSp>
        <p:nvCxnSpPr>
          <p:cNvPr id="22" name="Straight Arrow Connector 21">
            <a:extLst>
              <a:ext uri="{FF2B5EF4-FFF2-40B4-BE49-F238E27FC236}">
                <a16:creationId xmlns:a16="http://schemas.microsoft.com/office/drawing/2014/main" id="{1D28D4E9-0C0C-3124-808A-FFA29AEFA318}"/>
              </a:ext>
            </a:extLst>
          </p:cNvPr>
          <p:cNvCxnSpPr>
            <a:cxnSpLocks/>
          </p:cNvCxnSpPr>
          <p:nvPr/>
        </p:nvCxnSpPr>
        <p:spPr>
          <a:xfrm flipH="1">
            <a:off x="1862963" y="5221299"/>
            <a:ext cx="1389212"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F9161A83-82EA-5114-B679-E71CE4F41AD4}"/>
                  </a:ext>
                </a:extLst>
              </p:cNvPr>
              <p:cNvSpPr txBox="1"/>
              <p:nvPr/>
            </p:nvSpPr>
            <p:spPr>
              <a:xfrm>
                <a:off x="2206242" y="4723562"/>
                <a:ext cx="662468"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𝑝</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𝑘</m:t>
                          </m:r>
                        </m:e>
                        <m:sub>
                          <m:r>
                            <a:rPr lang="en-US" sz="2400" b="0" i="1" smtClean="0">
                              <a:solidFill>
                                <a:srgbClr val="C00000"/>
                              </a:solidFill>
                              <a:latin typeface="Cambria Math" panose="02040503050406030204" pitchFamily="18" charset="0"/>
                            </a:rPr>
                            <m:t>𝐼</m:t>
                          </m:r>
                        </m:sub>
                      </m:sSub>
                    </m:oMath>
                  </m:oMathPara>
                </a14:m>
                <a:endParaRPr lang="en-US" sz="2400" dirty="0">
                  <a:solidFill>
                    <a:srgbClr val="C00000"/>
                  </a:solidFill>
                </a:endParaRPr>
              </a:p>
            </p:txBody>
          </p:sp>
        </mc:Choice>
        <mc:Fallback xmlns="">
          <p:sp>
            <p:nvSpPr>
              <p:cNvPr id="23" name="TextBox 22">
                <a:extLst>
                  <a:ext uri="{FF2B5EF4-FFF2-40B4-BE49-F238E27FC236}">
                    <a16:creationId xmlns:a16="http://schemas.microsoft.com/office/drawing/2014/main" id="{3CD68F90-CDE1-FE19-9782-DB33CFF4FF03}"/>
                  </a:ext>
                </a:extLst>
              </p:cNvPr>
              <p:cNvSpPr txBox="1">
                <a:spLocks noRot="1" noChangeAspect="1" noMove="1" noResize="1" noEditPoints="1" noAdjustHandles="1" noChangeArrowheads="1" noChangeShapeType="1" noTextEdit="1"/>
              </p:cNvSpPr>
              <p:nvPr/>
            </p:nvSpPr>
            <p:spPr>
              <a:xfrm>
                <a:off x="2206242" y="4723562"/>
                <a:ext cx="662468" cy="461665"/>
              </a:xfrm>
              <a:prstGeom prst="rect">
                <a:avLst/>
              </a:prstGeom>
              <a:blipFill>
                <a:blip r:embed="rId7"/>
                <a:stretch>
                  <a:fillRect b="-8108"/>
                </a:stretch>
              </a:blipFill>
            </p:spPr>
            <p:txBody>
              <a:bodyPr/>
              <a:lstStyle/>
              <a:p>
                <a:r>
                  <a:rPr lang="en-US">
                    <a:noFill/>
                  </a:rPr>
                  <a:t> </a:t>
                </a:r>
              </a:p>
            </p:txBody>
          </p:sp>
        </mc:Fallback>
      </mc:AlternateContent>
      <p:pic>
        <p:nvPicPr>
          <p:cNvPr id="32" name="Picture 2" descr="Cartoon Devil Images – Browse 449,268 Stock Photos, Vectors, and Video |  Adobe Stock">
            <a:extLst>
              <a:ext uri="{FF2B5EF4-FFF2-40B4-BE49-F238E27FC236}">
                <a16:creationId xmlns:a16="http://schemas.microsoft.com/office/drawing/2014/main" id="{05A32347-A453-5D80-FF2A-FDA51992BD3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26562" y="4211188"/>
            <a:ext cx="1893360" cy="1893360"/>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a:extLst>
              <a:ext uri="{FF2B5EF4-FFF2-40B4-BE49-F238E27FC236}">
                <a16:creationId xmlns:a16="http://schemas.microsoft.com/office/drawing/2014/main" id="{4121A218-C37F-600B-9D93-6D7609FBAF42}"/>
              </a:ext>
            </a:extLst>
          </p:cNvPr>
          <p:cNvGrpSpPr/>
          <p:nvPr/>
        </p:nvGrpSpPr>
        <p:grpSpPr>
          <a:xfrm rot="3165241">
            <a:off x="5987511" y="3490627"/>
            <a:ext cx="720766" cy="1263175"/>
            <a:chOff x="4357771" y="2866836"/>
            <a:chExt cx="720766" cy="1263175"/>
          </a:xfrm>
        </p:grpSpPr>
        <p:cxnSp>
          <p:nvCxnSpPr>
            <p:cNvPr id="15" name="Straight Arrow Connector 14">
              <a:extLst>
                <a:ext uri="{FF2B5EF4-FFF2-40B4-BE49-F238E27FC236}">
                  <a16:creationId xmlns:a16="http://schemas.microsoft.com/office/drawing/2014/main" id="{45D0668A-E009-2935-7DB7-E53FFD449834}"/>
                </a:ext>
              </a:extLst>
            </p:cNvPr>
            <p:cNvCxnSpPr>
              <a:cxnSpLocks/>
            </p:cNvCxnSpPr>
            <p:nvPr/>
          </p:nvCxnSpPr>
          <p:spPr>
            <a:xfrm flipV="1">
              <a:off x="4357771" y="2892188"/>
              <a:ext cx="0" cy="1237823"/>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C8169259-0735-9CC9-1150-516BDA3FE9E9}"/>
                </a:ext>
              </a:extLst>
            </p:cNvPr>
            <p:cNvCxnSpPr>
              <a:cxnSpLocks/>
            </p:cNvCxnSpPr>
            <p:nvPr/>
          </p:nvCxnSpPr>
          <p:spPr>
            <a:xfrm>
              <a:off x="4571817" y="2866836"/>
              <a:ext cx="0" cy="1238738"/>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46ABC7C8-7560-1677-5D25-4EAAE82607EE}"/>
                </a:ext>
              </a:extLst>
            </p:cNvPr>
            <p:cNvCxnSpPr>
              <a:cxnSpLocks/>
            </p:cNvCxnSpPr>
            <p:nvPr/>
          </p:nvCxnSpPr>
          <p:spPr>
            <a:xfrm flipV="1">
              <a:off x="4818001" y="2867751"/>
              <a:ext cx="0" cy="1237823"/>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CCA81BD8-086C-E06F-CE80-DA55AA372286}"/>
                </a:ext>
              </a:extLst>
            </p:cNvPr>
            <p:cNvCxnSpPr>
              <a:cxnSpLocks/>
            </p:cNvCxnSpPr>
            <p:nvPr/>
          </p:nvCxnSpPr>
          <p:spPr>
            <a:xfrm>
              <a:off x="5078537" y="2878661"/>
              <a:ext cx="0" cy="1238738"/>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grpSp>
      <p:sp>
        <p:nvSpPr>
          <p:cNvPr id="42" name="TextBox 41">
            <a:extLst>
              <a:ext uri="{FF2B5EF4-FFF2-40B4-BE49-F238E27FC236}">
                <a16:creationId xmlns:a16="http://schemas.microsoft.com/office/drawing/2014/main" id="{7E9BB177-27D7-FEB8-F0A9-F42633BE8CDE}"/>
              </a:ext>
            </a:extLst>
          </p:cNvPr>
          <p:cNvSpPr txBox="1"/>
          <p:nvPr/>
        </p:nvSpPr>
        <p:spPr>
          <a:xfrm>
            <a:off x="29112" y="5827548"/>
            <a:ext cx="2216524" cy="1015663"/>
          </a:xfrm>
          <a:prstGeom prst="rect">
            <a:avLst/>
          </a:prstGeom>
          <a:noFill/>
        </p:spPr>
        <p:txBody>
          <a:bodyPr wrap="square" rtlCol="0">
            <a:spAutoFit/>
          </a:bodyPr>
          <a:lstStyle/>
          <a:p>
            <a:r>
              <a:rPr lang="en-US" sz="2000" dirty="0">
                <a:solidFill>
                  <a:srgbClr val="C00000"/>
                </a:solidFill>
              </a:rPr>
              <a:t>Wins if guess correctly whether real or simulated</a:t>
            </a:r>
          </a:p>
        </p:txBody>
      </p:sp>
      <p:sp>
        <p:nvSpPr>
          <p:cNvPr id="4" name="Rounded Rectangle 3">
            <a:extLst>
              <a:ext uri="{FF2B5EF4-FFF2-40B4-BE49-F238E27FC236}">
                <a16:creationId xmlns:a16="http://schemas.microsoft.com/office/drawing/2014/main" id="{DA575DAE-E6F0-60AD-A5FD-44C130BD5966}"/>
              </a:ext>
            </a:extLst>
          </p:cNvPr>
          <p:cNvSpPr/>
          <p:nvPr/>
        </p:nvSpPr>
        <p:spPr>
          <a:xfrm>
            <a:off x="3626562" y="1665343"/>
            <a:ext cx="1786404" cy="1220405"/>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err="1">
                <a:solidFill>
                  <a:srgbClr val="C00000"/>
                </a:solidFill>
              </a:rPr>
              <a:t>NewUsr</a:t>
            </a:r>
            <a:endParaRPr lang="en-US" sz="2800" b="1" dirty="0">
              <a:solidFill>
                <a:srgbClr val="C00000"/>
              </a:solidFill>
            </a:endParaRPr>
          </a:p>
        </p:txBody>
      </p:sp>
      <p:grpSp>
        <p:nvGrpSpPr>
          <p:cNvPr id="7" name="Group 6">
            <a:extLst>
              <a:ext uri="{FF2B5EF4-FFF2-40B4-BE49-F238E27FC236}">
                <a16:creationId xmlns:a16="http://schemas.microsoft.com/office/drawing/2014/main" id="{C707E601-2B7D-8367-F3A7-7C5D20313549}"/>
              </a:ext>
            </a:extLst>
          </p:cNvPr>
          <p:cNvGrpSpPr/>
          <p:nvPr/>
        </p:nvGrpSpPr>
        <p:grpSpPr>
          <a:xfrm rot="18377207">
            <a:off x="3912177" y="3531078"/>
            <a:ext cx="1369300" cy="197198"/>
            <a:chOff x="3951190" y="3731012"/>
            <a:chExt cx="1369300" cy="197198"/>
          </a:xfrm>
        </p:grpSpPr>
        <p:cxnSp>
          <p:nvCxnSpPr>
            <p:cNvPr id="5" name="Straight Arrow Connector 4">
              <a:extLst>
                <a:ext uri="{FF2B5EF4-FFF2-40B4-BE49-F238E27FC236}">
                  <a16:creationId xmlns:a16="http://schemas.microsoft.com/office/drawing/2014/main" id="{A95BE20E-F5F5-5034-3FBD-D32C355ADDA9}"/>
                </a:ext>
              </a:extLst>
            </p:cNvPr>
            <p:cNvCxnSpPr>
              <a:cxnSpLocks/>
            </p:cNvCxnSpPr>
            <p:nvPr/>
          </p:nvCxnSpPr>
          <p:spPr>
            <a:xfrm rot="3165241" flipV="1">
              <a:off x="4570102" y="3112100"/>
              <a:ext cx="0" cy="1237823"/>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8F2EA936-C262-5D09-E9B8-999C54F59D01}"/>
                </a:ext>
              </a:extLst>
            </p:cNvPr>
            <p:cNvCxnSpPr>
              <a:cxnSpLocks/>
            </p:cNvCxnSpPr>
            <p:nvPr/>
          </p:nvCxnSpPr>
          <p:spPr>
            <a:xfrm rot="3165241">
              <a:off x="4701121" y="3308841"/>
              <a:ext cx="0" cy="1238738"/>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grpSp>
      <p:sp>
        <p:nvSpPr>
          <p:cNvPr id="26" name="TextBox 25">
            <a:extLst>
              <a:ext uri="{FF2B5EF4-FFF2-40B4-BE49-F238E27FC236}">
                <a16:creationId xmlns:a16="http://schemas.microsoft.com/office/drawing/2014/main" id="{609FD974-11C1-91C2-0762-5CDE39A5959A}"/>
              </a:ext>
            </a:extLst>
          </p:cNvPr>
          <p:cNvSpPr txBox="1"/>
          <p:nvPr/>
        </p:nvSpPr>
        <p:spPr>
          <a:xfrm rot="19396160">
            <a:off x="5364782" y="3404347"/>
            <a:ext cx="1268722" cy="461665"/>
          </a:xfrm>
          <a:prstGeom prst="rect">
            <a:avLst/>
          </a:prstGeom>
          <a:noFill/>
        </p:spPr>
        <p:txBody>
          <a:bodyPr wrap="square">
            <a:spAutoFit/>
          </a:bodyPr>
          <a:lstStyle/>
          <a:p>
            <a:r>
              <a:rPr lang="en-US" sz="2400" dirty="0" err="1">
                <a:solidFill>
                  <a:srgbClr val="C00000"/>
                </a:solidFill>
                <a:latin typeface="Cambria Math" panose="02040503050406030204" pitchFamily="18" charset="0"/>
                <a:ea typeface="Cambria Math" panose="02040503050406030204" pitchFamily="18" charset="0"/>
              </a:rPr>
              <a:t>sid</a:t>
            </a:r>
            <a:r>
              <a:rPr lang="en-US" sz="2400" dirty="0">
                <a:solidFill>
                  <a:srgbClr val="C00000"/>
                </a:solidFill>
                <a:latin typeface="Cambria Math" panose="02040503050406030204" pitchFamily="18" charset="0"/>
                <a:ea typeface="Cambria Math" panose="02040503050406030204" pitchFamily="18" charset="0"/>
              </a:rPr>
              <a:t>, </a:t>
            </a:r>
            <a:r>
              <a:rPr lang="en-US" sz="2400" dirty="0" err="1">
                <a:solidFill>
                  <a:srgbClr val="C00000"/>
                </a:solidFill>
                <a:latin typeface="Cambria Math" panose="02040503050406030204" pitchFamily="18" charset="0"/>
                <a:ea typeface="Cambria Math" panose="02040503050406030204" pitchFamily="18" charset="0"/>
              </a:rPr>
              <a:t>uid</a:t>
            </a:r>
            <a:endParaRPr lang="en-US" sz="2400" dirty="0">
              <a:latin typeface="Cambria Math" panose="02040503050406030204" pitchFamily="18" charset="0"/>
              <a:ea typeface="Cambria Math" panose="02040503050406030204" pitchFamily="18" charset="0"/>
            </a:endParaRPr>
          </a:p>
        </p:txBody>
      </p:sp>
      <p:sp>
        <p:nvSpPr>
          <p:cNvPr id="28" name="TextBox 27">
            <a:extLst>
              <a:ext uri="{FF2B5EF4-FFF2-40B4-BE49-F238E27FC236}">
                <a16:creationId xmlns:a16="http://schemas.microsoft.com/office/drawing/2014/main" id="{2FD3FBF6-C5B7-3AE4-D0F2-29CACE15073B}"/>
              </a:ext>
            </a:extLst>
          </p:cNvPr>
          <p:cNvSpPr txBox="1"/>
          <p:nvPr/>
        </p:nvSpPr>
        <p:spPr>
          <a:xfrm>
            <a:off x="3733525" y="3108601"/>
            <a:ext cx="755280" cy="461665"/>
          </a:xfrm>
          <a:prstGeom prst="rect">
            <a:avLst/>
          </a:prstGeom>
          <a:noFill/>
        </p:spPr>
        <p:txBody>
          <a:bodyPr wrap="square">
            <a:spAutoFit/>
          </a:bodyPr>
          <a:lstStyle/>
          <a:p>
            <a:r>
              <a:rPr lang="en-US" sz="2400" dirty="0" err="1">
                <a:solidFill>
                  <a:srgbClr val="C00000"/>
                </a:solidFill>
                <a:latin typeface="Cambria Math" panose="02040503050406030204" pitchFamily="18" charset="0"/>
                <a:ea typeface="Cambria Math" panose="02040503050406030204" pitchFamily="18" charset="0"/>
              </a:rPr>
              <a:t>uid</a:t>
            </a:r>
            <a:endParaRPr lang="en-US" sz="2400" dirty="0">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2616F14A-9732-59F9-A09D-C1B00A1FB940}"/>
                  </a:ext>
                </a:extLst>
              </p:cNvPr>
              <p:cNvSpPr txBox="1"/>
              <p:nvPr/>
            </p:nvSpPr>
            <p:spPr>
              <a:xfrm>
                <a:off x="4779449" y="3145575"/>
                <a:ext cx="662468" cy="4778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𝑝</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𝑘</m:t>
                          </m:r>
                        </m:e>
                        <m:sub>
                          <m:r>
                            <a:rPr lang="en-US" sz="2400" b="0" i="1" smtClean="0">
                              <a:solidFill>
                                <a:srgbClr val="C00000"/>
                              </a:solidFill>
                              <a:latin typeface="Cambria Math" panose="02040503050406030204" pitchFamily="18" charset="0"/>
                            </a:rPr>
                            <m:t>𝑈</m:t>
                          </m:r>
                          <m:r>
                            <a:rPr lang="en-US" sz="2400" b="0" i="1" smtClean="0">
                              <a:solidFill>
                                <a:srgbClr val="C00000"/>
                              </a:solidFill>
                              <a:latin typeface="Cambria Math" panose="02040503050406030204" pitchFamily="18" charset="0"/>
                            </a:rPr>
                            <m:t>,</m:t>
                          </m:r>
                          <m:r>
                            <m:rPr>
                              <m:sty m:val="p"/>
                            </m:rPr>
                            <a:rPr lang="en-US" sz="2400" b="0" i="1" smtClean="0">
                              <a:solidFill>
                                <a:srgbClr val="C00000"/>
                              </a:solidFill>
                              <a:latin typeface="Cambria Math" panose="02040503050406030204" pitchFamily="18" charset="0"/>
                            </a:rPr>
                            <m:t>uid</m:t>
                          </m:r>
                        </m:sub>
                      </m:sSub>
                    </m:oMath>
                  </m:oMathPara>
                </a14:m>
                <a:endParaRPr lang="en-US" sz="2400" dirty="0">
                  <a:solidFill>
                    <a:srgbClr val="C00000"/>
                  </a:solidFill>
                </a:endParaRPr>
              </a:p>
            </p:txBody>
          </p:sp>
        </mc:Choice>
        <mc:Fallback xmlns="">
          <p:sp>
            <p:nvSpPr>
              <p:cNvPr id="29" name="TextBox 28">
                <a:extLst>
                  <a:ext uri="{FF2B5EF4-FFF2-40B4-BE49-F238E27FC236}">
                    <a16:creationId xmlns:a16="http://schemas.microsoft.com/office/drawing/2014/main" id="{2616F14A-9732-59F9-A09D-C1B00A1FB940}"/>
                  </a:ext>
                </a:extLst>
              </p:cNvPr>
              <p:cNvSpPr txBox="1">
                <a:spLocks noRot="1" noChangeAspect="1" noMove="1" noResize="1" noEditPoints="1" noAdjustHandles="1" noChangeArrowheads="1" noChangeShapeType="1" noTextEdit="1"/>
              </p:cNvSpPr>
              <p:nvPr/>
            </p:nvSpPr>
            <p:spPr>
              <a:xfrm>
                <a:off x="4779449" y="3145575"/>
                <a:ext cx="662468" cy="477888"/>
              </a:xfrm>
              <a:prstGeom prst="rect">
                <a:avLst/>
              </a:prstGeom>
              <a:blipFill>
                <a:blip r:embed="rId9"/>
                <a:stretch>
                  <a:fillRect l="-1887" r="-60377" b="-51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03513F2-5DBD-F325-B27A-E102B73883E0}"/>
                  </a:ext>
                </a:extLst>
              </p:cNvPr>
              <p:cNvSpPr txBox="1"/>
              <p:nvPr/>
            </p:nvSpPr>
            <p:spPr>
              <a:xfrm>
                <a:off x="-939092" y="1437573"/>
                <a:ext cx="4534062" cy="8785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sz="2400" b="0" i="1" smtClean="0">
                              <a:solidFill>
                                <a:srgbClr val="C00000"/>
                              </a:solidFill>
                              <a:latin typeface="Cambria Math" panose="02040503050406030204" pitchFamily="18" charset="0"/>
                            </a:rPr>
                          </m:ctrlPr>
                        </m:dPr>
                        <m:e>
                          <m:r>
                            <a:rPr lang="en-US" sz="2400" i="1">
                              <a:solidFill>
                                <a:srgbClr val="C00000"/>
                              </a:solidFill>
                              <a:latin typeface="Cambria Math" panose="02040503050406030204" pitchFamily="18" charset="0"/>
                            </a:rPr>
                            <m:t>𝑝</m:t>
                          </m:r>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𝑘</m:t>
                              </m:r>
                            </m:e>
                            <m:sub>
                              <m:r>
                                <a:rPr lang="en-US" sz="2400" i="1">
                                  <a:solidFill>
                                    <a:srgbClr val="C00000"/>
                                  </a:solidFill>
                                  <a:latin typeface="Cambria Math" panose="02040503050406030204" pitchFamily="18" charset="0"/>
                                </a:rPr>
                                <m:t>𝑈</m:t>
                              </m:r>
                              <m:r>
                                <a:rPr lang="en-US" sz="2400" i="1">
                                  <a:solidFill>
                                    <a:srgbClr val="C00000"/>
                                  </a:solidFill>
                                  <a:latin typeface="Cambria Math" panose="02040503050406030204" pitchFamily="18" charset="0"/>
                                </a:rPr>
                                <m:t>,</m:t>
                              </m:r>
                              <m:r>
                                <m:rPr>
                                  <m:sty m:val="p"/>
                                </m:rPr>
                                <a:rPr lang="en-US" sz="2400" i="1">
                                  <a:solidFill>
                                    <a:srgbClr val="C00000"/>
                                  </a:solidFill>
                                  <a:latin typeface="Cambria Math" panose="02040503050406030204" pitchFamily="18" charset="0"/>
                                </a:rPr>
                                <m:t>uid</m:t>
                              </m:r>
                            </m:sub>
                          </m:sSub>
                          <m:r>
                            <m:rPr>
                              <m:nor/>
                            </m:rPr>
                            <a:rPr lang="en-US" sz="2400" dirty="0">
                              <a:solidFill>
                                <a:srgbClr val="C00000"/>
                              </a:solidFill>
                            </a:rPr>
                            <m:t> </m:t>
                          </m:r>
                          <m:r>
                            <a:rPr lang="en-US" sz="2400" b="0" i="1" dirty="0" smtClean="0">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𝑠</m:t>
                          </m:r>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𝑡</m:t>
                              </m:r>
                            </m:e>
                            <m:sub>
                              <m:r>
                                <a:rPr lang="en-US" sz="2400" i="1">
                                  <a:solidFill>
                                    <a:srgbClr val="C00000"/>
                                  </a:solidFill>
                                  <a:latin typeface="Cambria Math" panose="02040503050406030204" pitchFamily="18" charset="0"/>
                                </a:rPr>
                                <m:t>𝑈</m:t>
                              </m:r>
                              <m:r>
                                <a:rPr lang="en-US" sz="2400" i="1">
                                  <a:solidFill>
                                    <a:srgbClr val="C00000"/>
                                  </a:solidFill>
                                  <a:latin typeface="Cambria Math" panose="02040503050406030204" pitchFamily="18" charset="0"/>
                                </a:rPr>
                                <m:t>,</m:t>
                              </m:r>
                              <m:r>
                                <m:rPr>
                                  <m:sty m:val="p"/>
                                </m:rPr>
                                <a:rPr lang="en-US" sz="2400" i="1">
                                  <a:solidFill>
                                    <a:srgbClr val="C00000"/>
                                  </a:solidFill>
                                  <a:latin typeface="Cambria Math" panose="02040503050406030204" pitchFamily="18" charset="0"/>
                                </a:rPr>
                                <m:t>uid</m:t>
                              </m:r>
                            </m:sub>
                          </m:sSub>
                        </m:e>
                      </m:d>
                      <m:r>
                        <a:rPr lang="en-US" sz="2400" b="0" i="1" smtClean="0">
                          <a:solidFill>
                            <a:srgbClr val="C00000"/>
                          </a:solidFill>
                          <a:latin typeface="Cambria Math" panose="02040503050406030204" pitchFamily="18" charset="0"/>
                        </a:rPr>
                        <m:t>←</m:t>
                      </m:r>
                    </m:oMath>
                  </m:oMathPara>
                </a14:m>
                <a:endParaRPr lang="en-US" sz="2400" b="0" i="1" dirty="0">
                  <a:solidFill>
                    <a:srgbClr val="C00000"/>
                  </a:solidFill>
                  <a:latin typeface="Cambria Math" panose="02040503050406030204" pitchFamily="18" charset="0"/>
                </a:endParaRPr>
              </a:p>
              <a:p>
                <a:r>
                  <a:rPr lang="en-US" sz="2400" b="0" dirty="0">
                    <a:solidFill>
                      <a:srgbClr val="C00000"/>
                    </a:solidFill>
                  </a:rPr>
                  <a:t>			</a:t>
                </a:r>
                <a14:m>
                  <m:oMath xmlns:m="http://schemas.openxmlformats.org/officeDocument/2006/math">
                    <m:r>
                      <m:rPr>
                        <m:sty m:val="p"/>
                      </m:rPr>
                      <a:rPr lang="en-US" sz="2400" b="0" i="0" smtClean="0">
                        <a:solidFill>
                          <a:srgbClr val="C00000"/>
                        </a:solidFill>
                        <a:latin typeface="Cambria Math" panose="02040503050406030204" pitchFamily="18" charset="0"/>
                      </a:rPr>
                      <m:t>UKGen</m:t>
                    </m:r>
                    <m:d>
                      <m:dPr>
                        <m:ctrlPr>
                          <a:rPr lang="en-US" sz="2400" b="0" i="1" smtClean="0">
                            <a:solidFill>
                              <a:srgbClr val="C00000"/>
                            </a:solidFill>
                            <a:latin typeface="Cambria Math" panose="02040503050406030204" pitchFamily="18" charset="0"/>
                          </a:rPr>
                        </m:ctrlPr>
                      </m:dPr>
                      <m:e>
                        <m:r>
                          <a:rPr lang="en-US" sz="2400" b="0" i="1" smtClean="0">
                            <a:solidFill>
                              <a:srgbClr val="C00000"/>
                            </a:solidFill>
                            <a:latin typeface="Cambria Math" panose="02040503050406030204" pitchFamily="18" charset="0"/>
                          </a:rPr>
                          <m:t>𝑐𝑟𝑠</m:t>
                        </m:r>
                      </m:e>
                    </m:d>
                  </m:oMath>
                </a14:m>
                <a:endParaRPr lang="en-US" dirty="0">
                  <a:solidFill>
                    <a:srgbClr val="C00000"/>
                  </a:solidFill>
                </a:endParaRPr>
              </a:p>
            </p:txBody>
          </p:sp>
        </mc:Choice>
        <mc:Fallback xmlns="">
          <p:sp>
            <p:nvSpPr>
              <p:cNvPr id="8" name="TextBox 7">
                <a:extLst>
                  <a:ext uri="{FF2B5EF4-FFF2-40B4-BE49-F238E27FC236}">
                    <a16:creationId xmlns:a16="http://schemas.microsoft.com/office/drawing/2014/main" id="{703513F2-5DBD-F325-B27A-E102B73883E0}"/>
                  </a:ext>
                </a:extLst>
              </p:cNvPr>
              <p:cNvSpPr txBox="1">
                <a:spLocks noRot="1" noChangeAspect="1" noMove="1" noResize="1" noEditPoints="1" noAdjustHandles="1" noChangeArrowheads="1" noChangeShapeType="1" noTextEdit="1"/>
              </p:cNvSpPr>
              <p:nvPr/>
            </p:nvSpPr>
            <p:spPr>
              <a:xfrm>
                <a:off x="-939092" y="1437573"/>
                <a:ext cx="4534062" cy="878510"/>
              </a:xfrm>
              <a:prstGeom prst="rect">
                <a:avLst/>
              </a:prstGeom>
              <a:blipFill>
                <a:blip r:embed="rId10"/>
                <a:stretch>
                  <a:fillRect t="-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7E0FAB26-13E7-1763-9D56-693BA328F94E}"/>
                  </a:ext>
                </a:extLst>
              </p:cNvPr>
              <p:cNvSpPr txBox="1"/>
              <p:nvPr/>
            </p:nvSpPr>
            <p:spPr>
              <a:xfrm>
                <a:off x="6119686" y="1882126"/>
                <a:ext cx="2684902" cy="5091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2400" i="0" smtClean="0">
                          <a:solidFill>
                            <a:srgbClr val="C00000"/>
                          </a:solidFill>
                          <a:latin typeface="Cambria Math" panose="02040503050406030204" pitchFamily="18" charset="0"/>
                        </a:rPr>
                        <m:t>S</m:t>
                      </m:r>
                      <m:r>
                        <m:rPr>
                          <m:sty m:val="p"/>
                        </m:rPr>
                        <a:rPr lang="en-US" sz="2400" b="0" i="0" smtClean="0">
                          <a:solidFill>
                            <a:srgbClr val="C00000"/>
                          </a:solidFill>
                          <a:latin typeface="Cambria Math" panose="02040503050406030204" pitchFamily="18" charset="0"/>
                        </a:rPr>
                        <m:t>i</m:t>
                      </m:r>
                      <m:sSub>
                        <m:sSubPr>
                          <m:ctrlPr>
                            <a:rPr lang="en-US" sz="2400" b="0" i="1" smtClean="0">
                              <a:solidFill>
                                <a:srgbClr val="C00000"/>
                              </a:solidFill>
                              <a:latin typeface="Cambria Math" panose="02040503050406030204" pitchFamily="18" charset="0"/>
                            </a:rPr>
                          </m:ctrlPr>
                        </m:sSubPr>
                        <m:e>
                          <m:r>
                            <m:rPr>
                              <m:sty m:val="p"/>
                            </m:rPr>
                            <a:rPr lang="en-US" sz="2400" b="0" i="0" smtClean="0">
                              <a:solidFill>
                                <a:srgbClr val="C00000"/>
                              </a:solidFill>
                              <a:latin typeface="Cambria Math" panose="02040503050406030204" pitchFamily="18" charset="0"/>
                            </a:rPr>
                            <m:t>m</m:t>
                          </m:r>
                        </m:e>
                        <m:sub>
                          <m:r>
                            <a:rPr lang="en-US" sz="2400" b="0" i="0" smtClean="0">
                              <a:solidFill>
                                <a:srgbClr val="C00000"/>
                              </a:solidFill>
                              <a:latin typeface="Cambria Math" panose="02040503050406030204" pitchFamily="18" charset="0"/>
                            </a:rPr>
                            <m:t>1</m:t>
                          </m:r>
                        </m:sub>
                      </m:sSub>
                      <m:d>
                        <m:dPr>
                          <m:ctrlPr>
                            <a:rPr lang="en-US" sz="2400" b="0" i="1" smtClean="0">
                              <a:solidFill>
                                <a:srgbClr val="C00000"/>
                              </a:solidFill>
                              <a:latin typeface="Cambria Math" panose="02040503050406030204" pitchFamily="18" charset="0"/>
                            </a:rPr>
                          </m:ctrlPr>
                        </m:dPr>
                        <m:e>
                          <m:r>
                            <a:rPr lang="en-US" sz="2400" b="0" i="1" smtClean="0">
                              <a:solidFill>
                                <a:srgbClr val="C00000"/>
                              </a:solidFill>
                              <a:latin typeface="Cambria Math" panose="02040503050406030204" pitchFamily="18" charset="0"/>
                            </a:rPr>
                            <m:t>𝑝</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𝑘</m:t>
                              </m:r>
                            </m:e>
                            <m:sub>
                              <m:r>
                                <a:rPr lang="en-US" sz="2400" b="0" i="1" smtClean="0">
                                  <a:solidFill>
                                    <a:srgbClr val="C00000"/>
                                  </a:solidFill>
                                  <a:latin typeface="Cambria Math" panose="02040503050406030204" pitchFamily="18" charset="0"/>
                                </a:rPr>
                                <m:t>𝐼</m:t>
                              </m:r>
                            </m:sub>
                          </m:sSub>
                          <m:r>
                            <a:rPr lang="en-US" sz="2400" b="0" i="1" smtClean="0">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𝑝</m:t>
                          </m:r>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𝑘</m:t>
                              </m:r>
                            </m:e>
                            <m:sub>
                              <m:r>
                                <a:rPr lang="en-US" sz="2400" i="1">
                                  <a:solidFill>
                                    <a:srgbClr val="C00000"/>
                                  </a:solidFill>
                                  <a:latin typeface="Cambria Math" panose="02040503050406030204" pitchFamily="18" charset="0"/>
                                </a:rPr>
                                <m:t>𝑈</m:t>
                              </m:r>
                              <m:r>
                                <a:rPr lang="en-US" sz="2400" i="1">
                                  <a:solidFill>
                                    <a:srgbClr val="C00000"/>
                                  </a:solidFill>
                                  <a:latin typeface="Cambria Math" panose="02040503050406030204" pitchFamily="18" charset="0"/>
                                </a:rPr>
                                <m:t>,</m:t>
                              </m:r>
                              <m:r>
                                <m:rPr>
                                  <m:sty m:val="p"/>
                                </m:rPr>
                                <a:rPr lang="en-US" sz="2400" i="1">
                                  <a:solidFill>
                                    <a:srgbClr val="C00000"/>
                                  </a:solidFill>
                                  <a:latin typeface="Cambria Math" panose="02040503050406030204" pitchFamily="18" charset="0"/>
                                </a:rPr>
                                <m:t>uid</m:t>
                              </m:r>
                            </m:sub>
                          </m:sSub>
                        </m:e>
                      </m:d>
                    </m:oMath>
                  </m:oMathPara>
                </a14:m>
                <a:endParaRPr lang="en-US" dirty="0">
                  <a:solidFill>
                    <a:srgbClr val="C00000"/>
                  </a:solidFill>
                </a:endParaRPr>
              </a:p>
            </p:txBody>
          </p:sp>
        </mc:Choice>
        <mc:Fallback xmlns="">
          <p:sp>
            <p:nvSpPr>
              <p:cNvPr id="16" name="TextBox 15">
                <a:extLst>
                  <a:ext uri="{FF2B5EF4-FFF2-40B4-BE49-F238E27FC236}">
                    <a16:creationId xmlns:a16="http://schemas.microsoft.com/office/drawing/2014/main" id="{7E0FAB26-13E7-1763-9D56-693BA328F94E}"/>
                  </a:ext>
                </a:extLst>
              </p:cNvPr>
              <p:cNvSpPr txBox="1">
                <a:spLocks noRot="1" noChangeAspect="1" noMove="1" noResize="1" noEditPoints="1" noAdjustHandles="1" noChangeArrowheads="1" noChangeShapeType="1" noTextEdit="1"/>
              </p:cNvSpPr>
              <p:nvPr/>
            </p:nvSpPr>
            <p:spPr>
              <a:xfrm>
                <a:off x="6119686" y="1882126"/>
                <a:ext cx="2684902" cy="509178"/>
              </a:xfrm>
              <a:prstGeom prst="rect">
                <a:avLst/>
              </a:prstGeom>
              <a:blipFill>
                <a:blip r:embed="rId11"/>
                <a:stretch>
                  <a:fillRect b="-48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2195A68-B5B8-0C27-923E-4F4AE950944B}"/>
                  </a:ext>
                </a:extLst>
              </p:cNvPr>
              <p:cNvSpPr txBox="1"/>
              <p:nvPr/>
            </p:nvSpPr>
            <p:spPr>
              <a:xfrm>
                <a:off x="8344749" y="6173774"/>
                <a:ext cx="290996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𝑠𝑛</m:t>
                      </m:r>
                      <m:r>
                        <a:rPr lang="en-US" sz="2400" i="1">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𝜋</m:t>
                      </m:r>
                      <m:r>
                        <a:rPr lang="en-US" sz="2400" b="0" i="1" smtClean="0">
                          <a:solidFill>
                            <a:srgbClr val="C00000"/>
                          </a:solidFill>
                          <a:latin typeface="Cambria Math" panose="02040503050406030204" pitchFamily="18" charset="0"/>
                        </a:rPr>
                        <m:t>)←</m:t>
                      </m:r>
                      <m:r>
                        <m:rPr>
                          <m:sty m:val="p"/>
                        </m:rPr>
                        <a:rPr lang="en-US" sz="2400" i="0" smtClean="0">
                          <a:solidFill>
                            <a:srgbClr val="C00000"/>
                          </a:solidFill>
                          <a:latin typeface="Cambria Math" panose="02040503050406030204" pitchFamily="18" charset="0"/>
                        </a:rPr>
                        <m:t>S</m:t>
                      </m:r>
                      <m:r>
                        <m:rPr>
                          <m:sty m:val="p"/>
                        </m:rPr>
                        <a:rPr lang="en-US" sz="2400" b="0" i="0" smtClean="0">
                          <a:solidFill>
                            <a:srgbClr val="C00000"/>
                          </a:solidFill>
                          <a:latin typeface="Cambria Math" panose="02040503050406030204" pitchFamily="18" charset="0"/>
                        </a:rPr>
                        <m:t>i</m:t>
                      </m:r>
                      <m:sSub>
                        <m:sSubPr>
                          <m:ctrlPr>
                            <a:rPr lang="en-US" sz="2400" b="0" i="1" smtClean="0">
                              <a:solidFill>
                                <a:srgbClr val="C00000"/>
                              </a:solidFill>
                              <a:latin typeface="Cambria Math" panose="02040503050406030204" pitchFamily="18" charset="0"/>
                            </a:rPr>
                          </m:ctrlPr>
                        </m:sSubPr>
                        <m:e>
                          <m:r>
                            <m:rPr>
                              <m:sty m:val="p"/>
                            </m:rPr>
                            <a:rPr lang="en-US" sz="2400" b="0" i="0" smtClean="0">
                              <a:solidFill>
                                <a:srgbClr val="C00000"/>
                              </a:solidFill>
                              <a:latin typeface="Cambria Math" panose="02040503050406030204" pitchFamily="18" charset="0"/>
                            </a:rPr>
                            <m:t>m</m:t>
                          </m:r>
                        </m:e>
                        <m:sub>
                          <m:r>
                            <a:rPr lang="en-US" sz="2400" b="0" i="0" smtClean="0">
                              <a:solidFill>
                                <a:srgbClr val="C00000"/>
                              </a:solidFill>
                              <a:latin typeface="Cambria Math" panose="02040503050406030204" pitchFamily="18" charset="0"/>
                            </a:rPr>
                            <m:t>2</m:t>
                          </m:r>
                        </m:sub>
                      </m:sSub>
                      <m:d>
                        <m:dPr>
                          <m:ctrlPr>
                            <a:rPr lang="en-US" sz="2400" b="0" i="1" smtClean="0">
                              <a:solidFill>
                                <a:srgbClr val="C00000"/>
                              </a:solidFill>
                              <a:latin typeface="Cambria Math" panose="02040503050406030204" pitchFamily="18" charset="0"/>
                            </a:rPr>
                          </m:ctrlPr>
                        </m:dPr>
                        <m:e>
                          <m:r>
                            <a:rPr lang="en-US" sz="2400" b="0" i="1" smtClean="0">
                              <a:solidFill>
                                <a:srgbClr val="C00000"/>
                              </a:solidFill>
                              <a:latin typeface="Cambria Math" panose="02040503050406030204" pitchFamily="18" charset="0"/>
                            </a:rPr>
                            <m:t>𝑝</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𝑘</m:t>
                              </m:r>
                            </m:e>
                            <m:sub>
                              <m:r>
                                <a:rPr lang="en-US" sz="2400" b="0" i="1" smtClean="0">
                                  <a:solidFill>
                                    <a:srgbClr val="C00000"/>
                                  </a:solidFill>
                                  <a:latin typeface="Cambria Math" panose="02040503050406030204" pitchFamily="18" charset="0"/>
                                </a:rPr>
                                <m:t>𝐼</m:t>
                              </m:r>
                            </m:sub>
                          </m:sSub>
                        </m:e>
                      </m:d>
                    </m:oMath>
                  </m:oMathPara>
                </a14:m>
                <a:endParaRPr lang="en-US" dirty="0">
                  <a:solidFill>
                    <a:srgbClr val="C00000"/>
                  </a:solidFill>
                </a:endParaRPr>
              </a:p>
            </p:txBody>
          </p:sp>
        </mc:Choice>
        <mc:Fallback xmlns="">
          <p:sp>
            <p:nvSpPr>
              <p:cNvPr id="24" name="TextBox 23">
                <a:extLst>
                  <a:ext uri="{FF2B5EF4-FFF2-40B4-BE49-F238E27FC236}">
                    <a16:creationId xmlns:a16="http://schemas.microsoft.com/office/drawing/2014/main" id="{32195A68-B5B8-0C27-923E-4F4AE950944B}"/>
                  </a:ext>
                </a:extLst>
              </p:cNvPr>
              <p:cNvSpPr txBox="1">
                <a:spLocks noRot="1" noChangeAspect="1" noMove="1" noResize="1" noEditPoints="1" noAdjustHandles="1" noChangeArrowheads="1" noChangeShapeType="1" noTextEdit="1"/>
              </p:cNvSpPr>
              <p:nvPr/>
            </p:nvSpPr>
            <p:spPr>
              <a:xfrm>
                <a:off x="8344749" y="6173774"/>
                <a:ext cx="2909964" cy="461665"/>
              </a:xfrm>
              <a:prstGeom prst="rect">
                <a:avLst/>
              </a:prstGeom>
              <a:blipFill>
                <a:blip r:embed="rId12"/>
                <a:stretch>
                  <a:fillRect l="-435" b="-1621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5" name="Rounded Rectangular Callout 24">
                <a:extLst>
                  <a:ext uri="{FF2B5EF4-FFF2-40B4-BE49-F238E27FC236}">
                    <a16:creationId xmlns:a16="http://schemas.microsoft.com/office/drawing/2014/main" id="{00B7123E-78F4-B7FC-7B07-D943305B26CB}"/>
                  </a:ext>
                </a:extLst>
              </p:cNvPr>
              <p:cNvSpPr/>
              <p:nvPr/>
            </p:nvSpPr>
            <p:spPr>
              <a:xfrm>
                <a:off x="8466552" y="781414"/>
                <a:ext cx="3514620" cy="3792270"/>
              </a:xfrm>
              <a:prstGeom prst="wedgeRoundRectCallout">
                <a:avLst>
                  <a:gd name="adj1" fmla="val -43333"/>
                  <a:gd name="adj2" fmla="val 60324"/>
                  <a:gd name="adj3" fmla="val 16667"/>
                </a:avLst>
              </a:prstGeom>
              <a:solidFill>
                <a:schemeClr val="accent1">
                  <a:lumMod val="20000"/>
                  <a:lumOff val="80000"/>
                </a:schemeClr>
              </a:solid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2000" dirty="0">
                    <a:solidFill>
                      <a:srgbClr val="C00000"/>
                    </a:solidFill>
                    <a:latin typeface="Candara" panose="020E0502030303020204" pitchFamily="34" charset="0"/>
                  </a:rPr>
                  <a:t>Per each token generator, cannot query more than:</a:t>
                </a:r>
              </a:p>
              <a:p>
                <a:pPr marL="342900" indent="-342900">
                  <a:buFont typeface="Arial" panose="020B0604020202020204" pitchFamily="34" charset="0"/>
                  <a:buChar char="•"/>
                </a:pPr>
                <a:r>
                  <a:rPr lang="en-US" sz="2000" dirty="0">
                    <a:solidFill>
                      <a:srgbClr val="C00000"/>
                    </a:solidFill>
                    <a:latin typeface="Candara" panose="020E0502030303020204" pitchFamily="34" charset="0"/>
                  </a:rPr>
                  <a:t>Rate-limit </a:t>
                </a:r>
                <a14:m>
                  <m:oMath xmlns:m="http://schemas.openxmlformats.org/officeDocument/2006/math">
                    <m:r>
                      <a:rPr lang="en-US" sz="2000" i="1" dirty="0" smtClean="0">
                        <a:solidFill>
                          <a:srgbClr val="C00000"/>
                        </a:solidFill>
                        <a:latin typeface="Cambria Math" panose="02040503050406030204" pitchFamily="18" charset="0"/>
                      </a:rPr>
                      <m:t>𝑁</m:t>
                    </m:r>
                  </m:oMath>
                </a14:m>
                <a:r>
                  <a:rPr lang="en-US" sz="2000" dirty="0">
                    <a:solidFill>
                      <a:srgbClr val="C00000"/>
                    </a:solidFill>
                    <a:latin typeface="Candara" panose="020E0502030303020204" pitchFamily="34" charset="0"/>
                  </a:rPr>
                  <a:t> per context </a:t>
                </a:r>
                <a14:m>
                  <m:oMath xmlns:m="http://schemas.openxmlformats.org/officeDocument/2006/math">
                    <m:r>
                      <m:rPr>
                        <m:sty m:val="p"/>
                      </m:rPr>
                      <a:rPr lang="en-US" sz="2000" i="0" dirty="0" smtClean="0">
                        <a:solidFill>
                          <a:srgbClr val="C00000"/>
                        </a:solidFill>
                        <a:latin typeface="Cambria Math" panose="02040503050406030204" pitchFamily="18" charset="0"/>
                      </a:rPr>
                      <m:t>ctxt</m:t>
                    </m:r>
                  </m:oMath>
                </a14:m>
                <a:endParaRPr lang="en-US" sz="2000" dirty="0">
                  <a:solidFill>
                    <a:srgbClr val="C00000"/>
                  </a:solidFill>
                  <a:latin typeface="Candara" panose="020E0502030303020204" pitchFamily="34" charset="0"/>
                </a:endParaRPr>
              </a:p>
              <a:p>
                <a:pPr marL="342900" indent="-342900">
                  <a:buFont typeface="Arial" panose="020B0604020202020204" pitchFamily="34" charset="0"/>
                  <a:buChar char="•"/>
                </a:pPr>
                <a:r>
                  <a:rPr lang="en-US" sz="2000" dirty="0">
                    <a:solidFill>
                      <a:srgbClr val="C00000"/>
                    </a:solidFill>
                    <a:latin typeface="Candara" panose="020E0502030303020204" pitchFamily="34" charset="0"/>
                  </a:rPr>
                  <a:t>Overall limit </a:t>
                </a:r>
                <a14:m>
                  <m:oMath xmlns:m="http://schemas.openxmlformats.org/officeDocument/2006/math">
                    <m:r>
                      <a:rPr lang="en-US" sz="2000" b="0" i="1" smtClean="0">
                        <a:solidFill>
                          <a:srgbClr val="C00000"/>
                        </a:solidFill>
                        <a:latin typeface="Cambria Math" panose="02040503050406030204" pitchFamily="18" charset="0"/>
                      </a:rPr>
                      <m:t>𝑘</m:t>
                    </m:r>
                  </m:oMath>
                </a14:m>
                <a:r>
                  <a:rPr lang="en-US" sz="2000" i="1" dirty="0">
                    <a:solidFill>
                      <a:srgbClr val="C00000"/>
                    </a:solidFill>
                    <a:latin typeface="Candara" panose="020E0502030303020204" pitchFamily="34" charset="0"/>
                  </a:rPr>
                  <a:t> </a:t>
                </a:r>
                <a:endParaRPr lang="en-US" sz="2000" dirty="0">
                  <a:solidFill>
                    <a:srgbClr val="C00000"/>
                  </a:solidFill>
                  <a:latin typeface="Candara" panose="020E0502030303020204" pitchFamily="34" charset="0"/>
                </a:endParaRPr>
              </a:p>
              <a:p>
                <a:pPr marL="800100" lvl="1" indent="-342900">
                  <a:buFont typeface="Symbol" pitchFamily="2" charset="2"/>
                  <a:buChar char="Þ"/>
                </a:pPr>
                <a:r>
                  <a:rPr lang="en-US" sz="2000" dirty="0">
                    <a:solidFill>
                      <a:srgbClr val="C00000"/>
                    </a:solidFill>
                    <a:latin typeface="Candara" panose="020E0502030303020204" pitchFamily="34" charset="0"/>
                  </a:rPr>
                  <a:t>In comp. anon: implicit (poly-bounded)</a:t>
                </a:r>
              </a:p>
              <a:p>
                <a:pPr marL="800100" lvl="1" indent="-342900">
                  <a:buFont typeface="Symbol" pitchFamily="2" charset="2"/>
                  <a:buChar char="Þ"/>
                </a:pPr>
                <a:r>
                  <a:rPr lang="en-US" sz="2000" dirty="0">
                    <a:solidFill>
                      <a:srgbClr val="C00000"/>
                    </a:solidFill>
                    <a:latin typeface="Candara" panose="020E0502030303020204" pitchFamily="34" charset="0"/>
                  </a:rPr>
                  <a:t>Against </a:t>
                </a:r>
                <a:r>
                  <a:rPr lang="en-US" sz="2000" b="1" dirty="0">
                    <a:solidFill>
                      <a:srgbClr val="C00000"/>
                    </a:solidFill>
                    <a:latin typeface="Candara" panose="020E0502030303020204" pitchFamily="34" charset="0"/>
                  </a:rPr>
                  <a:t>*unbounded* </a:t>
                </a:r>
                <a14:m>
                  <m:oMath xmlns:m="http://schemas.openxmlformats.org/officeDocument/2006/math">
                    <m:r>
                      <a:rPr lang="en-US" sz="2000" i="1">
                        <a:solidFill>
                          <a:srgbClr val="C00000"/>
                        </a:solidFill>
                        <a:latin typeface="Cambria Math" panose="02040503050406030204" pitchFamily="18" charset="0"/>
                        <a:ea typeface="Cambria Math" panose="02040503050406030204" pitchFamily="18" charset="0"/>
                      </a:rPr>
                      <m:t>𝒜</m:t>
                    </m:r>
                  </m:oMath>
                </a14:m>
                <a:br>
                  <a:rPr lang="en-US" sz="2000" dirty="0">
                    <a:solidFill>
                      <a:srgbClr val="C00000"/>
                    </a:solidFill>
                    <a:latin typeface="Candara" panose="020E0502030303020204" pitchFamily="34" charset="0"/>
                  </a:rPr>
                </a:br>
                <a:r>
                  <a:rPr lang="en-US" sz="2000" dirty="0">
                    <a:solidFill>
                      <a:srgbClr val="C00000"/>
                    </a:solidFill>
                    <a:latin typeface="Candara" panose="020E0502030303020204" pitchFamily="34" charset="0"/>
                  </a:rPr>
                  <a:t>made explicit</a:t>
                </a:r>
              </a:p>
            </p:txBody>
          </p:sp>
        </mc:Choice>
        <mc:Fallback>
          <p:sp>
            <p:nvSpPr>
              <p:cNvPr id="25" name="Rounded Rectangular Callout 24">
                <a:extLst>
                  <a:ext uri="{FF2B5EF4-FFF2-40B4-BE49-F238E27FC236}">
                    <a16:creationId xmlns:a16="http://schemas.microsoft.com/office/drawing/2014/main" id="{00B7123E-78F4-B7FC-7B07-D943305B26CB}"/>
                  </a:ext>
                </a:extLst>
              </p:cNvPr>
              <p:cNvSpPr>
                <a:spLocks noRot="1" noChangeAspect="1" noMove="1" noResize="1" noEditPoints="1" noAdjustHandles="1" noChangeArrowheads="1" noChangeShapeType="1" noTextEdit="1"/>
              </p:cNvSpPr>
              <p:nvPr/>
            </p:nvSpPr>
            <p:spPr>
              <a:xfrm>
                <a:off x="8466552" y="781414"/>
                <a:ext cx="3514620" cy="3792270"/>
              </a:xfrm>
              <a:prstGeom prst="wedgeRoundRectCallout">
                <a:avLst>
                  <a:gd name="adj1" fmla="val -43333"/>
                  <a:gd name="adj2" fmla="val 60324"/>
                  <a:gd name="adj3" fmla="val 16667"/>
                </a:avLst>
              </a:prstGeom>
              <a:blipFill>
                <a:blip r:embed="rId13"/>
                <a:stretch>
                  <a:fillRect/>
                </a:stretch>
              </a:blipFill>
              <a:ln w="38100">
                <a:solidFill>
                  <a:srgbClr val="C00000"/>
                </a:solidFill>
              </a:ln>
            </p:spPr>
            <p:txBody>
              <a:bodyPr/>
              <a:lstStyle/>
              <a:p>
                <a:r>
                  <a:rPr lang="en-US">
                    <a:noFill/>
                  </a:rPr>
                  <a:t> </a:t>
                </a:r>
              </a:p>
            </p:txBody>
          </p:sp>
        </mc:Fallback>
      </mc:AlternateContent>
    </p:spTree>
    <p:extLst>
      <p:ext uri="{BB962C8B-B14F-4D97-AF65-F5344CB8AC3E}">
        <p14:creationId xmlns:p14="http://schemas.microsoft.com/office/powerpoint/2010/main" val="927744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4" grpId="0"/>
      <p:bldP spid="2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7EB33-8A27-B86F-CA63-953CEADF79B4}"/>
              </a:ext>
            </a:extLst>
          </p:cNvPr>
          <p:cNvSpPr>
            <a:spLocks noGrp="1"/>
          </p:cNvSpPr>
          <p:nvPr>
            <p:ph type="title"/>
          </p:nvPr>
        </p:nvSpPr>
        <p:spPr>
          <a:xfrm>
            <a:off x="838200" y="365125"/>
            <a:ext cx="10871200" cy="1325563"/>
          </a:xfrm>
        </p:spPr>
        <p:txBody>
          <a:bodyPr>
            <a:normAutofit/>
          </a:bodyPr>
          <a:lstStyle/>
          <a:p>
            <a:r>
              <a:rPr lang="en-US" sz="4000" dirty="0">
                <a:latin typeface="Candara" panose="020E0502030303020204" pitchFamily="34" charset="0"/>
              </a:rPr>
              <a:t>Strawman Solution: Random Degree-k Polynomial</a:t>
            </a:r>
          </a:p>
        </p:txBody>
      </p:sp>
      <p:sp>
        <p:nvSpPr>
          <p:cNvPr id="4" name="Rounded Rectangle 3">
            <a:extLst>
              <a:ext uri="{FF2B5EF4-FFF2-40B4-BE49-F238E27FC236}">
                <a16:creationId xmlns:a16="http://schemas.microsoft.com/office/drawing/2014/main" id="{05A9921A-C05F-E6FA-E1A6-022A21DF2DEF}"/>
              </a:ext>
            </a:extLst>
          </p:cNvPr>
          <p:cNvSpPr/>
          <p:nvPr/>
        </p:nvSpPr>
        <p:spPr>
          <a:xfrm>
            <a:off x="3372615" y="4912046"/>
            <a:ext cx="3937981" cy="716199"/>
          </a:xfrm>
          <a:prstGeom prst="roundRect">
            <a:avLst/>
          </a:prstGeom>
          <a:solidFill>
            <a:srgbClr val="F3E7E7"/>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grpSp>
        <p:nvGrpSpPr>
          <p:cNvPr id="5" name="Group 4">
            <a:extLst>
              <a:ext uri="{FF2B5EF4-FFF2-40B4-BE49-F238E27FC236}">
                <a16:creationId xmlns:a16="http://schemas.microsoft.com/office/drawing/2014/main" id="{EF198495-2FC3-5665-D7CD-71F7890E00D0}"/>
              </a:ext>
            </a:extLst>
          </p:cNvPr>
          <p:cNvGrpSpPr/>
          <p:nvPr/>
        </p:nvGrpSpPr>
        <p:grpSpPr>
          <a:xfrm>
            <a:off x="8809622" y="1847486"/>
            <a:ext cx="1330036" cy="1581514"/>
            <a:chOff x="9700876" y="2058675"/>
            <a:chExt cx="1330036" cy="1581514"/>
          </a:xfrm>
        </p:grpSpPr>
        <p:pic>
          <p:nvPicPr>
            <p:cNvPr id="6" name="Graphic 5" descr="User outline">
              <a:extLst>
                <a:ext uri="{FF2B5EF4-FFF2-40B4-BE49-F238E27FC236}">
                  <a16:creationId xmlns:a16="http://schemas.microsoft.com/office/drawing/2014/main" id="{F4241E8F-E814-97B1-32EF-CCC97333A32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00876" y="2310153"/>
              <a:ext cx="1330036" cy="1330036"/>
            </a:xfrm>
            <a:prstGeom prst="rect">
              <a:avLst/>
            </a:prstGeom>
          </p:spPr>
        </p:pic>
        <p:sp>
          <p:nvSpPr>
            <p:cNvPr id="7" name="TextBox 6">
              <a:extLst>
                <a:ext uri="{FF2B5EF4-FFF2-40B4-BE49-F238E27FC236}">
                  <a16:creationId xmlns:a16="http://schemas.microsoft.com/office/drawing/2014/main" id="{B8047B66-D7D0-4890-71A5-6EA3C47946DC}"/>
                </a:ext>
              </a:extLst>
            </p:cNvPr>
            <p:cNvSpPr txBox="1"/>
            <p:nvPr/>
          </p:nvSpPr>
          <p:spPr>
            <a:xfrm>
              <a:off x="9859542" y="2058675"/>
              <a:ext cx="792205" cy="461665"/>
            </a:xfrm>
            <a:prstGeom prst="rect">
              <a:avLst/>
            </a:prstGeom>
            <a:noFill/>
          </p:spPr>
          <p:txBody>
            <a:bodyPr wrap="none" rtlCol="0">
              <a:spAutoFit/>
            </a:bodyPr>
            <a:lstStyle/>
            <a:p>
              <a:r>
                <a:rPr lang="en-US" sz="2400" b="1" dirty="0">
                  <a:latin typeface="Candara" panose="020E0502030303020204" pitchFamily="34" charset="0"/>
                </a:rPr>
                <a:t>User</a:t>
              </a:r>
            </a:p>
          </p:txBody>
        </p:sp>
      </p:grpSp>
      <p:grpSp>
        <p:nvGrpSpPr>
          <p:cNvPr id="8" name="Group 7">
            <a:extLst>
              <a:ext uri="{FF2B5EF4-FFF2-40B4-BE49-F238E27FC236}">
                <a16:creationId xmlns:a16="http://schemas.microsoft.com/office/drawing/2014/main" id="{CC98DE51-A421-6A75-0AEC-7A90F53A2CCD}"/>
              </a:ext>
            </a:extLst>
          </p:cNvPr>
          <p:cNvGrpSpPr/>
          <p:nvPr/>
        </p:nvGrpSpPr>
        <p:grpSpPr>
          <a:xfrm>
            <a:off x="1290737" y="1690688"/>
            <a:ext cx="1634837" cy="1955203"/>
            <a:chOff x="3154262" y="1690688"/>
            <a:chExt cx="1634837" cy="1955203"/>
          </a:xfrm>
        </p:grpSpPr>
        <p:pic>
          <p:nvPicPr>
            <p:cNvPr id="9" name="Graphic 8" descr="Bank outline">
              <a:extLst>
                <a:ext uri="{FF2B5EF4-FFF2-40B4-BE49-F238E27FC236}">
                  <a16:creationId xmlns:a16="http://schemas.microsoft.com/office/drawing/2014/main" id="{E01DB66F-A506-342D-1CE6-28D197C1CA1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154262" y="2011054"/>
              <a:ext cx="1634837" cy="1634837"/>
            </a:xfrm>
            <a:prstGeom prst="rect">
              <a:avLst/>
            </a:prstGeom>
          </p:spPr>
        </p:pic>
        <p:sp>
          <p:nvSpPr>
            <p:cNvPr id="10" name="TextBox 9">
              <a:extLst>
                <a:ext uri="{FF2B5EF4-FFF2-40B4-BE49-F238E27FC236}">
                  <a16:creationId xmlns:a16="http://schemas.microsoft.com/office/drawing/2014/main" id="{E58B1B2C-2D1D-BECA-91C7-8C5AF3AB5269}"/>
                </a:ext>
              </a:extLst>
            </p:cNvPr>
            <p:cNvSpPr txBox="1"/>
            <p:nvPr/>
          </p:nvSpPr>
          <p:spPr>
            <a:xfrm>
              <a:off x="3355853" y="1690688"/>
              <a:ext cx="973343" cy="461665"/>
            </a:xfrm>
            <a:prstGeom prst="rect">
              <a:avLst/>
            </a:prstGeom>
            <a:noFill/>
          </p:spPr>
          <p:txBody>
            <a:bodyPr wrap="none" rtlCol="0">
              <a:spAutoFit/>
            </a:bodyPr>
            <a:lstStyle/>
            <a:p>
              <a:r>
                <a:rPr lang="en-US" sz="2400" b="1" dirty="0">
                  <a:latin typeface="Candara" panose="020E0502030303020204" pitchFamily="34" charset="0"/>
                </a:rPr>
                <a:t>Issuer</a:t>
              </a:r>
            </a:p>
          </p:txBody>
        </p:sp>
      </p:gr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6F12B1C-D3ED-7583-FF50-98BB36078990}"/>
                  </a:ext>
                </a:extLst>
              </p:cNvPr>
              <p:cNvSpPr txBox="1"/>
              <p:nvPr/>
            </p:nvSpPr>
            <p:spPr>
              <a:xfrm>
                <a:off x="616643" y="2098964"/>
                <a:ext cx="67409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𝑠</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𝑘</m:t>
                          </m:r>
                        </m:e>
                        <m:sub>
                          <m:r>
                            <a:rPr lang="en-US" sz="2400" b="0" i="1" smtClean="0">
                              <a:solidFill>
                                <a:srgbClr val="C00000"/>
                              </a:solidFill>
                              <a:latin typeface="Cambria Math" panose="02040503050406030204" pitchFamily="18" charset="0"/>
                            </a:rPr>
                            <m:t>𝐼</m:t>
                          </m:r>
                        </m:sub>
                      </m:sSub>
                    </m:oMath>
                  </m:oMathPara>
                </a14:m>
                <a:endParaRPr lang="en-US" sz="2400" dirty="0">
                  <a:solidFill>
                    <a:srgbClr val="C00000"/>
                  </a:solidFill>
                  <a:latin typeface="Candara" panose="020E0502030303020204" pitchFamily="34" charset="0"/>
                </a:endParaRPr>
              </a:p>
            </p:txBody>
          </p:sp>
        </mc:Choice>
        <mc:Fallback xmlns="">
          <p:sp>
            <p:nvSpPr>
              <p:cNvPr id="11" name="TextBox 10">
                <a:extLst>
                  <a:ext uri="{FF2B5EF4-FFF2-40B4-BE49-F238E27FC236}">
                    <a16:creationId xmlns:a16="http://schemas.microsoft.com/office/drawing/2014/main" id="{36F12B1C-D3ED-7583-FF50-98BB36078990}"/>
                  </a:ext>
                </a:extLst>
              </p:cNvPr>
              <p:cNvSpPr txBox="1">
                <a:spLocks noRot="1" noChangeAspect="1" noMove="1" noResize="1" noEditPoints="1" noAdjustHandles="1" noChangeArrowheads="1" noChangeShapeType="1" noTextEdit="1"/>
              </p:cNvSpPr>
              <p:nvPr/>
            </p:nvSpPr>
            <p:spPr>
              <a:xfrm>
                <a:off x="616643" y="2098964"/>
                <a:ext cx="674094" cy="461665"/>
              </a:xfrm>
              <a:prstGeom prst="rect">
                <a:avLst/>
              </a:prstGeom>
              <a:blipFill>
                <a:blip r:embed="rId7"/>
                <a:stretch>
                  <a:fillRect b="-27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DF1C08F-4206-EB9A-BF54-851CCEF96018}"/>
                  </a:ext>
                </a:extLst>
              </p:cNvPr>
              <p:cNvSpPr txBox="1"/>
              <p:nvPr/>
            </p:nvSpPr>
            <p:spPr>
              <a:xfrm>
                <a:off x="9982295" y="2039113"/>
                <a:ext cx="70044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solidFill>
                            <a:srgbClr val="C00000"/>
                          </a:solidFill>
                          <a:latin typeface="Cambria Math" panose="02040503050406030204" pitchFamily="18" charset="0"/>
                        </a:rPr>
                        <m:t>𝑝</m:t>
                      </m:r>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𝑘</m:t>
                          </m:r>
                        </m:e>
                        <m:sub>
                          <m:r>
                            <a:rPr lang="en-US" sz="2400" i="1">
                              <a:solidFill>
                                <a:srgbClr val="C00000"/>
                              </a:solidFill>
                              <a:latin typeface="Cambria Math" panose="02040503050406030204" pitchFamily="18" charset="0"/>
                            </a:rPr>
                            <m:t>𝐼</m:t>
                          </m:r>
                        </m:sub>
                      </m:sSub>
                    </m:oMath>
                  </m:oMathPara>
                </a14:m>
                <a:endParaRPr lang="en-US" sz="2400" dirty="0">
                  <a:solidFill>
                    <a:srgbClr val="C00000"/>
                  </a:solidFill>
                  <a:latin typeface="Candara" panose="020E0502030303020204" pitchFamily="34" charset="0"/>
                </a:endParaRPr>
              </a:p>
            </p:txBody>
          </p:sp>
        </mc:Choice>
        <mc:Fallback xmlns="">
          <p:sp>
            <p:nvSpPr>
              <p:cNvPr id="12" name="TextBox 11">
                <a:extLst>
                  <a:ext uri="{FF2B5EF4-FFF2-40B4-BE49-F238E27FC236}">
                    <a16:creationId xmlns:a16="http://schemas.microsoft.com/office/drawing/2014/main" id="{9DF1C08F-4206-EB9A-BF54-851CCEF96018}"/>
                  </a:ext>
                </a:extLst>
              </p:cNvPr>
              <p:cNvSpPr txBox="1">
                <a:spLocks noRot="1" noChangeAspect="1" noMove="1" noResize="1" noEditPoints="1" noAdjustHandles="1" noChangeArrowheads="1" noChangeShapeType="1" noTextEdit="1"/>
              </p:cNvSpPr>
              <p:nvPr/>
            </p:nvSpPr>
            <p:spPr>
              <a:xfrm>
                <a:off x="9982295" y="2039113"/>
                <a:ext cx="700448" cy="461665"/>
              </a:xfrm>
              <a:prstGeom prst="rect">
                <a:avLst/>
              </a:prstGeom>
              <a:blipFill>
                <a:blip r:embed="rId8"/>
                <a:stretch>
                  <a:fillRect b="-108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FD4E41F-5EFB-B11E-76A7-F983D8573D1F}"/>
                  </a:ext>
                </a:extLst>
              </p:cNvPr>
              <p:cNvSpPr txBox="1"/>
              <p:nvPr/>
            </p:nvSpPr>
            <p:spPr>
              <a:xfrm>
                <a:off x="10022896" y="2678221"/>
                <a:ext cx="619245"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C00000"/>
                          </a:solidFill>
                          <a:latin typeface="Cambria Math" panose="02040503050406030204" pitchFamily="18" charset="0"/>
                        </a:rPr>
                        <m:t>𝑝</m:t>
                      </m:r>
                      <m:sSub>
                        <m:sSubPr>
                          <m:ctrlPr>
                            <a:rPr lang="en-US" sz="2400" b="0" i="1" smtClean="0">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𝑘</m:t>
                          </m:r>
                        </m:e>
                        <m:sub>
                          <m:r>
                            <a:rPr lang="en-US" sz="2400" b="0" i="1" smtClean="0">
                              <a:solidFill>
                                <a:srgbClr val="C00000"/>
                              </a:solidFill>
                              <a:latin typeface="Cambria Math" panose="02040503050406030204" pitchFamily="18" charset="0"/>
                            </a:rPr>
                            <m:t>𝑈</m:t>
                          </m:r>
                        </m:sub>
                      </m:sSub>
                    </m:oMath>
                  </m:oMathPara>
                </a14:m>
                <a:endParaRPr lang="en-US" sz="2400" dirty="0">
                  <a:latin typeface="Candara" panose="020E0502030303020204" pitchFamily="34" charset="0"/>
                </a:endParaRPr>
              </a:p>
            </p:txBody>
          </p:sp>
        </mc:Choice>
        <mc:Fallback xmlns="">
          <p:sp>
            <p:nvSpPr>
              <p:cNvPr id="13" name="TextBox 12">
                <a:extLst>
                  <a:ext uri="{FF2B5EF4-FFF2-40B4-BE49-F238E27FC236}">
                    <a16:creationId xmlns:a16="http://schemas.microsoft.com/office/drawing/2014/main" id="{1FD4E41F-5EFB-B11E-76A7-F983D8573D1F}"/>
                  </a:ext>
                </a:extLst>
              </p:cNvPr>
              <p:cNvSpPr txBox="1">
                <a:spLocks noRot="1" noChangeAspect="1" noMove="1" noResize="1" noEditPoints="1" noAdjustHandles="1" noChangeArrowheads="1" noChangeShapeType="1" noTextEdit="1"/>
              </p:cNvSpPr>
              <p:nvPr/>
            </p:nvSpPr>
            <p:spPr>
              <a:xfrm>
                <a:off x="10022896" y="2678221"/>
                <a:ext cx="619245" cy="461665"/>
              </a:xfrm>
              <a:prstGeom prst="rect">
                <a:avLst/>
              </a:prstGeom>
              <a:blipFill>
                <a:blip r:embed="rId9"/>
                <a:stretch>
                  <a:fillRect l="-2000" r="-6000" b="-7895"/>
                </a:stretch>
              </a:blipFill>
            </p:spPr>
            <p:txBody>
              <a:bodyPr/>
              <a:lstStyle/>
              <a:p>
                <a:r>
                  <a:rPr lang="en-US">
                    <a:noFill/>
                  </a:rPr>
                  <a:t> </a:t>
                </a:r>
              </a:p>
            </p:txBody>
          </p:sp>
        </mc:Fallback>
      </mc:AlternateContent>
      <p:grpSp>
        <p:nvGrpSpPr>
          <p:cNvPr id="14" name="Group 13">
            <a:extLst>
              <a:ext uri="{FF2B5EF4-FFF2-40B4-BE49-F238E27FC236}">
                <a16:creationId xmlns:a16="http://schemas.microsoft.com/office/drawing/2014/main" id="{E3EF299E-DEC4-F509-CF11-34D13E87991E}"/>
              </a:ext>
            </a:extLst>
          </p:cNvPr>
          <p:cNvGrpSpPr/>
          <p:nvPr/>
        </p:nvGrpSpPr>
        <p:grpSpPr>
          <a:xfrm>
            <a:off x="4039502" y="2535042"/>
            <a:ext cx="2952870" cy="485997"/>
            <a:chOff x="5009844" y="2476724"/>
            <a:chExt cx="1542694" cy="485997"/>
          </a:xfrm>
        </p:grpSpPr>
        <p:cxnSp>
          <p:nvCxnSpPr>
            <p:cNvPr id="15" name="Straight Arrow Connector 14">
              <a:extLst>
                <a:ext uri="{FF2B5EF4-FFF2-40B4-BE49-F238E27FC236}">
                  <a16:creationId xmlns:a16="http://schemas.microsoft.com/office/drawing/2014/main" id="{ED64E6B1-3766-E155-A6DE-E630FC289D02}"/>
                </a:ext>
              </a:extLst>
            </p:cNvPr>
            <p:cNvCxnSpPr>
              <a:cxnSpLocks/>
            </p:cNvCxnSpPr>
            <p:nvPr/>
          </p:nvCxnSpPr>
          <p:spPr>
            <a:xfrm>
              <a:off x="5009844" y="2962721"/>
              <a:ext cx="1542694"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F2BDDA3A-C0E5-1951-62B0-DA01FB2EB7A8}"/>
                </a:ext>
              </a:extLst>
            </p:cNvPr>
            <p:cNvCxnSpPr>
              <a:cxnSpLocks/>
            </p:cNvCxnSpPr>
            <p:nvPr/>
          </p:nvCxnSpPr>
          <p:spPr>
            <a:xfrm flipH="1">
              <a:off x="5009844" y="2476724"/>
              <a:ext cx="1517837"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grpSp>
      <p:sp>
        <p:nvSpPr>
          <p:cNvPr id="17" name="Arc 16">
            <a:extLst>
              <a:ext uri="{FF2B5EF4-FFF2-40B4-BE49-F238E27FC236}">
                <a16:creationId xmlns:a16="http://schemas.microsoft.com/office/drawing/2014/main" id="{985A9CEC-9F64-296B-B25A-4B9C7DB1093F}"/>
              </a:ext>
            </a:extLst>
          </p:cNvPr>
          <p:cNvSpPr/>
          <p:nvPr/>
        </p:nvSpPr>
        <p:spPr>
          <a:xfrm rot="10800000">
            <a:off x="7151038" y="2393141"/>
            <a:ext cx="1330037" cy="1330037"/>
          </a:xfrm>
          <a:prstGeom prst="arc">
            <a:avLst/>
          </a:prstGeom>
          <a:ln w="57150">
            <a:headEnd type="arrow"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andara" panose="020E0502030303020204" pitchFamily="34" charset="0"/>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32A260D-B990-C7C9-2FDD-2923C97E3418}"/>
                  </a:ext>
                </a:extLst>
              </p:cNvPr>
              <p:cNvSpPr txBox="1"/>
              <p:nvPr/>
            </p:nvSpPr>
            <p:spPr>
              <a:xfrm>
                <a:off x="7103459" y="2222944"/>
                <a:ext cx="991105" cy="3724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2400" b="0" i="1" smtClean="0">
                          <a:solidFill>
                            <a:srgbClr val="C00000"/>
                          </a:solidFill>
                          <a:latin typeface="Cambria Math" panose="02040503050406030204" pitchFamily="18" charset="0"/>
                        </a:rPr>
                        <m:t>key</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m:t>
                          </m:r>
                        </m:e>
                        <m:sub>
                          <m:r>
                            <a:rPr lang="en-US" sz="2400" b="0" i="1" smtClean="0">
                              <a:solidFill>
                                <a:srgbClr val="C00000"/>
                              </a:solidFill>
                              <a:latin typeface="Cambria Math" panose="02040503050406030204" pitchFamily="18" charset="0"/>
                            </a:rPr>
                            <m:t>$</m:t>
                          </m:r>
                        </m:sub>
                      </m:sSub>
                    </m:oMath>
                  </m:oMathPara>
                </a14:m>
                <a:endParaRPr lang="en-US" sz="2400" dirty="0">
                  <a:solidFill>
                    <a:srgbClr val="C00000"/>
                  </a:solidFill>
                  <a:latin typeface="Candara" panose="020E0502030303020204" pitchFamily="34" charset="0"/>
                </a:endParaRPr>
              </a:p>
            </p:txBody>
          </p:sp>
        </mc:Choice>
        <mc:Fallback xmlns="">
          <p:sp>
            <p:nvSpPr>
              <p:cNvPr id="18" name="TextBox 17">
                <a:extLst>
                  <a:ext uri="{FF2B5EF4-FFF2-40B4-BE49-F238E27FC236}">
                    <a16:creationId xmlns:a16="http://schemas.microsoft.com/office/drawing/2014/main" id="{E32A260D-B990-C7C9-2FDD-2923C97E3418}"/>
                  </a:ext>
                </a:extLst>
              </p:cNvPr>
              <p:cNvSpPr txBox="1">
                <a:spLocks noRot="1" noChangeAspect="1" noMove="1" noResize="1" noEditPoints="1" noAdjustHandles="1" noChangeArrowheads="1" noChangeShapeType="1" noTextEdit="1"/>
              </p:cNvSpPr>
              <p:nvPr/>
            </p:nvSpPr>
            <p:spPr>
              <a:xfrm>
                <a:off x="7103459" y="2222944"/>
                <a:ext cx="991105" cy="372410"/>
              </a:xfrm>
              <a:prstGeom prst="rect">
                <a:avLst/>
              </a:prstGeom>
              <a:blipFill>
                <a:blip r:embed="rId10"/>
                <a:stretch>
                  <a:fillRect l="-10127" r="-3797" b="-33333"/>
                </a:stretch>
              </a:blipFill>
            </p:spPr>
            <p:txBody>
              <a:bodyPr/>
              <a:lstStyle/>
              <a:p>
                <a:r>
                  <a:rPr lang="en-US">
                    <a:noFill/>
                  </a:rPr>
                  <a:t> </a:t>
                </a:r>
              </a:p>
            </p:txBody>
          </p:sp>
        </mc:Fallback>
      </mc:AlternateContent>
      <p:cxnSp>
        <p:nvCxnSpPr>
          <p:cNvPr id="19" name="Straight Connector 18">
            <a:extLst>
              <a:ext uri="{FF2B5EF4-FFF2-40B4-BE49-F238E27FC236}">
                <a16:creationId xmlns:a16="http://schemas.microsoft.com/office/drawing/2014/main" id="{77CBDC89-5C81-39F4-AAF6-8538E64A82B7}"/>
              </a:ext>
            </a:extLst>
          </p:cNvPr>
          <p:cNvCxnSpPr/>
          <p:nvPr/>
        </p:nvCxnSpPr>
        <p:spPr>
          <a:xfrm>
            <a:off x="557242" y="4132162"/>
            <a:ext cx="11273742" cy="0"/>
          </a:xfrm>
          <a:prstGeom prst="line">
            <a:avLst/>
          </a:prstGeom>
          <a:ln w="57150">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CBB2F71-B27C-E1C5-A470-76E89E17AED8}"/>
                  </a:ext>
                </a:extLst>
              </p:cNvPr>
              <p:cNvSpPr txBox="1"/>
              <p:nvPr/>
            </p:nvSpPr>
            <p:spPr>
              <a:xfrm>
                <a:off x="7726005" y="3571203"/>
                <a:ext cx="3798125" cy="369332"/>
              </a:xfrm>
              <a:prstGeom prst="rect">
                <a:avLst/>
              </a:prstGeom>
              <a:noFill/>
            </p:spPr>
            <p:txBody>
              <a:bodyPr wrap="square" lIns="0" tIns="0" rIns="0" bIns="0" rtlCol="0">
                <a:spAutoFit/>
              </a:bodyPr>
              <a:lstStyle/>
              <a:p>
                <a:pPr algn="ctr"/>
                <a:r>
                  <a:rPr lang="en-US" sz="2400" b="0" dirty="0">
                    <a:solidFill>
                      <a:srgbClr val="C00000"/>
                    </a:solidFill>
                    <a:latin typeface="Candara" panose="020E0502030303020204" pitchFamily="34" charset="0"/>
                  </a:rPr>
                  <a:t>Signature </a:t>
                </a:r>
                <a14:m>
                  <m:oMath xmlns:m="http://schemas.openxmlformats.org/officeDocument/2006/math">
                    <m:r>
                      <a:rPr lang="en-US" sz="2400" b="0" i="1" smtClean="0">
                        <a:solidFill>
                          <a:srgbClr val="C00000"/>
                        </a:solidFill>
                        <a:latin typeface="Cambria Math" panose="02040503050406030204" pitchFamily="18" charset="0"/>
                      </a:rPr>
                      <m:t>𝜎</m:t>
                    </m:r>
                  </m:oMath>
                </a14:m>
                <a:r>
                  <a:rPr lang="en-US" sz="2400" dirty="0">
                    <a:solidFill>
                      <a:srgbClr val="C00000"/>
                    </a:solidFill>
                    <a:latin typeface="Candara" panose="020E0502030303020204" pitchFamily="34" charset="0"/>
                  </a:rPr>
                  <a:t> of </a:t>
                </a:r>
                <a14:m>
                  <m:oMath xmlns:m="http://schemas.openxmlformats.org/officeDocument/2006/math">
                    <m:r>
                      <a:rPr lang="en-US" sz="2400" b="0" i="0" smtClean="0">
                        <a:solidFill>
                          <a:srgbClr val="C00000"/>
                        </a:solidFill>
                        <a:latin typeface="Cambria Math" panose="02040503050406030204" pitchFamily="18" charset="0"/>
                      </a:rPr>
                      <m:t>(</m:t>
                    </m:r>
                    <m:r>
                      <m:rPr>
                        <m:sty m:val="p"/>
                      </m:rPr>
                      <a:rPr lang="en-US" sz="2400" i="1">
                        <a:solidFill>
                          <a:srgbClr val="C00000"/>
                        </a:solidFill>
                        <a:latin typeface="Cambria Math" panose="02040503050406030204" pitchFamily="18" charset="0"/>
                      </a:rPr>
                      <m:t>key</m:t>
                    </m:r>
                    <m:r>
                      <a:rPr lang="en-US" sz="2400" b="0" i="1" smtClean="0">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𝑝</m:t>
                    </m:r>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𝑘</m:t>
                        </m:r>
                      </m:e>
                      <m:sub>
                        <m:r>
                          <a:rPr lang="en-US" sz="2400" i="1">
                            <a:solidFill>
                              <a:srgbClr val="C00000"/>
                            </a:solidFill>
                            <a:latin typeface="Cambria Math" panose="02040503050406030204" pitchFamily="18" charset="0"/>
                          </a:rPr>
                          <m:t>𝑈</m:t>
                        </m:r>
                      </m:sub>
                    </m:sSub>
                    <m:r>
                      <a:rPr lang="en-US" sz="2400" b="0" i="1" smtClean="0">
                        <a:solidFill>
                          <a:srgbClr val="C00000"/>
                        </a:solidFill>
                        <a:latin typeface="Cambria Math" panose="02040503050406030204" pitchFamily="18" charset="0"/>
                      </a:rPr>
                      <m:t>)</m:t>
                    </m:r>
                  </m:oMath>
                </a14:m>
                <a:endParaRPr lang="en-US" sz="2400" dirty="0">
                  <a:solidFill>
                    <a:srgbClr val="C00000"/>
                  </a:solidFill>
                  <a:latin typeface="Candara" panose="020E0502030303020204" pitchFamily="34" charset="0"/>
                </a:endParaRPr>
              </a:p>
            </p:txBody>
          </p:sp>
        </mc:Choice>
        <mc:Fallback xmlns="">
          <p:sp>
            <p:nvSpPr>
              <p:cNvPr id="20" name="TextBox 19">
                <a:extLst>
                  <a:ext uri="{FF2B5EF4-FFF2-40B4-BE49-F238E27FC236}">
                    <a16:creationId xmlns:a16="http://schemas.microsoft.com/office/drawing/2014/main" id="{3CBB2F71-B27C-E1C5-A470-76E89E17AED8}"/>
                  </a:ext>
                </a:extLst>
              </p:cNvPr>
              <p:cNvSpPr txBox="1">
                <a:spLocks noRot="1" noChangeAspect="1" noMove="1" noResize="1" noEditPoints="1" noAdjustHandles="1" noChangeArrowheads="1" noChangeShapeType="1" noTextEdit="1"/>
              </p:cNvSpPr>
              <p:nvPr/>
            </p:nvSpPr>
            <p:spPr>
              <a:xfrm>
                <a:off x="7726005" y="3571203"/>
                <a:ext cx="3798125" cy="369332"/>
              </a:xfrm>
              <a:prstGeom prst="rect">
                <a:avLst/>
              </a:prstGeom>
              <a:blipFill>
                <a:blip r:embed="rId11"/>
                <a:stretch>
                  <a:fillRect t="-23333" b="-46667"/>
                </a:stretch>
              </a:blipFill>
            </p:spPr>
            <p:txBody>
              <a:bodyPr/>
              <a:lstStyle/>
              <a:p>
                <a:r>
                  <a:rPr lang="en-US">
                    <a:noFill/>
                  </a:rPr>
                  <a:t> </a:t>
                </a:r>
              </a:p>
            </p:txBody>
          </p:sp>
        </mc:Fallback>
      </mc:AlternateContent>
      <p:grpSp>
        <p:nvGrpSpPr>
          <p:cNvPr id="21" name="Group 20">
            <a:extLst>
              <a:ext uri="{FF2B5EF4-FFF2-40B4-BE49-F238E27FC236}">
                <a16:creationId xmlns:a16="http://schemas.microsoft.com/office/drawing/2014/main" id="{8ECAEF22-A13B-0C2C-36B0-6B84A26B6E14}"/>
              </a:ext>
            </a:extLst>
          </p:cNvPr>
          <p:cNvGrpSpPr/>
          <p:nvPr/>
        </p:nvGrpSpPr>
        <p:grpSpPr>
          <a:xfrm>
            <a:off x="838200" y="4387601"/>
            <a:ext cx="2278444" cy="2237308"/>
            <a:chOff x="838200" y="4387601"/>
            <a:chExt cx="2278444" cy="2237308"/>
          </a:xfrm>
        </p:grpSpPr>
        <p:pic>
          <p:nvPicPr>
            <p:cNvPr id="22" name="Graphic 21" descr="Store with solid fill">
              <a:extLst>
                <a:ext uri="{FF2B5EF4-FFF2-40B4-BE49-F238E27FC236}">
                  <a16:creationId xmlns:a16="http://schemas.microsoft.com/office/drawing/2014/main" id="{EF8E2BB9-8829-133C-315B-1467DC8C318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73851" y="4990072"/>
              <a:ext cx="1634837" cy="1634837"/>
            </a:xfrm>
            <a:prstGeom prst="rect">
              <a:avLst/>
            </a:prstGeom>
          </p:spPr>
        </p:pic>
        <p:sp>
          <p:nvSpPr>
            <p:cNvPr id="23" name="TextBox 22">
              <a:extLst>
                <a:ext uri="{FF2B5EF4-FFF2-40B4-BE49-F238E27FC236}">
                  <a16:creationId xmlns:a16="http://schemas.microsoft.com/office/drawing/2014/main" id="{70DAB920-2100-4794-EF69-1CDDB8D31734}"/>
                </a:ext>
              </a:extLst>
            </p:cNvPr>
            <p:cNvSpPr txBox="1"/>
            <p:nvPr/>
          </p:nvSpPr>
          <p:spPr>
            <a:xfrm>
              <a:off x="1293188" y="4387601"/>
              <a:ext cx="1196161" cy="461665"/>
            </a:xfrm>
            <a:prstGeom prst="rect">
              <a:avLst/>
            </a:prstGeom>
            <a:noFill/>
          </p:spPr>
          <p:txBody>
            <a:bodyPr wrap="none" rtlCol="0">
              <a:spAutoFit/>
            </a:bodyPr>
            <a:lstStyle/>
            <a:p>
              <a:r>
                <a:rPr lang="en-US" sz="2400" b="1" dirty="0">
                  <a:latin typeface="Candara" panose="020E0502030303020204" pitchFamily="34" charset="0"/>
                </a:rPr>
                <a:t>Verifier</a:t>
              </a:r>
            </a:p>
          </p:txBody>
        </p:sp>
        <p:sp>
          <p:nvSpPr>
            <p:cNvPr id="24" name="TextBox 23">
              <a:extLst>
                <a:ext uri="{FF2B5EF4-FFF2-40B4-BE49-F238E27FC236}">
                  <a16:creationId xmlns:a16="http://schemas.microsoft.com/office/drawing/2014/main" id="{78F53856-62B3-F159-E635-6416C9D497E5}"/>
                </a:ext>
              </a:extLst>
            </p:cNvPr>
            <p:cNvSpPr txBox="1"/>
            <p:nvPr/>
          </p:nvSpPr>
          <p:spPr>
            <a:xfrm>
              <a:off x="838200" y="4837659"/>
              <a:ext cx="2278444" cy="369332"/>
            </a:xfrm>
            <a:prstGeom prst="rect">
              <a:avLst/>
            </a:prstGeom>
            <a:noFill/>
          </p:spPr>
          <p:txBody>
            <a:bodyPr wrap="none" rtlCol="0">
              <a:spAutoFit/>
            </a:bodyPr>
            <a:lstStyle/>
            <a:p>
              <a:r>
                <a:rPr lang="en-US" dirty="0" err="1">
                  <a:latin typeface="Candara" panose="020E0502030303020204" pitchFamily="34" charset="0"/>
                  <a:ea typeface="Cambria Math" panose="02040503050406030204" pitchFamily="18" charset="0"/>
                </a:rPr>
                <a:t>ctxt</a:t>
              </a:r>
              <a:r>
                <a:rPr lang="en-US" dirty="0">
                  <a:latin typeface="Candara" panose="020E0502030303020204" pitchFamily="34" charset="0"/>
                  <a:ea typeface="Cambria Math" panose="02040503050406030204" pitchFamily="18" charset="0"/>
                </a:rPr>
                <a:t> = ‘</a:t>
              </a:r>
              <a:r>
                <a:rPr lang="en-US" dirty="0" err="1">
                  <a:latin typeface="Candara" panose="020E0502030303020204" pitchFamily="34" charset="0"/>
                  <a:ea typeface="Cambria Math" panose="02040503050406030204" pitchFamily="18" charset="0"/>
                </a:rPr>
                <a:t>blahblah.com</a:t>
              </a:r>
              <a:r>
                <a:rPr lang="en-US" dirty="0">
                  <a:latin typeface="Candara" panose="020E0502030303020204" pitchFamily="34" charset="0"/>
                  <a:ea typeface="Cambria Math" panose="02040503050406030204" pitchFamily="18" charset="0"/>
                </a:rPr>
                <a:t>’</a:t>
              </a:r>
            </a:p>
          </p:txBody>
        </p:sp>
      </p:grpSp>
      <p:cxnSp>
        <p:nvCxnSpPr>
          <p:cNvPr id="25" name="Straight Arrow Connector 24">
            <a:extLst>
              <a:ext uri="{FF2B5EF4-FFF2-40B4-BE49-F238E27FC236}">
                <a16:creationId xmlns:a16="http://schemas.microsoft.com/office/drawing/2014/main" id="{288E365E-58E3-951E-E82B-85C10A66065C}"/>
              </a:ext>
            </a:extLst>
          </p:cNvPr>
          <p:cNvCxnSpPr>
            <a:cxnSpLocks/>
          </p:cNvCxnSpPr>
          <p:nvPr/>
        </p:nvCxnSpPr>
        <p:spPr>
          <a:xfrm flipH="1">
            <a:off x="4087081" y="6166306"/>
            <a:ext cx="2905291"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0AAE69C-3B15-54CF-0EC5-19F5F62D06D1}"/>
                  </a:ext>
                </a:extLst>
              </p:cNvPr>
              <p:cNvSpPr txBox="1"/>
              <p:nvPr/>
            </p:nvSpPr>
            <p:spPr>
              <a:xfrm>
                <a:off x="3672070" y="5093182"/>
                <a:ext cx="343138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𝑠𝑛</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m:t>
                          </m:r>
                        </m:e>
                        <m:sub/>
                      </m:sSub>
                      <m:r>
                        <m:rPr>
                          <m:sty m:val="p"/>
                        </m:rPr>
                        <a:rPr lang="en-US" sz="2400" b="0" i="1" smtClean="0">
                          <a:solidFill>
                            <a:srgbClr val="C00000"/>
                          </a:solidFill>
                          <a:latin typeface="Cambria Math" panose="02040503050406030204" pitchFamily="18" charset="0"/>
                        </a:rPr>
                        <m:t>PRF</m:t>
                      </m:r>
                      <m:r>
                        <a:rPr lang="en-US" sz="2400" b="0" i="1" smtClean="0">
                          <a:solidFill>
                            <a:srgbClr val="C00000"/>
                          </a:solidFill>
                          <a:latin typeface="Cambria Math" panose="02040503050406030204" pitchFamily="18" charset="0"/>
                        </a:rPr>
                        <m:t>(</m:t>
                      </m:r>
                      <m:r>
                        <m:rPr>
                          <m:sty m:val="p"/>
                        </m:rPr>
                        <a:rPr lang="en-US" sz="2400" i="1">
                          <a:solidFill>
                            <a:srgbClr val="C00000"/>
                          </a:solidFill>
                          <a:latin typeface="Cambria Math" panose="02040503050406030204" pitchFamily="18" charset="0"/>
                        </a:rPr>
                        <m:t>key</m:t>
                      </m:r>
                      <m:r>
                        <a:rPr lang="en-US" sz="2400" b="0" i="1" smtClean="0">
                          <a:solidFill>
                            <a:srgbClr val="C00000"/>
                          </a:solidFill>
                          <a:latin typeface="Cambria Math" panose="02040503050406030204" pitchFamily="18" charset="0"/>
                        </a:rPr>
                        <m:t>, </m:t>
                      </m:r>
                      <m:r>
                        <m:rPr>
                          <m:sty m:val="p"/>
                        </m:rPr>
                        <a:rPr lang="en-US" sz="2400" b="0" i="1" smtClean="0">
                          <a:solidFill>
                            <a:srgbClr val="C00000"/>
                          </a:solidFill>
                          <a:latin typeface="Cambria Math" panose="02040503050406030204" pitchFamily="18" charset="0"/>
                        </a:rPr>
                        <m:t>ctxt</m:t>
                      </m:r>
                      <m:r>
                        <a:rPr lang="en-US" sz="2400" b="0" i="1" smtClean="0">
                          <a:solidFill>
                            <a:srgbClr val="C00000"/>
                          </a:solidFill>
                          <a:latin typeface="Cambria Math" panose="02040503050406030204" pitchFamily="18" charset="0"/>
                        </a:rPr>
                        <m:t>||</m:t>
                      </m:r>
                      <m:r>
                        <m:rPr>
                          <m:sty m:val="p"/>
                        </m:rPr>
                        <a:rPr lang="en-US" sz="2400" b="0" i="1" smtClean="0">
                          <a:solidFill>
                            <a:srgbClr val="C00000"/>
                          </a:solidFill>
                          <a:latin typeface="Cambria Math" panose="02040503050406030204" pitchFamily="18" charset="0"/>
                        </a:rPr>
                        <m:t>ctr</m:t>
                      </m:r>
                      <m:r>
                        <a:rPr lang="en-US" sz="2400" b="0" i="1" smtClean="0">
                          <a:solidFill>
                            <a:srgbClr val="C00000"/>
                          </a:solidFill>
                          <a:latin typeface="Cambria Math" panose="02040503050406030204" pitchFamily="18" charset="0"/>
                        </a:rPr>
                        <m:t>)</m:t>
                      </m:r>
                    </m:oMath>
                  </m:oMathPara>
                </a14:m>
                <a:endParaRPr lang="en-US" sz="2400" dirty="0">
                  <a:solidFill>
                    <a:srgbClr val="C00000"/>
                  </a:solidFill>
                  <a:latin typeface="Candara" panose="020E0502030303020204" pitchFamily="34" charset="0"/>
                </a:endParaRPr>
              </a:p>
            </p:txBody>
          </p:sp>
        </mc:Choice>
        <mc:Fallback xmlns="">
          <p:sp>
            <p:nvSpPr>
              <p:cNvPr id="26" name="TextBox 25">
                <a:extLst>
                  <a:ext uri="{FF2B5EF4-FFF2-40B4-BE49-F238E27FC236}">
                    <a16:creationId xmlns:a16="http://schemas.microsoft.com/office/drawing/2014/main" id="{A0AAE69C-3B15-54CF-0EC5-19F5F62D06D1}"/>
                  </a:ext>
                </a:extLst>
              </p:cNvPr>
              <p:cNvSpPr txBox="1">
                <a:spLocks noRot="1" noChangeAspect="1" noMove="1" noResize="1" noEditPoints="1" noAdjustHandles="1" noChangeArrowheads="1" noChangeShapeType="1" noTextEdit="1"/>
              </p:cNvSpPr>
              <p:nvPr/>
            </p:nvSpPr>
            <p:spPr>
              <a:xfrm>
                <a:off x="3672070" y="5093182"/>
                <a:ext cx="3431389" cy="369332"/>
              </a:xfrm>
              <a:prstGeom prst="rect">
                <a:avLst/>
              </a:prstGeom>
              <a:blipFill>
                <a:blip r:embed="rId14"/>
                <a:stretch>
                  <a:fillRect l="-735" r="-2941" b="-322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E0A44FAF-B529-BE47-8F22-6461E4A917A4}"/>
                  </a:ext>
                </a:extLst>
              </p:cNvPr>
              <p:cNvSpPr txBox="1"/>
              <p:nvPr/>
            </p:nvSpPr>
            <p:spPr>
              <a:xfrm>
                <a:off x="5745311" y="5668971"/>
                <a:ext cx="25327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2400" b="0" i="1" smtClean="0">
                          <a:solidFill>
                            <a:srgbClr val="C00000"/>
                          </a:solidFill>
                          <a:latin typeface="Cambria Math" panose="02040503050406030204" pitchFamily="18" charset="0"/>
                        </a:rPr>
                        <m:t>π</m:t>
                      </m:r>
                    </m:oMath>
                  </m:oMathPara>
                </a14:m>
                <a:endParaRPr lang="en-US" sz="2400" dirty="0">
                  <a:solidFill>
                    <a:srgbClr val="C00000"/>
                  </a:solidFill>
                  <a:latin typeface="Candara" panose="020E0502030303020204" pitchFamily="34" charset="0"/>
                </a:endParaRPr>
              </a:p>
            </p:txBody>
          </p:sp>
        </mc:Choice>
        <mc:Fallback xmlns="">
          <p:sp>
            <p:nvSpPr>
              <p:cNvPr id="27" name="TextBox 26">
                <a:extLst>
                  <a:ext uri="{FF2B5EF4-FFF2-40B4-BE49-F238E27FC236}">
                    <a16:creationId xmlns:a16="http://schemas.microsoft.com/office/drawing/2014/main" id="{E0A44FAF-B529-BE47-8F22-6461E4A917A4}"/>
                  </a:ext>
                </a:extLst>
              </p:cNvPr>
              <p:cNvSpPr txBox="1">
                <a:spLocks noRot="1" noChangeAspect="1" noMove="1" noResize="1" noEditPoints="1" noAdjustHandles="1" noChangeArrowheads="1" noChangeShapeType="1" noTextEdit="1"/>
              </p:cNvSpPr>
              <p:nvPr/>
            </p:nvSpPr>
            <p:spPr>
              <a:xfrm>
                <a:off x="5745311" y="5668971"/>
                <a:ext cx="253274" cy="369332"/>
              </a:xfrm>
              <a:prstGeom prst="rect">
                <a:avLst/>
              </a:prstGeom>
              <a:blipFill>
                <a:blip r:embed="rId15"/>
                <a:stretch>
                  <a:fillRect l="-14286" r="-14286"/>
                </a:stretch>
              </a:blipFill>
            </p:spPr>
            <p:txBody>
              <a:bodyPr/>
              <a:lstStyle/>
              <a:p>
                <a:r>
                  <a:rPr lang="en-US">
                    <a:noFill/>
                  </a:rPr>
                  <a:t> </a:t>
                </a:r>
              </a:p>
            </p:txBody>
          </p:sp>
        </mc:Fallback>
      </mc:AlternateContent>
      <p:sp>
        <p:nvSpPr>
          <p:cNvPr id="29" name="TextBox 28">
            <a:extLst>
              <a:ext uri="{FF2B5EF4-FFF2-40B4-BE49-F238E27FC236}">
                <a16:creationId xmlns:a16="http://schemas.microsoft.com/office/drawing/2014/main" id="{1777C508-263A-C117-F31B-96C71645063F}"/>
              </a:ext>
            </a:extLst>
          </p:cNvPr>
          <p:cNvSpPr txBox="1"/>
          <p:nvPr/>
        </p:nvSpPr>
        <p:spPr>
          <a:xfrm>
            <a:off x="3514992" y="4495483"/>
            <a:ext cx="3911905" cy="400110"/>
          </a:xfrm>
          <a:prstGeom prst="rect">
            <a:avLst/>
          </a:prstGeom>
          <a:noFill/>
        </p:spPr>
        <p:txBody>
          <a:bodyPr wrap="none" rtlCol="0">
            <a:spAutoFit/>
          </a:bodyPr>
          <a:lstStyle/>
          <a:p>
            <a:r>
              <a:rPr lang="en-US" sz="2000" dirty="0">
                <a:solidFill>
                  <a:srgbClr val="C00000"/>
                </a:solidFill>
                <a:latin typeface="Candara" panose="020E0502030303020204" pitchFamily="34" charset="0"/>
              </a:rPr>
              <a:t>Only computationally anonymous</a:t>
            </a:r>
          </a:p>
        </p:txBody>
      </p:sp>
      <p:pic>
        <p:nvPicPr>
          <p:cNvPr id="31" name="Graphic 30" descr="Badge Cross with solid fill">
            <a:extLst>
              <a:ext uri="{FF2B5EF4-FFF2-40B4-BE49-F238E27FC236}">
                <a16:creationId xmlns:a16="http://schemas.microsoft.com/office/drawing/2014/main" id="{CE56EA8E-5389-0E70-C36B-5F0D87DEB6A4}"/>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382209" y="4241081"/>
            <a:ext cx="1811904" cy="1811904"/>
          </a:xfrm>
          <a:prstGeom prst="rect">
            <a:avLst/>
          </a:prstGeom>
        </p:spPr>
      </p:pic>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29296BFF-273F-FEC3-8E24-C79E9FA7FA22}"/>
                  </a:ext>
                </a:extLst>
              </p:cNvPr>
              <p:cNvSpPr txBox="1"/>
              <p:nvPr/>
            </p:nvSpPr>
            <p:spPr>
              <a:xfrm>
                <a:off x="8092042" y="5147033"/>
                <a:ext cx="231242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𝑠𝑛</m:t>
                      </m:r>
                      <m:r>
                        <a:rPr lang="en-US" sz="2400" b="0" i="1" smtClean="0">
                          <a:solidFill>
                            <a:srgbClr val="C00000"/>
                          </a:solidFill>
                          <a:latin typeface="Cambria Math" panose="02040503050406030204" pitchFamily="18" charset="0"/>
                        </a:rPr>
                        <m:t>←</m:t>
                      </m:r>
                      <m:r>
                        <a:rPr lang="en-US" sz="2400" b="0" i="1" smtClean="0">
                          <a:solidFill>
                            <a:srgbClr val="C00000"/>
                          </a:solidFill>
                          <a:latin typeface="Cambria Math" panose="02040503050406030204" pitchFamily="18" charset="0"/>
                        </a:rPr>
                        <m:t>𝑓</m:t>
                      </m:r>
                      <m:r>
                        <a:rPr lang="en-US" sz="2400" b="0" i="1" smtClean="0">
                          <a:solidFill>
                            <a:srgbClr val="C00000"/>
                          </a:solidFill>
                          <a:latin typeface="Cambria Math" panose="02040503050406030204" pitchFamily="18" charset="0"/>
                        </a:rPr>
                        <m:t>(</m:t>
                      </m:r>
                      <m:r>
                        <m:rPr>
                          <m:sty m:val="p"/>
                        </m:rPr>
                        <a:rPr lang="en-US" sz="2400" b="0" i="1" smtClean="0">
                          <a:solidFill>
                            <a:srgbClr val="C00000"/>
                          </a:solidFill>
                          <a:latin typeface="Cambria Math" panose="02040503050406030204" pitchFamily="18" charset="0"/>
                        </a:rPr>
                        <m:t>ctxt</m:t>
                      </m:r>
                      <m:r>
                        <a:rPr lang="en-US" sz="2400" b="0" i="1" smtClean="0">
                          <a:solidFill>
                            <a:srgbClr val="C00000"/>
                          </a:solidFill>
                          <a:latin typeface="Cambria Math" panose="02040503050406030204" pitchFamily="18" charset="0"/>
                        </a:rPr>
                        <m:t>||</m:t>
                      </m:r>
                      <m:r>
                        <m:rPr>
                          <m:sty m:val="p"/>
                        </m:rPr>
                        <a:rPr lang="en-US" sz="2400" b="0" i="1" smtClean="0">
                          <a:solidFill>
                            <a:srgbClr val="C00000"/>
                          </a:solidFill>
                          <a:latin typeface="Cambria Math" panose="02040503050406030204" pitchFamily="18" charset="0"/>
                        </a:rPr>
                        <m:t>ctr</m:t>
                      </m:r>
                      <m:r>
                        <a:rPr lang="en-US" sz="2400" b="0" i="1" smtClean="0">
                          <a:solidFill>
                            <a:srgbClr val="C00000"/>
                          </a:solidFill>
                          <a:latin typeface="Cambria Math" panose="02040503050406030204" pitchFamily="18" charset="0"/>
                        </a:rPr>
                        <m:t>)</m:t>
                      </m:r>
                    </m:oMath>
                  </m:oMathPara>
                </a14:m>
                <a:endParaRPr lang="en-US" sz="2400" dirty="0">
                  <a:solidFill>
                    <a:srgbClr val="C00000"/>
                  </a:solidFill>
                  <a:latin typeface="Candara" panose="020E0502030303020204" pitchFamily="34" charset="0"/>
                </a:endParaRPr>
              </a:p>
            </p:txBody>
          </p:sp>
        </mc:Choice>
        <mc:Fallback xmlns="">
          <p:sp>
            <p:nvSpPr>
              <p:cNvPr id="32" name="TextBox 31">
                <a:extLst>
                  <a:ext uri="{FF2B5EF4-FFF2-40B4-BE49-F238E27FC236}">
                    <a16:creationId xmlns:a16="http://schemas.microsoft.com/office/drawing/2014/main" id="{29296BFF-273F-FEC3-8E24-C79E9FA7FA22}"/>
                  </a:ext>
                </a:extLst>
              </p:cNvPr>
              <p:cNvSpPr txBox="1">
                <a:spLocks noRot="1" noChangeAspect="1" noMove="1" noResize="1" noEditPoints="1" noAdjustHandles="1" noChangeArrowheads="1" noChangeShapeType="1" noTextEdit="1"/>
              </p:cNvSpPr>
              <p:nvPr/>
            </p:nvSpPr>
            <p:spPr>
              <a:xfrm>
                <a:off x="8092042" y="5147033"/>
                <a:ext cx="2312428" cy="369332"/>
              </a:xfrm>
              <a:prstGeom prst="rect">
                <a:avLst/>
              </a:prstGeom>
              <a:blipFill>
                <a:blip r:embed="rId18"/>
                <a:stretch>
                  <a:fillRect l="-543" r="-4348"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273DA811-8528-3802-17B7-DB20C66D221A}"/>
                  </a:ext>
                </a:extLst>
              </p:cNvPr>
              <p:cNvSpPr txBox="1"/>
              <p:nvPr/>
            </p:nvSpPr>
            <p:spPr>
              <a:xfrm>
                <a:off x="8043820" y="4650142"/>
                <a:ext cx="3128229" cy="461665"/>
              </a:xfrm>
              <a:prstGeom prst="rect">
                <a:avLst/>
              </a:prstGeom>
              <a:noFill/>
            </p:spPr>
            <p:txBody>
              <a:bodyPr wrap="none" rtlCol="0">
                <a:spAutoFit/>
              </a:bodyPr>
              <a:lstStyle/>
              <a:p>
                <a:r>
                  <a:rPr lang="en-US" sz="2400" dirty="0">
                    <a:solidFill>
                      <a:srgbClr val="C00000"/>
                    </a:solidFill>
                  </a:rPr>
                  <a:t>Degree </a:t>
                </a:r>
                <a14:m>
                  <m:oMath xmlns:m="http://schemas.openxmlformats.org/officeDocument/2006/math">
                    <m:r>
                      <a:rPr lang="en-US" sz="2400" i="1" dirty="0" smtClean="0">
                        <a:solidFill>
                          <a:srgbClr val="C00000"/>
                        </a:solidFill>
                        <a:latin typeface="Cambria Math" panose="02040503050406030204" pitchFamily="18" charset="0"/>
                      </a:rPr>
                      <m:t>𝑘</m:t>
                    </m:r>
                  </m:oMath>
                </a14:m>
                <a:r>
                  <a:rPr lang="en-US" sz="2400" dirty="0">
                    <a:solidFill>
                      <a:srgbClr val="C00000"/>
                    </a:solidFill>
                  </a:rPr>
                  <a:t> polynomial </a:t>
                </a:r>
                <a14:m>
                  <m:oMath xmlns:m="http://schemas.openxmlformats.org/officeDocument/2006/math">
                    <m:r>
                      <a:rPr lang="en-US" sz="2400" i="1" dirty="0" smtClean="0">
                        <a:solidFill>
                          <a:srgbClr val="C00000"/>
                        </a:solidFill>
                        <a:latin typeface="Cambria Math" panose="02040503050406030204" pitchFamily="18" charset="0"/>
                      </a:rPr>
                      <m:t>𝑓</m:t>
                    </m:r>
                  </m:oMath>
                </a14:m>
                <a:endParaRPr lang="en-US" sz="2400" dirty="0">
                  <a:solidFill>
                    <a:srgbClr val="C00000"/>
                  </a:solidFill>
                </a:endParaRPr>
              </a:p>
            </p:txBody>
          </p:sp>
        </mc:Choice>
        <mc:Fallback xmlns="">
          <p:sp>
            <p:nvSpPr>
              <p:cNvPr id="33" name="TextBox 32">
                <a:extLst>
                  <a:ext uri="{FF2B5EF4-FFF2-40B4-BE49-F238E27FC236}">
                    <a16:creationId xmlns:a16="http://schemas.microsoft.com/office/drawing/2014/main" id="{273DA811-8528-3802-17B7-DB20C66D221A}"/>
                  </a:ext>
                </a:extLst>
              </p:cNvPr>
              <p:cNvSpPr txBox="1">
                <a:spLocks noRot="1" noChangeAspect="1" noMove="1" noResize="1" noEditPoints="1" noAdjustHandles="1" noChangeArrowheads="1" noChangeShapeType="1" noTextEdit="1"/>
              </p:cNvSpPr>
              <p:nvPr/>
            </p:nvSpPr>
            <p:spPr>
              <a:xfrm>
                <a:off x="8043820" y="4650142"/>
                <a:ext cx="3128229" cy="461665"/>
              </a:xfrm>
              <a:prstGeom prst="rect">
                <a:avLst/>
              </a:prstGeom>
              <a:blipFill>
                <a:blip r:embed="rId19"/>
                <a:stretch>
                  <a:fillRect l="-3239" t="-8108" r="-405" b="-29730"/>
                </a:stretch>
              </a:blipFill>
            </p:spPr>
            <p:txBody>
              <a:bodyPr/>
              <a:lstStyle/>
              <a:p>
                <a:r>
                  <a:rPr lang="en-US">
                    <a:noFill/>
                  </a:rPr>
                  <a:t> </a:t>
                </a:r>
              </a:p>
            </p:txBody>
          </p:sp>
        </mc:Fallback>
      </mc:AlternateContent>
    </p:spTree>
    <p:extLst>
      <p:ext uri="{BB962C8B-B14F-4D97-AF65-F5344CB8AC3E}">
        <p14:creationId xmlns:p14="http://schemas.microsoft.com/office/powerpoint/2010/main" val="2015847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4935D-076C-87AB-D37A-7AE5836E5182}"/>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37D6CA0E-D549-4113-7713-9B86E114E0BB}"/>
              </a:ext>
            </a:extLst>
          </p:cNvPr>
          <p:cNvGrpSpPr/>
          <p:nvPr/>
        </p:nvGrpSpPr>
        <p:grpSpPr>
          <a:xfrm>
            <a:off x="9529179" y="1816834"/>
            <a:ext cx="1330036" cy="1581514"/>
            <a:chOff x="9700876" y="2058675"/>
            <a:chExt cx="1330036" cy="1581514"/>
          </a:xfrm>
        </p:grpSpPr>
        <p:pic>
          <p:nvPicPr>
            <p:cNvPr id="6" name="Graphic 5" descr="User outline">
              <a:extLst>
                <a:ext uri="{FF2B5EF4-FFF2-40B4-BE49-F238E27FC236}">
                  <a16:creationId xmlns:a16="http://schemas.microsoft.com/office/drawing/2014/main" id="{65EC46D4-7677-37B5-9576-18047E42E82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00876" y="2310153"/>
              <a:ext cx="1330036" cy="1330036"/>
            </a:xfrm>
            <a:prstGeom prst="rect">
              <a:avLst/>
            </a:prstGeom>
          </p:spPr>
        </p:pic>
        <p:sp>
          <p:nvSpPr>
            <p:cNvPr id="7" name="TextBox 6">
              <a:extLst>
                <a:ext uri="{FF2B5EF4-FFF2-40B4-BE49-F238E27FC236}">
                  <a16:creationId xmlns:a16="http://schemas.microsoft.com/office/drawing/2014/main" id="{6427C0A9-D539-8E3B-43B5-17E9CCBE6B2D}"/>
                </a:ext>
              </a:extLst>
            </p:cNvPr>
            <p:cNvSpPr txBox="1"/>
            <p:nvPr/>
          </p:nvSpPr>
          <p:spPr>
            <a:xfrm>
              <a:off x="9859542" y="2058675"/>
              <a:ext cx="792205" cy="461665"/>
            </a:xfrm>
            <a:prstGeom prst="rect">
              <a:avLst/>
            </a:prstGeom>
            <a:noFill/>
          </p:spPr>
          <p:txBody>
            <a:bodyPr wrap="none" rtlCol="0">
              <a:spAutoFit/>
            </a:bodyPr>
            <a:lstStyle/>
            <a:p>
              <a:r>
                <a:rPr lang="en-US" sz="2400" b="1" dirty="0">
                  <a:latin typeface="Candara" panose="020E0502030303020204" pitchFamily="34" charset="0"/>
                </a:rPr>
                <a:t>User</a:t>
              </a:r>
            </a:p>
          </p:txBody>
        </p:sp>
      </p:grpSp>
      <p:grpSp>
        <p:nvGrpSpPr>
          <p:cNvPr id="8" name="Group 7">
            <a:extLst>
              <a:ext uri="{FF2B5EF4-FFF2-40B4-BE49-F238E27FC236}">
                <a16:creationId xmlns:a16="http://schemas.microsoft.com/office/drawing/2014/main" id="{31C276B6-0654-B113-DF88-044AA5D5BDC8}"/>
              </a:ext>
            </a:extLst>
          </p:cNvPr>
          <p:cNvGrpSpPr/>
          <p:nvPr/>
        </p:nvGrpSpPr>
        <p:grpSpPr>
          <a:xfrm>
            <a:off x="1290737" y="1690688"/>
            <a:ext cx="1634837" cy="1955203"/>
            <a:chOff x="3154262" y="1690688"/>
            <a:chExt cx="1634837" cy="1955203"/>
          </a:xfrm>
        </p:grpSpPr>
        <p:pic>
          <p:nvPicPr>
            <p:cNvPr id="9" name="Graphic 8" descr="Bank outline">
              <a:extLst>
                <a:ext uri="{FF2B5EF4-FFF2-40B4-BE49-F238E27FC236}">
                  <a16:creationId xmlns:a16="http://schemas.microsoft.com/office/drawing/2014/main" id="{86565674-F244-645C-F80B-1B926B9E7A3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154262" y="2011054"/>
              <a:ext cx="1634837" cy="1634837"/>
            </a:xfrm>
            <a:prstGeom prst="rect">
              <a:avLst/>
            </a:prstGeom>
          </p:spPr>
        </p:pic>
        <p:sp>
          <p:nvSpPr>
            <p:cNvPr id="10" name="TextBox 9">
              <a:extLst>
                <a:ext uri="{FF2B5EF4-FFF2-40B4-BE49-F238E27FC236}">
                  <a16:creationId xmlns:a16="http://schemas.microsoft.com/office/drawing/2014/main" id="{B4BDADD1-DD5E-A7CE-D289-6403801D95B9}"/>
                </a:ext>
              </a:extLst>
            </p:cNvPr>
            <p:cNvSpPr txBox="1"/>
            <p:nvPr/>
          </p:nvSpPr>
          <p:spPr>
            <a:xfrm>
              <a:off x="3355853" y="1690688"/>
              <a:ext cx="973343" cy="461665"/>
            </a:xfrm>
            <a:prstGeom prst="rect">
              <a:avLst/>
            </a:prstGeom>
            <a:noFill/>
          </p:spPr>
          <p:txBody>
            <a:bodyPr wrap="none" rtlCol="0">
              <a:spAutoFit/>
            </a:bodyPr>
            <a:lstStyle/>
            <a:p>
              <a:r>
                <a:rPr lang="en-US" sz="2400" b="1" dirty="0">
                  <a:latin typeface="Candara" panose="020E0502030303020204" pitchFamily="34" charset="0"/>
                </a:rPr>
                <a:t>Issuer</a:t>
              </a:r>
            </a:p>
          </p:txBody>
        </p:sp>
      </p:gr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43B2182-3EE9-A66E-5A86-B5CE162BC0EB}"/>
                  </a:ext>
                </a:extLst>
              </p:cNvPr>
              <p:cNvSpPr txBox="1"/>
              <p:nvPr/>
            </p:nvSpPr>
            <p:spPr>
              <a:xfrm>
                <a:off x="616643" y="2098964"/>
                <a:ext cx="67409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𝑠</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𝑘</m:t>
                          </m:r>
                        </m:e>
                        <m:sub>
                          <m:r>
                            <a:rPr lang="en-US" sz="2400" b="0" i="1" smtClean="0">
                              <a:solidFill>
                                <a:srgbClr val="C00000"/>
                              </a:solidFill>
                              <a:latin typeface="Cambria Math" panose="02040503050406030204" pitchFamily="18" charset="0"/>
                            </a:rPr>
                            <m:t>𝐼</m:t>
                          </m:r>
                        </m:sub>
                      </m:sSub>
                    </m:oMath>
                  </m:oMathPara>
                </a14:m>
                <a:endParaRPr lang="en-US" sz="2400" dirty="0">
                  <a:solidFill>
                    <a:srgbClr val="C00000"/>
                  </a:solidFill>
                  <a:latin typeface="Candara" panose="020E0502030303020204" pitchFamily="34" charset="0"/>
                </a:endParaRPr>
              </a:p>
            </p:txBody>
          </p:sp>
        </mc:Choice>
        <mc:Fallback xmlns="">
          <p:sp>
            <p:nvSpPr>
              <p:cNvPr id="11" name="TextBox 10">
                <a:extLst>
                  <a:ext uri="{FF2B5EF4-FFF2-40B4-BE49-F238E27FC236}">
                    <a16:creationId xmlns:a16="http://schemas.microsoft.com/office/drawing/2014/main" id="{243B2182-3EE9-A66E-5A86-B5CE162BC0EB}"/>
                  </a:ext>
                </a:extLst>
              </p:cNvPr>
              <p:cNvSpPr txBox="1">
                <a:spLocks noRot="1" noChangeAspect="1" noMove="1" noResize="1" noEditPoints="1" noAdjustHandles="1" noChangeArrowheads="1" noChangeShapeType="1" noTextEdit="1"/>
              </p:cNvSpPr>
              <p:nvPr/>
            </p:nvSpPr>
            <p:spPr>
              <a:xfrm>
                <a:off x="616643" y="2098964"/>
                <a:ext cx="674094" cy="461665"/>
              </a:xfrm>
              <a:prstGeom prst="rect">
                <a:avLst/>
              </a:prstGeom>
              <a:blipFill>
                <a:blip r:embed="rId7"/>
                <a:stretch>
                  <a:fillRect b="-27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EC55ABD-C917-A43F-39E2-6B3BC8738A1A}"/>
                  </a:ext>
                </a:extLst>
              </p:cNvPr>
              <p:cNvSpPr txBox="1"/>
              <p:nvPr/>
            </p:nvSpPr>
            <p:spPr>
              <a:xfrm>
                <a:off x="10701852" y="2008461"/>
                <a:ext cx="70044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solidFill>
                            <a:srgbClr val="C00000"/>
                          </a:solidFill>
                          <a:latin typeface="Cambria Math" panose="02040503050406030204" pitchFamily="18" charset="0"/>
                        </a:rPr>
                        <m:t>𝑝</m:t>
                      </m:r>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𝑘</m:t>
                          </m:r>
                        </m:e>
                        <m:sub>
                          <m:r>
                            <a:rPr lang="en-US" sz="2400" i="1">
                              <a:solidFill>
                                <a:srgbClr val="C00000"/>
                              </a:solidFill>
                              <a:latin typeface="Cambria Math" panose="02040503050406030204" pitchFamily="18" charset="0"/>
                            </a:rPr>
                            <m:t>𝐼</m:t>
                          </m:r>
                        </m:sub>
                      </m:sSub>
                    </m:oMath>
                  </m:oMathPara>
                </a14:m>
                <a:endParaRPr lang="en-US" sz="2400" dirty="0">
                  <a:solidFill>
                    <a:srgbClr val="C00000"/>
                  </a:solidFill>
                  <a:latin typeface="Candara" panose="020E0502030303020204" pitchFamily="34" charset="0"/>
                </a:endParaRPr>
              </a:p>
            </p:txBody>
          </p:sp>
        </mc:Choice>
        <mc:Fallback xmlns="">
          <p:sp>
            <p:nvSpPr>
              <p:cNvPr id="12" name="TextBox 11">
                <a:extLst>
                  <a:ext uri="{FF2B5EF4-FFF2-40B4-BE49-F238E27FC236}">
                    <a16:creationId xmlns:a16="http://schemas.microsoft.com/office/drawing/2014/main" id="{0EC55ABD-C917-A43F-39E2-6B3BC8738A1A}"/>
                  </a:ext>
                </a:extLst>
              </p:cNvPr>
              <p:cNvSpPr txBox="1">
                <a:spLocks noRot="1" noChangeAspect="1" noMove="1" noResize="1" noEditPoints="1" noAdjustHandles="1" noChangeArrowheads="1" noChangeShapeType="1" noTextEdit="1"/>
              </p:cNvSpPr>
              <p:nvPr/>
            </p:nvSpPr>
            <p:spPr>
              <a:xfrm>
                <a:off x="10701852" y="2008461"/>
                <a:ext cx="700448" cy="461665"/>
              </a:xfrm>
              <a:prstGeom prst="rect">
                <a:avLst/>
              </a:prstGeom>
              <a:blipFill>
                <a:blip r:embed="rId8"/>
                <a:stretch>
                  <a:fillRect b="-78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2E76C93-A21D-FA40-B02E-BE6EF02B3593}"/>
                  </a:ext>
                </a:extLst>
              </p:cNvPr>
              <p:cNvSpPr txBox="1"/>
              <p:nvPr/>
            </p:nvSpPr>
            <p:spPr>
              <a:xfrm>
                <a:off x="10742453" y="2647569"/>
                <a:ext cx="619245"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C00000"/>
                          </a:solidFill>
                          <a:latin typeface="Cambria Math" panose="02040503050406030204" pitchFamily="18" charset="0"/>
                        </a:rPr>
                        <m:t>𝑝</m:t>
                      </m:r>
                      <m:sSub>
                        <m:sSubPr>
                          <m:ctrlPr>
                            <a:rPr lang="en-US" sz="2400" b="0" i="1" smtClean="0">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𝑘</m:t>
                          </m:r>
                        </m:e>
                        <m:sub>
                          <m:r>
                            <a:rPr lang="en-US" sz="2400" b="0" i="1" smtClean="0">
                              <a:solidFill>
                                <a:srgbClr val="C00000"/>
                              </a:solidFill>
                              <a:latin typeface="Cambria Math" panose="02040503050406030204" pitchFamily="18" charset="0"/>
                            </a:rPr>
                            <m:t>𝑈</m:t>
                          </m:r>
                        </m:sub>
                      </m:sSub>
                    </m:oMath>
                  </m:oMathPara>
                </a14:m>
                <a:endParaRPr lang="en-US" sz="2400" dirty="0">
                  <a:latin typeface="Candara" panose="020E0502030303020204" pitchFamily="34" charset="0"/>
                </a:endParaRPr>
              </a:p>
            </p:txBody>
          </p:sp>
        </mc:Choice>
        <mc:Fallback xmlns="">
          <p:sp>
            <p:nvSpPr>
              <p:cNvPr id="13" name="TextBox 12">
                <a:extLst>
                  <a:ext uri="{FF2B5EF4-FFF2-40B4-BE49-F238E27FC236}">
                    <a16:creationId xmlns:a16="http://schemas.microsoft.com/office/drawing/2014/main" id="{F2E76C93-A21D-FA40-B02E-BE6EF02B3593}"/>
                  </a:ext>
                </a:extLst>
              </p:cNvPr>
              <p:cNvSpPr txBox="1">
                <a:spLocks noRot="1" noChangeAspect="1" noMove="1" noResize="1" noEditPoints="1" noAdjustHandles="1" noChangeArrowheads="1" noChangeShapeType="1" noTextEdit="1"/>
              </p:cNvSpPr>
              <p:nvPr/>
            </p:nvSpPr>
            <p:spPr>
              <a:xfrm>
                <a:off x="10742453" y="2647569"/>
                <a:ext cx="619245" cy="461665"/>
              </a:xfrm>
              <a:prstGeom prst="rect">
                <a:avLst/>
              </a:prstGeom>
              <a:blipFill>
                <a:blip r:embed="rId9"/>
                <a:stretch>
                  <a:fillRect l="-2000" r="-8000" b="-10811"/>
                </a:stretch>
              </a:blipFill>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21638C90-3523-A52F-AD13-B46F551A8603}"/>
              </a:ext>
            </a:extLst>
          </p:cNvPr>
          <p:cNvCxnSpPr>
            <a:cxnSpLocks/>
          </p:cNvCxnSpPr>
          <p:nvPr/>
        </p:nvCxnSpPr>
        <p:spPr>
          <a:xfrm>
            <a:off x="4087082" y="3426717"/>
            <a:ext cx="2952870"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6E57AF71-D3FD-BD2C-EA90-494744D66EAF}"/>
              </a:ext>
            </a:extLst>
          </p:cNvPr>
          <p:cNvCxnSpPr>
            <a:cxnSpLocks/>
          </p:cNvCxnSpPr>
          <p:nvPr/>
        </p:nvCxnSpPr>
        <p:spPr>
          <a:xfrm flipH="1">
            <a:off x="4060405" y="2453040"/>
            <a:ext cx="2905291"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36B83889-FB8F-CE80-5147-6334E84F6BFF}"/>
              </a:ext>
            </a:extLst>
          </p:cNvPr>
          <p:cNvCxnSpPr/>
          <p:nvPr/>
        </p:nvCxnSpPr>
        <p:spPr>
          <a:xfrm>
            <a:off x="557242" y="4132162"/>
            <a:ext cx="11273742" cy="0"/>
          </a:xfrm>
          <a:prstGeom prst="line">
            <a:avLst/>
          </a:prstGeom>
          <a:ln w="57150">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DEF1A44-85A3-424C-F68D-E77084FFB38E}"/>
                  </a:ext>
                </a:extLst>
              </p:cNvPr>
              <p:cNvSpPr txBox="1"/>
              <p:nvPr/>
            </p:nvSpPr>
            <p:spPr>
              <a:xfrm>
                <a:off x="8393875" y="3551618"/>
                <a:ext cx="3798125" cy="398955"/>
              </a:xfrm>
              <a:prstGeom prst="rect">
                <a:avLst/>
              </a:prstGeom>
              <a:noFill/>
            </p:spPr>
            <p:txBody>
              <a:bodyPr wrap="square" lIns="0" tIns="0" rIns="0" bIns="0" rtlCol="0">
                <a:spAutoFit/>
              </a:bodyPr>
              <a:lstStyle/>
              <a:p>
                <a:pPr algn="ctr"/>
                <a:r>
                  <a:rPr lang="en-US" sz="2400" b="0" dirty="0">
                    <a:solidFill>
                      <a:srgbClr val="C00000"/>
                    </a:solidFill>
                    <a:latin typeface="Candara" panose="020E0502030303020204" pitchFamily="34" charset="0"/>
                  </a:rPr>
                  <a:t>Signature </a:t>
                </a:r>
                <a14:m>
                  <m:oMath xmlns:m="http://schemas.openxmlformats.org/officeDocument/2006/math">
                    <m:r>
                      <a:rPr lang="en-US" sz="2400" b="0" i="1" smtClean="0">
                        <a:solidFill>
                          <a:srgbClr val="C00000"/>
                        </a:solidFill>
                        <a:latin typeface="Cambria Math" panose="02040503050406030204" pitchFamily="18" charset="0"/>
                      </a:rPr>
                      <m:t>𝜎</m:t>
                    </m:r>
                  </m:oMath>
                </a14:m>
                <a:r>
                  <a:rPr lang="en-US" sz="2400" dirty="0">
                    <a:solidFill>
                      <a:srgbClr val="C00000"/>
                    </a:solidFill>
                    <a:latin typeface="Candara" panose="020E0502030303020204" pitchFamily="34" charset="0"/>
                  </a:rPr>
                  <a:t> of </a:t>
                </a:r>
                <a14:m>
                  <m:oMath xmlns:m="http://schemas.openxmlformats.org/officeDocument/2006/math">
                    <m:r>
                      <a:rPr lang="en-US" sz="2400" b="0" i="0" smtClean="0">
                        <a:solidFill>
                          <a:srgbClr val="C00000"/>
                        </a:solidFill>
                        <a:latin typeface="Cambria Math" panose="02040503050406030204" pitchFamily="18" charset="0"/>
                      </a:rPr>
                      <m:t>(</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𝐶</m:t>
                        </m:r>
                      </m:e>
                      <m:sub>
                        <m:r>
                          <a:rPr lang="en-US" sz="2400" b="0" i="1" smtClean="0">
                            <a:solidFill>
                              <a:srgbClr val="C00000"/>
                            </a:solidFill>
                            <a:latin typeface="Cambria Math" panose="02040503050406030204" pitchFamily="18" charset="0"/>
                          </a:rPr>
                          <m:t>𝑓</m:t>
                        </m:r>
                      </m:sub>
                    </m:sSub>
                    <m:r>
                      <a:rPr lang="en-US" sz="2400" b="0" i="1" smtClean="0">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𝑝</m:t>
                    </m:r>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𝑘</m:t>
                        </m:r>
                      </m:e>
                      <m:sub>
                        <m:r>
                          <a:rPr lang="en-US" sz="2400" i="1">
                            <a:solidFill>
                              <a:srgbClr val="C00000"/>
                            </a:solidFill>
                            <a:latin typeface="Cambria Math" panose="02040503050406030204" pitchFamily="18" charset="0"/>
                          </a:rPr>
                          <m:t>𝑈</m:t>
                        </m:r>
                      </m:sub>
                    </m:sSub>
                    <m:r>
                      <a:rPr lang="en-US" sz="2400" b="0" i="1" smtClean="0">
                        <a:solidFill>
                          <a:srgbClr val="C00000"/>
                        </a:solidFill>
                        <a:latin typeface="Cambria Math" panose="02040503050406030204" pitchFamily="18" charset="0"/>
                      </a:rPr>
                      <m:t>)</m:t>
                    </m:r>
                  </m:oMath>
                </a14:m>
                <a:endParaRPr lang="en-US" sz="2400" dirty="0">
                  <a:solidFill>
                    <a:srgbClr val="C00000"/>
                  </a:solidFill>
                  <a:latin typeface="Candara" panose="020E0502030303020204" pitchFamily="34" charset="0"/>
                </a:endParaRPr>
              </a:p>
            </p:txBody>
          </p:sp>
        </mc:Choice>
        <mc:Fallback xmlns="">
          <p:sp>
            <p:nvSpPr>
              <p:cNvPr id="20" name="TextBox 19">
                <a:extLst>
                  <a:ext uri="{FF2B5EF4-FFF2-40B4-BE49-F238E27FC236}">
                    <a16:creationId xmlns:a16="http://schemas.microsoft.com/office/drawing/2014/main" id="{2DEF1A44-85A3-424C-F68D-E77084FFB38E}"/>
                  </a:ext>
                </a:extLst>
              </p:cNvPr>
              <p:cNvSpPr txBox="1">
                <a:spLocks noRot="1" noChangeAspect="1" noMove="1" noResize="1" noEditPoints="1" noAdjustHandles="1" noChangeArrowheads="1" noChangeShapeType="1" noTextEdit="1"/>
              </p:cNvSpPr>
              <p:nvPr/>
            </p:nvSpPr>
            <p:spPr>
              <a:xfrm>
                <a:off x="8393875" y="3551618"/>
                <a:ext cx="3798125" cy="398955"/>
              </a:xfrm>
              <a:prstGeom prst="rect">
                <a:avLst/>
              </a:prstGeom>
              <a:blipFill>
                <a:blip r:embed="rId10"/>
                <a:stretch>
                  <a:fillRect t="-18182" b="-36364"/>
                </a:stretch>
              </a:blipFill>
            </p:spPr>
            <p:txBody>
              <a:bodyPr/>
              <a:lstStyle/>
              <a:p>
                <a:r>
                  <a:rPr lang="en-US">
                    <a:noFill/>
                  </a:rPr>
                  <a:t> </a:t>
                </a:r>
              </a:p>
            </p:txBody>
          </p:sp>
        </mc:Fallback>
      </mc:AlternateContent>
      <p:grpSp>
        <p:nvGrpSpPr>
          <p:cNvPr id="21" name="Group 20">
            <a:extLst>
              <a:ext uri="{FF2B5EF4-FFF2-40B4-BE49-F238E27FC236}">
                <a16:creationId xmlns:a16="http://schemas.microsoft.com/office/drawing/2014/main" id="{DFF1D920-61E7-8B07-DE78-9E124E897935}"/>
              </a:ext>
            </a:extLst>
          </p:cNvPr>
          <p:cNvGrpSpPr/>
          <p:nvPr/>
        </p:nvGrpSpPr>
        <p:grpSpPr>
          <a:xfrm>
            <a:off x="838200" y="4387601"/>
            <a:ext cx="2278444" cy="2237308"/>
            <a:chOff x="838200" y="4387601"/>
            <a:chExt cx="2278444" cy="2237308"/>
          </a:xfrm>
        </p:grpSpPr>
        <p:pic>
          <p:nvPicPr>
            <p:cNvPr id="22" name="Graphic 21" descr="Store with solid fill">
              <a:extLst>
                <a:ext uri="{FF2B5EF4-FFF2-40B4-BE49-F238E27FC236}">
                  <a16:creationId xmlns:a16="http://schemas.microsoft.com/office/drawing/2014/main" id="{6A8ABDB0-EDF6-768B-D1BC-6B2C1610D3E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73851" y="4990072"/>
              <a:ext cx="1634837" cy="1634837"/>
            </a:xfrm>
            <a:prstGeom prst="rect">
              <a:avLst/>
            </a:prstGeom>
          </p:spPr>
        </p:pic>
        <p:sp>
          <p:nvSpPr>
            <p:cNvPr id="23" name="TextBox 22">
              <a:extLst>
                <a:ext uri="{FF2B5EF4-FFF2-40B4-BE49-F238E27FC236}">
                  <a16:creationId xmlns:a16="http://schemas.microsoft.com/office/drawing/2014/main" id="{3D740AC2-221B-22F1-0408-B5563DF1186F}"/>
                </a:ext>
              </a:extLst>
            </p:cNvPr>
            <p:cNvSpPr txBox="1"/>
            <p:nvPr/>
          </p:nvSpPr>
          <p:spPr>
            <a:xfrm>
              <a:off x="1293188" y="4387601"/>
              <a:ext cx="1196161" cy="461665"/>
            </a:xfrm>
            <a:prstGeom prst="rect">
              <a:avLst/>
            </a:prstGeom>
            <a:noFill/>
          </p:spPr>
          <p:txBody>
            <a:bodyPr wrap="none" rtlCol="0">
              <a:spAutoFit/>
            </a:bodyPr>
            <a:lstStyle/>
            <a:p>
              <a:r>
                <a:rPr lang="en-US" sz="2400" b="1" dirty="0">
                  <a:latin typeface="Candara" panose="020E0502030303020204" pitchFamily="34" charset="0"/>
                </a:rPr>
                <a:t>Verifier</a:t>
              </a:r>
            </a:p>
          </p:txBody>
        </p:sp>
        <p:sp>
          <p:nvSpPr>
            <p:cNvPr id="24" name="TextBox 23">
              <a:extLst>
                <a:ext uri="{FF2B5EF4-FFF2-40B4-BE49-F238E27FC236}">
                  <a16:creationId xmlns:a16="http://schemas.microsoft.com/office/drawing/2014/main" id="{39B21C54-B1C5-E679-159B-E2F837E56EC2}"/>
                </a:ext>
              </a:extLst>
            </p:cNvPr>
            <p:cNvSpPr txBox="1"/>
            <p:nvPr/>
          </p:nvSpPr>
          <p:spPr>
            <a:xfrm>
              <a:off x="838200" y="4837659"/>
              <a:ext cx="2278444" cy="369332"/>
            </a:xfrm>
            <a:prstGeom prst="rect">
              <a:avLst/>
            </a:prstGeom>
            <a:noFill/>
          </p:spPr>
          <p:txBody>
            <a:bodyPr wrap="none" rtlCol="0">
              <a:spAutoFit/>
            </a:bodyPr>
            <a:lstStyle/>
            <a:p>
              <a:r>
                <a:rPr lang="en-US" dirty="0" err="1">
                  <a:latin typeface="Candara" panose="020E0502030303020204" pitchFamily="34" charset="0"/>
                  <a:ea typeface="Cambria Math" panose="02040503050406030204" pitchFamily="18" charset="0"/>
                </a:rPr>
                <a:t>ctxt</a:t>
              </a:r>
              <a:r>
                <a:rPr lang="en-US" dirty="0">
                  <a:latin typeface="Candara" panose="020E0502030303020204" pitchFamily="34" charset="0"/>
                  <a:ea typeface="Cambria Math" panose="02040503050406030204" pitchFamily="18" charset="0"/>
                </a:rPr>
                <a:t> = ‘</a:t>
              </a:r>
              <a:r>
                <a:rPr lang="en-US" dirty="0" err="1">
                  <a:latin typeface="Candara" panose="020E0502030303020204" pitchFamily="34" charset="0"/>
                  <a:ea typeface="Cambria Math" panose="02040503050406030204" pitchFamily="18" charset="0"/>
                </a:rPr>
                <a:t>blahblah.com</a:t>
              </a:r>
              <a:r>
                <a:rPr lang="en-US" dirty="0">
                  <a:latin typeface="Candara" panose="020E0502030303020204" pitchFamily="34" charset="0"/>
                  <a:ea typeface="Cambria Math" panose="02040503050406030204" pitchFamily="18" charset="0"/>
                </a:rPr>
                <a:t>’</a:t>
              </a:r>
            </a:p>
          </p:txBody>
        </p:sp>
      </p:grpSp>
      <p:cxnSp>
        <p:nvCxnSpPr>
          <p:cNvPr id="25" name="Straight Arrow Connector 24">
            <a:extLst>
              <a:ext uri="{FF2B5EF4-FFF2-40B4-BE49-F238E27FC236}">
                <a16:creationId xmlns:a16="http://schemas.microsoft.com/office/drawing/2014/main" id="{C58B7FCA-3A9B-E669-EC08-4F9FDCB57600}"/>
              </a:ext>
            </a:extLst>
          </p:cNvPr>
          <p:cNvCxnSpPr>
            <a:cxnSpLocks/>
          </p:cNvCxnSpPr>
          <p:nvPr/>
        </p:nvCxnSpPr>
        <p:spPr>
          <a:xfrm flipH="1">
            <a:off x="3410069" y="6088030"/>
            <a:ext cx="2905291"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79B3BB2A-4819-6E78-ED67-15D18A7E96F5}"/>
                  </a:ext>
                </a:extLst>
              </p:cNvPr>
              <p:cNvSpPr txBox="1"/>
              <p:nvPr/>
            </p:nvSpPr>
            <p:spPr>
              <a:xfrm>
                <a:off x="4763000" y="5519030"/>
                <a:ext cx="25327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2400" b="0" i="1" smtClean="0">
                          <a:solidFill>
                            <a:srgbClr val="C00000"/>
                          </a:solidFill>
                          <a:latin typeface="Cambria Math" panose="02040503050406030204" pitchFamily="18" charset="0"/>
                        </a:rPr>
                        <m:t>π</m:t>
                      </m:r>
                    </m:oMath>
                  </m:oMathPara>
                </a14:m>
                <a:endParaRPr lang="en-US" sz="2400" dirty="0">
                  <a:solidFill>
                    <a:srgbClr val="C00000"/>
                  </a:solidFill>
                  <a:latin typeface="Candara" panose="020E0502030303020204" pitchFamily="34" charset="0"/>
                </a:endParaRPr>
              </a:p>
            </p:txBody>
          </p:sp>
        </mc:Choice>
        <mc:Fallback xmlns="">
          <p:sp>
            <p:nvSpPr>
              <p:cNvPr id="27" name="TextBox 26">
                <a:extLst>
                  <a:ext uri="{FF2B5EF4-FFF2-40B4-BE49-F238E27FC236}">
                    <a16:creationId xmlns:a16="http://schemas.microsoft.com/office/drawing/2014/main" id="{79B3BB2A-4819-6E78-ED67-15D18A7E96F5}"/>
                  </a:ext>
                </a:extLst>
              </p:cNvPr>
              <p:cNvSpPr txBox="1">
                <a:spLocks noRot="1" noChangeAspect="1" noMove="1" noResize="1" noEditPoints="1" noAdjustHandles="1" noChangeArrowheads="1" noChangeShapeType="1" noTextEdit="1"/>
              </p:cNvSpPr>
              <p:nvPr/>
            </p:nvSpPr>
            <p:spPr>
              <a:xfrm>
                <a:off x="4763000" y="5519030"/>
                <a:ext cx="253274" cy="369332"/>
              </a:xfrm>
              <a:prstGeom prst="rect">
                <a:avLst/>
              </a:prstGeom>
              <a:blipFill>
                <a:blip r:embed="rId13"/>
                <a:stretch>
                  <a:fillRect l="-9091" r="-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5719A18C-7675-3D56-E338-BC97252F0DD2}"/>
                  </a:ext>
                </a:extLst>
              </p:cNvPr>
              <p:cNvSpPr txBox="1"/>
              <p:nvPr/>
            </p:nvSpPr>
            <p:spPr>
              <a:xfrm>
                <a:off x="3733423" y="4925430"/>
                <a:ext cx="231242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𝑠𝑛</m:t>
                      </m:r>
                      <m:r>
                        <a:rPr lang="en-US" sz="2400" b="0" i="1" smtClean="0">
                          <a:solidFill>
                            <a:srgbClr val="C00000"/>
                          </a:solidFill>
                          <a:latin typeface="Cambria Math" panose="02040503050406030204" pitchFamily="18" charset="0"/>
                        </a:rPr>
                        <m:t>←</m:t>
                      </m:r>
                      <m:r>
                        <a:rPr lang="en-US" sz="2400" b="0" i="1" smtClean="0">
                          <a:solidFill>
                            <a:srgbClr val="C00000"/>
                          </a:solidFill>
                          <a:latin typeface="Cambria Math" panose="02040503050406030204" pitchFamily="18" charset="0"/>
                        </a:rPr>
                        <m:t>𝑓</m:t>
                      </m:r>
                      <m:r>
                        <a:rPr lang="en-US" sz="2400" b="0" i="1" smtClean="0">
                          <a:solidFill>
                            <a:srgbClr val="C00000"/>
                          </a:solidFill>
                          <a:latin typeface="Cambria Math" panose="02040503050406030204" pitchFamily="18" charset="0"/>
                        </a:rPr>
                        <m:t>(</m:t>
                      </m:r>
                      <m:r>
                        <m:rPr>
                          <m:sty m:val="p"/>
                        </m:rPr>
                        <a:rPr lang="en-US" sz="2400" b="0" i="1" smtClean="0">
                          <a:solidFill>
                            <a:srgbClr val="C00000"/>
                          </a:solidFill>
                          <a:latin typeface="Cambria Math" panose="02040503050406030204" pitchFamily="18" charset="0"/>
                        </a:rPr>
                        <m:t>ctxt</m:t>
                      </m:r>
                      <m:r>
                        <a:rPr lang="en-US" sz="2400" b="0" i="1" smtClean="0">
                          <a:solidFill>
                            <a:srgbClr val="C00000"/>
                          </a:solidFill>
                          <a:latin typeface="Cambria Math" panose="02040503050406030204" pitchFamily="18" charset="0"/>
                        </a:rPr>
                        <m:t>||</m:t>
                      </m:r>
                      <m:r>
                        <m:rPr>
                          <m:sty m:val="p"/>
                        </m:rPr>
                        <a:rPr lang="en-US" sz="2400" b="0" i="1" smtClean="0">
                          <a:solidFill>
                            <a:srgbClr val="C00000"/>
                          </a:solidFill>
                          <a:latin typeface="Cambria Math" panose="02040503050406030204" pitchFamily="18" charset="0"/>
                        </a:rPr>
                        <m:t>ctr</m:t>
                      </m:r>
                      <m:r>
                        <a:rPr lang="en-US" sz="2400" b="0" i="1" smtClean="0">
                          <a:solidFill>
                            <a:srgbClr val="C00000"/>
                          </a:solidFill>
                          <a:latin typeface="Cambria Math" panose="02040503050406030204" pitchFamily="18" charset="0"/>
                        </a:rPr>
                        <m:t>)</m:t>
                      </m:r>
                    </m:oMath>
                  </m:oMathPara>
                </a14:m>
                <a:endParaRPr lang="en-US" sz="2400" dirty="0">
                  <a:solidFill>
                    <a:srgbClr val="C00000"/>
                  </a:solidFill>
                  <a:latin typeface="Candara" panose="020E0502030303020204" pitchFamily="34" charset="0"/>
                </a:endParaRPr>
              </a:p>
            </p:txBody>
          </p:sp>
        </mc:Choice>
        <mc:Fallback xmlns="">
          <p:sp>
            <p:nvSpPr>
              <p:cNvPr id="32" name="TextBox 31">
                <a:extLst>
                  <a:ext uri="{FF2B5EF4-FFF2-40B4-BE49-F238E27FC236}">
                    <a16:creationId xmlns:a16="http://schemas.microsoft.com/office/drawing/2014/main" id="{5719A18C-7675-3D56-E338-BC97252F0DD2}"/>
                  </a:ext>
                </a:extLst>
              </p:cNvPr>
              <p:cNvSpPr txBox="1">
                <a:spLocks noRot="1" noChangeAspect="1" noMove="1" noResize="1" noEditPoints="1" noAdjustHandles="1" noChangeArrowheads="1" noChangeShapeType="1" noTextEdit="1"/>
              </p:cNvSpPr>
              <p:nvPr/>
            </p:nvSpPr>
            <p:spPr>
              <a:xfrm>
                <a:off x="3733423" y="4925430"/>
                <a:ext cx="2312428" cy="369332"/>
              </a:xfrm>
              <a:prstGeom prst="rect">
                <a:avLst/>
              </a:prstGeom>
              <a:blipFill>
                <a:blip r:embed="rId14"/>
                <a:stretch>
                  <a:fillRect l="-1087" r="-3804" b="-322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D33BB69B-2797-CAF2-8850-029811F6028A}"/>
                  </a:ext>
                </a:extLst>
              </p:cNvPr>
              <p:cNvSpPr txBox="1"/>
              <p:nvPr/>
            </p:nvSpPr>
            <p:spPr>
              <a:xfrm>
                <a:off x="7297313" y="1979892"/>
                <a:ext cx="2390532" cy="830997"/>
              </a:xfrm>
              <a:prstGeom prst="rect">
                <a:avLst/>
              </a:prstGeom>
              <a:noFill/>
            </p:spPr>
            <p:txBody>
              <a:bodyPr wrap="square" rtlCol="0">
                <a:spAutoFit/>
              </a:bodyPr>
              <a:lstStyle/>
              <a:p>
                <a:r>
                  <a:rPr lang="en-US" sz="2400" dirty="0">
                    <a:solidFill>
                      <a:srgbClr val="C00000"/>
                    </a:solidFill>
                  </a:rPr>
                  <a:t>Sample degree-</a:t>
                </a:r>
                <a14:m>
                  <m:oMath xmlns:m="http://schemas.openxmlformats.org/officeDocument/2006/math">
                    <m:r>
                      <a:rPr lang="en-US" sz="2400" i="1" dirty="0" smtClean="0">
                        <a:solidFill>
                          <a:srgbClr val="C00000"/>
                        </a:solidFill>
                        <a:latin typeface="Cambria Math" panose="02040503050406030204" pitchFamily="18" charset="0"/>
                      </a:rPr>
                      <m:t>𝑘</m:t>
                    </m:r>
                  </m:oMath>
                </a14:m>
                <a:r>
                  <a:rPr lang="en-US" sz="2400" dirty="0">
                    <a:solidFill>
                      <a:srgbClr val="C00000"/>
                    </a:solidFill>
                  </a:rPr>
                  <a:t> polynomial </a:t>
                </a:r>
                <a14:m>
                  <m:oMath xmlns:m="http://schemas.openxmlformats.org/officeDocument/2006/math">
                    <m:r>
                      <a:rPr lang="en-US" sz="2400" i="1" dirty="0" smtClean="0">
                        <a:solidFill>
                          <a:srgbClr val="C00000"/>
                        </a:solidFill>
                        <a:latin typeface="Cambria Math" panose="02040503050406030204" pitchFamily="18" charset="0"/>
                      </a:rPr>
                      <m:t>𝑓</m:t>
                    </m:r>
                  </m:oMath>
                </a14:m>
                <a:endParaRPr lang="en-US" sz="2400" dirty="0">
                  <a:solidFill>
                    <a:srgbClr val="C00000"/>
                  </a:solidFill>
                </a:endParaRPr>
              </a:p>
            </p:txBody>
          </p:sp>
        </mc:Choice>
        <mc:Fallback xmlns="">
          <p:sp>
            <p:nvSpPr>
              <p:cNvPr id="33" name="TextBox 32">
                <a:extLst>
                  <a:ext uri="{FF2B5EF4-FFF2-40B4-BE49-F238E27FC236}">
                    <a16:creationId xmlns:a16="http://schemas.microsoft.com/office/drawing/2014/main" id="{D33BB69B-2797-CAF2-8850-029811F6028A}"/>
                  </a:ext>
                </a:extLst>
              </p:cNvPr>
              <p:cNvSpPr txBox="1">
                <a:spLocks noRot="1" noChangeAspect="1" noMove="1" noResize="1" noEditPoints="1" noAdjustHandles="1" noChangeArrowheads="1" noChangeShapeType="1" noTextEdit="1"/>
              </p:cNvSpPr>
              <p:nvPr/>
            </p:nvSpPr>
            <p:spPr>
              <a:xfrm>
                <a:off x="7297313" y="1979892"/>
                <a:ext cx="2390532" cy="830997"/>
              </a:xfrm>
              <a:prstGeom prst="rect">
                <a:avLst/>
              </a:prstGeom>
              <a:blipFill>
                <a:blip r:embed="rId15"/>
                <a:stretch>
                  <a:fillRect l="-4233" t="-4545" b="-151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D391804A-40E7-390C-FC47-74E4BA93CB7D}"/>
                  </a:ext>
                </a:extLst>
              </p:cNvPr>
              <p:cNvSpPr txBox="1"/>
              <p:nvPr/>
            </p:nvSpPr>
            <p:spPr>
              <a:xfrm>
                <a:off x="3876389" y="1832674"/>
                <a:ext cx="3273319" cy="4912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a:solidFill>
                            <a:srgbClr val="C00000"/>
                          </a:solidFill>
                          <a:latin typeface="Cambria Math" panose="02040503050406030204" pitchFamily="18" charset="0"/>
                        </a:rPr>
                        <m:t>𝑝</m:t>
                      </m:r>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𝑘</m:t>
                          </m:r>
                        </m:e>
                        <m:sub>
                          <m:r>
                            <a:rPr lang="en-US" sz="2400" i="1">
                              <a:solidFill>
                                <a:srgbClr val="C00000"/>
                              </a:solidFill>
                              <a:latin typeface="Cambria Math" panose="02040503050406030204" pitchFamily="18" charset="0"/>
                            </a:rPr>
                            <m:t>𝑈</m:t>
                          </m:r>
                        </m:sub>
                      </m:sSub>
                      <m:r>
                        <a:rPr lang="en-US" sz="2400" b="0" i="1" smtClean="0">
                          <a:solidFill>
                            <a:srgbClr val="C00000"/>
                          </a:solidFill>
                          <a:latin typeface="Cambria Math" panose="02040503050406030204" pitchFamily="18" charset="0"/>
                        </a:rPr>
                        <m:t>,</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𝐶</m:t>
                          </m:r>
                        </m:e>
                        <m:sub>
                          <m:r>
                            <a:rPr lang="en-US" sz="2400" b="0" i="1" smtClean="0">
                              <a:solidFill>
                                <a:srgbClr val="C00000"/>
                              </a:solidFill>
                              <a:latin typeface="Cambria Math" panose="02040503050406030204" pitchFamily="18" charset="0"/>
                            </a:rPr>
                            <m:t>𝑓</m:t>
                          </m:r>
                        </m:sub>
                      </m:sSub>
                      <m:r>
                        <a:rPr lang="en-US" sz="2400" b="0" i="1" smtClean="0">
                          <a:solidFill>
                            <a:srgbClr val="C00000"/>
                          </a:solidFill>
                          <a:latin typeface="Cambria Math" panose="02040503050406030204" pitchFamily="18" charset="0"/>
                        </a:rPr>
                        <m:t>←</m:t>
                      </m:r>
                      <m:r>
                        <m:rPr>
                          <m:sty m:val="p"/>
                        </m:rPr>
                        <a:rPr lang="en-US" sz="2400" b="0" i="1" smtClean="0">
                          <a:solidFill>
                            <a:srgbClr val="C00000"/>
                          </a:solidFill>
                          <a:latin typeface="Cambria Math" panose="02040503050406030204" pitchFamily="18" charset="0"/>
                        </a:rPr>
                        <m:t>KZG</m:t>
                      </m:r>
                      <m:r>
                        <a:rPr lang="en-US" sz="2400" b="0" i="1" smtClean="0">
                          <a:solidFill>
                            <a:srgbClr val="C00000"/>
                          </a:solidFill>
                          <a:latin typeface="Cambria Math" panose="02040503050406030204" pitchFamily="18" charset="0"/>
                        </a:rPr>
                        <m:t>.</m:t>
                      </m:r>
                      <m:r>
                        <m:rPr>
                          <m:sty m:val="p"/>
                        </m:rPr>
                        <a:rPr lang="en-US" sz="2400" b="0" i="1" smtClean="0">
                          <a:solidFill>
                            <a:srgbClr val="C00000"/>
                          </a:solidFill>
                          <a:latin typeface="Cambria Math" panose="02040503050406030204" pitchFamily="18" charset="0"/>
                        </a:rPr>
                        <m:t>Com</m:t>
                      </m:r>
                      <m:r>
                        <a:rPr lang="en-US" sz="2400" b="0" i="1" smtClean="0">
                          <a:solidFill>
                            <a:srgbClr val="C00000"/>
                          </a:solidFill>
                          <a:latin typeface="Cambria Math" panose="02040503050406030204" pitchFamily="18" charset="0"/>
                        </a:rPr>
                        <m:t>(</m:t>
                      </m:r>
                      <m:r>
                        <a:rPr lang="en-US" sz="2400" b="0" i="1" smtClean="0">
                          <a:solidFill>
                            <a:srgbClr val="C00000"/>
                          </a:solidFill>
                          <a:latin typeface="Cambria Math" panose="02040503050406030204" pitchFamily="18" charset="0"/>
                        </a:rPr>
                        <m:t>𝑓</m:t>
                      </m:r>
                      <m:r>
                        <a:rPr lang="en-US" sz="2400" b="0" i="1" smtClean="0">
                          <a:solidFill>
                            <a:srgbClr val="C00000"/>
                          </a:solidFill>
                          <a:latin typeface="Cambria Math" panose="02040503050406030204" pitchFamily="18" charset="0"/>
                        </a:rPr>
                        <m:t>)</m:t>
                      </m:r>
                    </m:oMath>
                  </m:oMathPara>
                </a14:m>
                <a:endParaRPr lang="en-US" sz="2400" dirty="0"/>
              </a:p>
            </p:txBody>
          </p:sp>
        </mc:Choice>
        <mc:Fallback xmlns="">
          <p:sp>
            <p:nvSpPr>
              <p:cNvPr id="28" name="TextBox 27">
                <a:extLst>
                  <a:ext uri="{FF2B5EF4-FFF2-40B4-BE49-F238E27FC236}">
                    <a16:creationId xmlns:a16="http://schemas.microsoft.com/office/drawing/2014/main" id="{D391804A-40E7-390C-FC47-74E4BA93CB7D}"/>
                  </a:ext>
                </a:extLst>
              </p:cNvPr>
              <p:cNvSpPr txBox="1">
                <a:spLocks noRot="1" noChangeAspect="1" noMove="1" noResize="1" noEditPoints="1" noAdjustHandles="1" noChangeArrowheads="1" noChangeShapeType="1" noTextEdit="1"/>
              </p:cNvSpPr>
              <p:nvPr/>
            </p:nvSpPr>
            <p:spPr>
              <a:xfrm>
                <a:off x="3876389" y="1832674"/>
                <a:ext cx="3273319" cy="491288"/>
              </a:xfrm>
              <a:prstGeom prst="rect">
                <a:avLst/>
              </a:prstGeom>
              <a:blipFill>
                <a:blip r:embed="rId16"/>
                <a:stretch>
                  <a:fillRect r="-386" b="-1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A2D7DCD-141A-A4E6-2AE8-5A4C69E3EED1}"/>
                  </a:ext>
                </a:extLst>
              </p:cNvPr>
              <p:cNvSpPr txBox="1"/>
              <p:nvPr/>
            </p:nvSpPr>
            <p:spPr>
              <a:xfrm>
                <a:off x="3362490" y="2887524"/>
                <a:ext cx="4295468" cy="398955"/>
              </a:xfrm>
              <a:prstGeom prst="rect">
                <a:avLst/>
              </a:prstGeom>
              <a:noFill/>
            </p:spPr>
            <p:txBody>
              <a:bodyPr wrap="square" lIns="0" tIns="0" rIns="0" bIns="0" rtlCol="0">
                <a:spAutoFit/>
              </a:bodyPr>
              <a:lstStyle/>
              <a:p>
                <a:pPr algn="ctr"/>
                <a14:m>
                  <m:oMath xmlns:m="http://schemas.openxmlformats.org/officeDocument/2006/math">
                    <m:r>
                      <a:rPr lang="en-US" sz="2400" b="0" i="1" smtClean="0">
                        <a:solidFill>
                          <a:srgbClr val="C00000"/>
                        </a:solidFill>
                        <a:latin typeface="Cambria Math" panose="02040503050406030204" pitchFamily="18" charset="0"/>
                      </a:rPr>
                      <m:t>𝜎</m:t>
                    </m:r>
                    <m:r>
                      <a:rPr lang="en-US" sz="2400" b="0" i="1" smtClean="0">
                        <a:solidFill>
                          <a:srgbClr val="C00000"/>
                        </a:solidFill>
                        <a:latin typeface="Cambria Math" panose="02040503050406030204" pitchFamily="18" charset="0"/>
                      </a:rPr>
                      <m:t>←</m:t>
                    </m:r>
                    <m:r>
                      <m:rPr>
                        <m:sty m:val="p"/>
                      </m:rPr>
                      <a:rPr lang="en-US" sz="2400" b="0" i="1" smtClean="0">
                        <a:solidFill>
                          <a:srgbClr val="C00000"/>
                        </a:solidFill>
                        <a:latin typeface="Cambria Math" panose="02040503050406030204" pitchFamily="18" charset="0"/>
                      </a:rPr>
                      <m:t>SPS</m:t>
                    </m:r>
                    <m:r>
                      <a:rPr lang="en-US" sz="2400" b="0" i="1" smtClean="0">
                        <a:solidFill>
                          <a:srgbClr val="C00000"/>
                        </a:solidFill>
                        <a:latin typeface="Cambria Math" panose="02040503050406030204" pitchFamily="18" charset="0"/>
                      </a:rPr>
                      <m:t>.</m:t>
                    </m:r>
                    <m:r>
                      <m:rPr>
                        <m:sty m:val="p"/>
                      </m:rPr>
                      <a:rPr lang="en-US" sz="2400" b="0" i="0" smtClean="0">
                        <a:solidFill>
                          <a:srgbClr val="C00000"/>
                        </a:solidFill>
                        <a:latin typeface="Cambria Math" panose="02040503050406030204" pitchFamily="18" charset="0"/>
                      </a:rPr>
                      <m:t>Sign</m:t>
                    </m:r>
                    <m:r>
                      <a:rPr lang="en-US" sz="2400" b="0" i="0" smtClean="0">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𝑠</m:t>
                    </m:r>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𝑘</m:t>
                        </m:r>
                      </m:e>
                      <m:sub>
                        <m:r>
                          <a:rPr lang="en-US" sz="2400" i="1">
                            <a:solidFill>
                              <a:srgbClr val="C00000"/>
                            </a:solidFill>
                            <a:latin typeface="Cambria Math" panose="02040503050406030204" pitchFamily="18" charset="0"/>
                          </a:rPr>
                          <m:t>𝐼</m:t>
                        </m:r>
                      </m:sub>
                    </m:sSub>
                  </m:oMath>
                </a14:m>
                <a:r>
                  <a:rPr lang="en-US" sz="2400" b="0" dirty="0">
                    <a:solidFill>
                      <a:srgbClr val="C00000"/>
                    </a:solidFill>
                  </a:rPr>
                  <a:t>,</a:t>
                </a:r>
                <a14:m>
                  <m:oMath xmlns:m="http://schemas.openxmlformats.org/officeDocument/2006/math">
                    <m:r>
                      <a:rPr lang="en-US" sz="2400" b="0" i="0" smtClean="0">
                        <a:solidFill>
                          <a:srgbClr val="C00000"/>
                        </a:solidFill>
                        <a:latin typeface="Cambria Math" panose="02040503050406030204" pitchFamily="18" charset="0"/>
                      </a:rPr>
                      <m:t>(</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𝐶</m:t>
                        </m:r>
                      </m:e>
                      <m:sub>
                        <m:r>
                          <a:rPr lang="en-US" sz="2400" b="0" i="1" smtClean="0">
                            <a:solidFill>
                              <a:srgbClr val="C00000"/>
                            </a:solidFill>
                            <a:latin typeface="Cambria Math" panose="02040503050406030204" pitchFamily="18" charset="0"/>
                          </a:rPr>
                          <m:t>𝑓</m:t>
                        </m:r>
                      </m:sub>
                    </m:sSub>
                    <m:r>
                      <a:rPr lang="en-US" sz="2400" b="0" i="1" smtClean="0">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𝑝</m:t>
                    </m:r>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𝑘</m:t>
                        </m:r>
                      </m:e>
                      <m:sub>
                        <m:r>
                          <a:rPr lang="en-US" sz="2400" i="1">
                            <a:solidFill>
                              <a:srgbClr val="C00000"/>
                            </a:solidFill>
                            <a:latin typeface="Cambria Math" panose="02040503050406030204" pitchFamily="18" charset="0"/>
                          </a:rPr>
                          <m:t>𝑈</m:t>
                        </m:r>
                      </m:sub>
                    </m:sSub>
                    <m:r>
                      <a:rPr lang="en-US" sz="2400" b="0" i="1" smtClean="0">
                        <a:solidFill>
                          <a:srgbClr val="C00000"/>
                        </a:solidFill>
                        <a:latin typeface="Cambria Math" panose="02040503050406030204" pitchFamily="18" charset="0"/>
                      </a:rPr>
                      <m:t>))</m:t>
                    </m:r>
                  </m:oMath>
                </a14:m>
                <a:endParaRPr lang="en-US" sz="2400" dirty="0">
                  <a:solidFill>
                    <a:srgbClr val="C00000"/>
                  </a:solidFill>
                  <a:latin typeface="Candara" panose="020E0502030303020204" pitchFamily="34" charset="0"/>
                </a:endParaRPr>
              </a:p>
            </p:txBody>
          </p:sp>
        </mc:Choice>
        <mc:Fallback xmlns="">
          <p:sp>
            <p:nvSpPr>
              <p:cNvPr id="30" name="TextBox 29">
                <a:extLst>
                  <a:ext uri="{FF2B5EF4-FFF2-40B4-BE49-F238E27FC236}">
                    <a16:creationId xmlns:a16="http://schemas.microsoft.com/office/drawing/2014/main" id="{0A2D7DCD-141A-A4E6-2AE8-5A4C69E3EED1}"/>
                  </a:ext>
                </a:extLst>
              </p:cNvPr>
              <p:cNvSpPr txBox="1">
                <a:spLocks noRot="1" noChangeAspect="1" noMove="1" noResize="1" noEditPoints="1" noAdjustHandles="1" noChangeArrowheads="1" noChangeShapeType="1" noTextEdit="1"/>
              </p:cNvSpPr>
              <p:nvPr/>
            </p:nvSpPr>
            <p:spPr>
              <a:xfrm>
                <a:off x="3362490" y="2887524"/>
                <a:ext cx="4295468" cy="398955"/>
              </a:xfrm>
              <a:prstGeom prst="rect">
                <a:avLst/>
              </a:prstGeom>
              <a:blipFill>
                <a:blip r:embed="rId17"/>
                <a:stretch>
                  <a:fillRect t="-21875" b="-40625"/>
                </a:stretch>
              </a:blipFill>
            </p:spPr>
            <p:txBody>
              <a:bodyPr/>
              <a:lstStyle/>
              <a:p>
                <a:r>
                  <a:rPr lang="en-US">
                    <a:noFill/>
                  </a:rPr>
                  <a:t> </a:t>
                </a:r>
              </a:p>
            </p:txBody>
          </p:sp>
        </mc:Fallback>
      </mc:AlternateContent>
      <p:sp>
        <p:nvSpPr>
          <p:cNvPr id="36" name="Rounded Rectangular Callout 35">
            <a:extLst>
              <a:ext uri="{FF2B5EF4-FFF2-40B4-BE49-F238E27FC236}">
                <a16:creationId xmlns:a16="http://schemas.microsoft.com/office/drawing/2014/main" id="{6518CC71-141B-C17C-F6EA-D382D401D8E6}"/>
              </a:ext>
            </a:extLst>
          </p:cNvPr>
          <p:cNvSpPr/>
          <p:nvPr/>
        </p:nvSpPr>
        <p:spPr>
          <a:xfrm>
            <a:off x="3735081" y="354470"/>
            <a:ext cx="2759564" cy="830997"/>
          </a:xfrm>
          <a:prstGeom prst="wedgeRoundRectCallout">
            <a:avLst>
              <a:gd name="adj1" fmla="val 11653"/>
              <a:gd name="adj2" fmla="val 127227"/>
              <a:gd name="adj3"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[KZG’10] Polynomial commitment</a:t>
            </a:r>
          </a:p>
        </p:txBody>
      </p:sp>
      <p:sp>
        <p:nvSpPr>
          <p:cNvPr id="37" name="Rounded Rectangular Callout 36">
            <a:extLst>
              <a:ext uri="{FF2B5EF4-FFF2-40B4-BE49-F238E27FC236}">
                <a16:creationId xmlns:a16="http://schemas.microsoft.com/office/drawing/2014/main" id="{ED137305-EB01-56AF-F017-736D7EE24037}"/>
              </a:ext>
            </a:extLst>
          </p:cNvPr>
          <p:cNvSpPr/>
          <p:nvPr/>
        </p:nvSpPr>
        <p:spPr>
          <a:xfrm>
            <a:off x="297374" y="344667"/>
            <a:ext cx="3360095" cy="1281049"/>
          </a:xfrm>
          <a:prstGeom prst="wedgeRoundRectCallout">
            <a:avLst>
              <a:gd name="adj1" fmla="val 63991"/>
              <a:gd name="adj2" fmla="val 148249"/>
              <a:gd name="adj3"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Structure-preserving signatures (SPS) signing group elements</a:t>
            </a:r>
          </a:p>
        </p:txBody>
      </p:sp>
      <mc:AlternateContent xmlns:mc="http://schemas.openxmlformats.org/markup-compatibility/2006" xmlns:a14="http://schemas.microsoft.com/office/drawing/2010/main">
        <mc:Choice Requires="a14">
          <p:sp>
            <p:nvSpPr>
              <p:cNvPr id="38" name="Rounded Rectangular Callout 37">
                <a:extLst>
                  <a:ext uri="{FF2B5EF4-FFF2-40B4-BE49-F238E27FC236}">
                    <a16:creationId xmlns:a16="http://schemas.microsoft.com/office/drawing/2014/main" id="{92E498CC-DB80-2089-4ABB-8FD682CD4241}"/>
                  </a:ext>
                </a:extLst>
              </p:cNvPr>
              <p:cNvSpPr/>
              <p:nvPr/>
            </p:nvSpPr>
            <p:spPr>
              <a:xfrm>
                <a:off x="6146151" y="4436845"/>
                <a:ext cx="6045849" cy="2273662"/>
              </a:xfrm>
              <a:prstGeom prst="wedgeRoundRectCallout">
                <a:avLst>
                  <a:gd name="adj1" fmla="val -64158"/>
                  <a:gd name="adj2" fmla="val 5673"/>
                  <a:gd name="adj3" fmla="val 16667"/>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2400" b="1" dirty="0">
                    <a:solidFill>
                      <a:srgbClr val="C00000"/>
                    </a:solidFill>
                    <a:latin typeface="Candara" panose="020E0502030303020204" pitchFamily="34" charset="0"/>
                  </a:rPr>
                  <a:t>Statistical ZK</a:t>
                </a:r>
                <a:r>
                  <a:rPr lang="en-US" sz="2400" dirty="0">
                    <a:solidFill>
                      <a:srgbClr val="C00000"/>
                    </a:solidFill>
                    <a:latin typeface="Candara" panose="020E0502030303020204" pitchFamily="34" charset="0"/>
                  </a:rPr>
                  <a:t> Proof of knowledge of</a:t>
                </a:r>
              </a:p>
              <a:p>
                <a14:m>
                  <m:oMath xmlns:m="http://schemas.openxmlformats.org/officeDocument/2006/math">
                    <m:r>
                      <a:rPr lang="en-US" sz="2400" b="0" i="1" smtClean="0">
                        <a:solidFill>
                          <a:srgbClr val="C00000"/>
                        </a:solidFill>
                        <a:latin typeface="Cambria Math" panose="02040503050406030204" pitchFamily="18" charset="0"/>
                      </a:rPr>
                      <m:t>(</m:t>
                    </m:r>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𝐶</m:t>
                        </m:r>
                      </m:e>
                      <m:sub>
                        <m:r>
                          <a:rPr lang="en-US" sz="2400" i="1">
                            <a:solidFill>
                              <a:srgbClr val="C00000"/>
                            </a:solidFill>
                            <a:latin typeface="Cambria Math" panose="02040503050406030204" pitchFamily="18" charset="0"/>
                          </a:rPr>
                          <m:t>𝑓</m:t>
                        </m:r>
                      </m:sub>
                    </m:sSub>
                    <m:r>
                      <a:rPr lang="en-US" sz="2400" b="0" i="1" smtClean="0">
                        <a:solidFill>
                          <a:srgbClr val="C00000"/>
                        </a:solidFill>
                        <a:latin typeface="Cambria Math" panose="02040503050406030204" pitchFamily="18" charset="0"/>
                      </a:rPr>
                      <m:t>,</m:t>
                    </m:r>
                    <m:r>
                      <m:rPr>
                        <m:sty m:val="p"/>
                      </m:rPr>
                      <a:rPr lang="en-US" sz="2400" b="0" i="1" smtClean="0">
                        <a:solidFill>
                          <a:srgbClr val="C00000"/>
                        </a:solidFill>
                        <a:latin typeface="Cambria Math" panose="02040503050406030204" pitchFamily="18" charset="0"/>
                      </a:rPr>
                      <m:t>ctr</m:t>
                    </m:r>
                    <m:r>
                      <a:rPr lang="en-US" sz="2400" b="0" i="1" smtClean="0">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𝑝</m:t>
                    </m:r>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𝑘</m:t>
                        </m:r>
                      </m:e>
                      <m:sub>
                        <m:r>
                          <a:rPr lang="en-US" sz="2400" i="1">
                            <a:solidFill>
                              <a:srgbClr val="C00000"/>
                            </a:solidFill>
                            <a:latin typeface="Cambria Math" panose="02040503050406030204" pitchFamily="18" charset="0"/>
                          </a:rPr>
                          <m:t>𝑈</m:t>
                        </m:r>
                      </m:sub>
                    </m:sSub>
                    <m:r>
                      <a:rPr lang="en-US" sz="2400" b="0" i="0" smtClean="0">
                        <a:solidFill>
                          <a:srgbClr val="C00000"/>
                        </a:solidFill>
                        <a:latin typeface="Cambria Math" panose="02040503050406030204" pitchFamily="18" charset="0"/>
                      </a:rPr>
                      <m:t>,</m:t>
                    </m:r>
                    <m:r>
                      <a:rPr lang="en-US" sz="2400" b="0" i="1" smtClean="0">
                        <a:solidFill>
                          <a:srgbClr val="C00000"/>
                        </a:solidFill>
                        <a:latin typeface="Cambria Math" panose="02040503050406030204" pitchFamily="18" charset="0"/>
                      </a:rPr>
                      <m:t>𝜎</m:t>
                    </m:r>
                    <m:r>
                      <a:rPr lang="en-US" sz="2400" i="1">
                        <a:solidFill>
                          <a:srgbClr val="C00000"/>
                        </a:solidFill>
                        <a:latin typeface="Cambria Math" panose="02040503050406030204" pitchFamily="18" charset="0"/>
                      </a:rPr>
                      <m:t>,</m:t>
                    </m:r>
                    <m:r>
                      <m:rPr>
                        <m:sty m:val="p"/>
                      </m:rPr>
                      <a:rPr lang="en-US" sz="2400" i="0">
                        <a:solidFill>
                          <a:srgbClr val="C00000"/>
                        </a:solidFill>
                        <a:latin typeface="Cambria Math" panose="02040503050406030204" pitchFamily="18" charset="0"/>
                      </a:rPr>
                      <m:t>ope</m:t>
                    </m:r>
                    <m:sSub>
                      <m:sSubPr>
                        <m:ctrlPr>
                          <a:rPr lang="en-US" sz="2400" i="1">
                            <a:solidFill>
                              <a:srgbClr val="C00000"/>
                            </a:solidFill>
                            <a:latin typeface="Cambria Math" panose="02040503050406030204" pitchFamily="18" charset="0"/>
                          </a:rPr>
                        </m:ctrlPr>
                      </m:sSubPr>
                      <m:e>
                        <m:r>
                          <m:rPr>
                            <m:sty m:val="p"/>
                          </m:rPr>
                          <a:rPr lang="en-US" sz="2400" i="0">
                            <a:solidFill>
                              <a:srgbClr val="C00000"/>
                            </a:solidFill>
                            <a:latin typeface="Cambria Math" panose="02040503050406030204" pitchFamily="18" charset="0"/>
                          </a:rPr>
                          <m:t>n</m:t>
                        </m:r>
                      </m:e>
                      <m:sub>
                        <m:r>
                          <a:rPr lang="en-US" sz="2400" b="0" i="1" smtClean="0">
                            <a:solidFill>
                              <a:srgbClr val="C00000"/>
                            </a:solidFill>
                            <a:latin typeface="Cambria Math" panose="02040503050406030204" pitchFamily="18" charset="0"/>
                          </a:rPr>
                          <m:t>𝑓</m:t>
                        </m:r>
                      </m:sub>
                    </m:sSub>
                    <m:r>
                      <a:rPr lang="en-US" sz="2400" b="0" i="1" smtClean="0">
                        <a:solidFill>
                          <a:srgbClr val="C00000"/>
                        </a:solidFill>
                        <a:latin typeface="Cambria Math" panose="02040503050406030204" pitchFamily="18" charset="0"/>
                      </a:rPr>
                      <m:t>)</m:t>
                    </m:r>
                  </m:oMath>
                </a14:m>
                <a:r>
                  <a:rPr lang="en-US" sz="2400" dirty="0">
                    <a:solidFill>
                      <a:srgbClr val="C00000"/>
                    </a:solidFill>
                    <a:latin typeface="Candara" panose="020E0502030303020204" pitchFamily="34" charset="0"/>
                  </a:rPr>
                  <a:t> such that:</a:t>
                </a:r>
              </a:p>
              <a:p>
                <a:pPr marL="342900" indent="-342900">
                  <a:buFont typeface="Arial" panose="020B0604020202020204" pitchFamily="34" charset="0"/>
                  <a:buChar char="•"/>
                </a:pPr>
                <a14:m>
                  <m:oMath xmlns:m="http://schemas.openxmlformats.org/officeDocument/2006/math">
                    <m:r>
                      <m:rPr>
                        <m:sty m:val="p"/>
                      </m:rPr>
                      <a:rPr lang="en-US" sz="2400" i="1" smtClean="0">
                        <a:solidFill>
                          <a:srgbClr val="C00000"/>
                        </a:solidFill>
                        <a:latin typeface="Cambria Math" panose="02040503050406030204" pitchFamily="18" charset="0"/>
                      </a:rPr>
                      <m:t>ctr</m:t>
                    </m:r>
                    <m:r>
                      <a:rPr lang="en-US" sz="2400" b="0" i="1" smtClean="0">
                        <a:solidFill>
                          <a:srgbClr val="C00000"/>
                        </a:solidFill>
                        <a:latin typeface="Cambria Math" panose="02040503050406030204" pitchFamily="18" charset="0"/>
                      </a:rPr>
                      <m:t>∈[0,</m:t>
                    </m:r>
                    <m:r>
                      <a:rPr lang="en-US" sz="2400" b="0" i="1" smtClean="0">
                        <a:solidFill>
                          <a:srgbClr val="C00000"/>
                        </a:solidFill>
                        <a:latin typeface="Cambria Math" panose="02040503050406030204" pitchFamily="18" charset="0"/>
                      </a:rPr>
                      <m:t>𝑁</m:t>
                    </m:r>
                    <m:r>
                      <a:rPr lang="en-US" sz="2400" b="0" i="1" smtClean="0">
                        <a:solidFill>
                          <a:srgbClr val="C00000"/>
                        </a:solidFill>
                        <a:latin typeface="Cambria Math" panose="02040503050406030204" pitchFamily="18" charset="0"/>
                      </a:rPr>
                      <m:t>−1]</m:t>
                    </m:r>
                  </m:oMath>
                </a14:m>
                <a:endParaRPr lang="en-US" sz="2400" dirty="0">
                  <a:solidFill>
                    <a:srgbClr val="C00000"/>
                  </a:solidFill>
                  <a:latin typeface="Candara" panose="020E0502030303020204" pitchFamily="34" charset="0"/>
                </a:endParaRPr>
              </a:p>
              <a:p>
                <a:pPr marL="342900" indent="-342900">
                  <a:buFont typeface="Arial" panose="020B0604020202020204" pitchFamily="34" charset="0"/>
                  <a:buChar char="•"/>
                </a:pPr>
                <a14:m>
                  <m:oMath xmlns:m="http://schemas.openxmlformats.org/officeDocument/2006/math">
                    <m:r>
                      <a:rPr lang="en-US" sz="2400" b="1" i="0">
                        <a:solidFill>
                          <a:srgbClr val="C00000"/>
                        </a:solidFill>
                        <a:latin typeface="Cambria Math" panose="02040503050406030204" pitchFamily="18" charset="0"/>
                      </a:rPr>
                      <m:t>𝐊𝐙𝐆</m:t>
                    </m:r>
                    <m:r>
                      <a:rPr lang="en-US" sz="2400" b="1" i="0">
                        <a:solidFill>
                          <a:srgbClr val="C00000"/>
                        </a:solidFill>
                        <a:latin typeface="Cambria Math" panose="02040503050406030204" pitchFamily="18" charset="0"/>
                      </a:rPr>
                      <m:t>.</m:t>
                    </m:r>
                    <m:r>
                      <a:rPr lang="en-US" sz="2400" b="1" i="0" smtClean="0">
                        <a:solidFill>
                          <a:srgbClr val="C00000"/>
                        </a:solidFill>
                        <a:latin typeface="Cambria Math" panose="02040503050406030204" pitchFamily="18" charset="0"/>
                      </a:rPr>
                      <m:t>𝐕𝐞𝐫</m:t>
                    </m:r>
                    <m:r>
                      <a:rPr lang="en-US" sz="2400" b="1" i="1">
                        <a:solidFill>
                          <a:srgbClr val="C00000"/>
                        </a:solidFill>
                        <a:latin typeface="Cambria Math" panose="02040503050406030204" pitchFamily="18" charset="0"/>
                      </a:rPr>
                      <m:t>(</m:t>
                    </m:r>
                    <m:sSub>
                      <m:sSubPr>
                        <m:ctrlPr>
                          <a:rPr lang="en-US" sz="2400" b="1" i="1">
                            <a:solidFill>
                              <a:srgbClr val="C00000"/>
                            </a:solidFill>
                            <a:latin typeface="Cambria Math" panose="02040503050406030204" pitchFamily="18" charset="0"/>
                          </a:rPr>
                        </m:ctrlPr>
                      </m:sSubPr>
                      <m:e>
                        <m:r>
                          <a:rPr lang="en-US" sz="2400" b="1" i="1">
                            <a:solidFill>
                              <a:srgbClr val="C00000"/>
                            </a:solidFill>
                            <a:latin typeface="Cambria Math" panose="02040503050406030204" pitchFamily="18" charset="0"/>
                          </a:rPr>
                          <m:t>𝑪</m:t>
                        </m:r>
                      </m:e>
                      <m:sub>
                        <m:r>
                          <a:rPr lang="en-US" sz="2400" b="1" i="1">
                            <a:solidFill>
                              <a:srgbClr val="C00000"/>
                            </a:solidFill>
                            <a:latin typeface="Cambria Math" panose="02040503050406030204" pitchFamily="18" charset="0"/>
                          </a:rPr>
                          <m:t>𝒇</m:t>
                        </m:r>
                      </m:sub>
                    </m:sSub>
                    <m:r>
                      <a:rPr lang="en-US" sz="2400" b="1" i="1">
                        <a:solidFill>
                          <a:srgbClr val="C00000"/>
                        </a:solidFill>
                        <a:latin typeface="Cambria Math" panose="02040503050406030204" pitchFamily="18" charset="0"/>
                      </a:rPr>
                      <m:t>, </m:t>
                    </m:r>
                    <m:r>
                      <a:rPr lang="en-US" sz="2400" b="1" i="1">
                        <a:solidFill>
                          <a:srgbClr val="C00000"/>
                        </a:solidFill>
                        <a:latin typeface="Cambria Math" panose="02040503050406030204" pitchFamily="18" charset="0"/>
                      </a:rPr>
                      <m:t>𝐜𝐭𝐱𝐭</m:t>
                    </m:r>
                    <m:r>
                      <a:rPr lang="en-US" sz="2400" b="1">
                        <a:solidFill>
                          <a:srgbClr val="C00000"/>
                        </a:solidFill>
                        <a:latin typeface="Cambria Math" panose="02040503050406030204" pitchFamily="18" charset="0"/>
                      </a:rPr>
                      <m:t>||</m:t>
                    </m:r>
                    <m:r>
                      <a:rPr lang="en-US" sz="2400" b="1" i="1">
                        <a:solidFill>
                          <a:srgbClr val="C00000"/>
                        </a:solidFill>
                        <a:latin typeface="Cambria Math" panose="02040503050406030204" pitchFamily="18" charset="0"/>
                      </a:rPr>
                      <m:t>𝐜𝐭𝐫</m:t>
                    </m:r>
                    <m:r>
                      <a:rPr lang="en-US" sz="2400" b="1">
                        <a:solidFill>
                          <a:srgbClr val="C00000"/>
                        </a:solidFill>
                        <a:latin typeface="Cambria Math" panose="02040503050406030204" pitchFamily="18" charset="0"/>
                      </a:rPr>
                      <m:t>,</m:t>
                    </m:r>
                    <m:r>
                      <a:rPr lang="en-US" sz="2400" b="1" i="1">
                        <a:solidFill>
                          <a:srgbClr val="C00000"/>
                        </a:solidFill>
                        <a:latin typeface="Cambria Math" panose="02040503050406030204" pitchFamily="18" charset="0"/>
                      </a:rPr>
                      <m:t>𝒔𝒏</m:t>
                    </m:r>
                    <m:r>
                      <a:rPr lang="en-US" sz="2400" b="1" i="1" smtClean="0">
                        <a:solidFill>
                          <a:srgbClr val="C00000"/>
                        </a:solidFill>
                        <a:latin typeface="Cambria Math" panose="02040503050406030204" pitchFamily="18" charset="0"/>
                      </a:rPr>
                      <m:t>,  </m:t>
                    </m:r>
                    <m:r>
                      <a:rPr lang="en-US" sz="2400" b="1" i="0" smtClean="0">
                        <a:solidFill>
                          <a:srgbClr val="C00000"/>
                        </a:solidFill>
                        <a:latin typeface="Cambria Math" panose="02040503050406030204" pitchFamily="18" charset="0"/>
                      </a:rPr>
                      <m:t>𝐨𝐩𝐞</m:t>
                    </m:r>
                    <m:sSub>
                      <m:sSubPr>
                        <m:ctrlPr>
                          <a:rPr lang="en-US" sz="2400" b="1" i="1" smtClean="0">
                            <a:solidFill>
                              <a:srgbClr val="C00000"/>
                            </a:solidFill>
                            <a:latin typeface="Cambria Math" panose="02040503050406030204" pitchFamily="18" charset="0"/>
                          </a:rPr>
                        </m:ctrlPr>
                      </m:sSubPr>
                      <m:e>
                        <m:r>
                          <a:rPr lang="en-US" sz="2400" b="1" i="0" smtClean="0">
                            <a:solidFill>
                              <a:srgbClr val="C00000"/>
                            </a:solidFill>
                            <a:latin typeface="Cambria Math" panose="02040503050406030204" pitchFamily="18" charset="0"/>
                          </a:rPr>
                          <m:t>𝐧</m:t>
                        </m:r>
                      </m:e>
                      <m:sub>
                        <m:r>
                          <a:rPr lang="en-US" sz="2400" b="1" i="1">
                            <a:solidFill>
                              <a:srgbClr val="C00000"/>
                            </a:solidFill>
                            <a:latin typeface="Cambria Math" panose="02040503050406030204" pitchFamily="18" charset="0"/>
                          </a:rPr>
                          <m:t>𝒇</m:t>
                        </m:r>
                      </m:sub>
                    </m:sSub>
                    <m:r>
                      <a:rPr lang="en-US" sz="2400" b="1" i="1">
                        <a:solidFill>
                          <a:srgbClr val="C00000"/>
                        </a:solidFill>
                        <a:latin typeface="Cambria Math" panose="02040503050406030204" pitchFamily="18" charset="0"/>
                      </a:rPr>
                      <m:t>)=</m:t>
                    </m:r>
                    <m:r>
                      <a:rPr lang="en-US" sz="2400" b="1" i="1">
                        <a:solidFill>
                          <a:srgbClr val="C00000"/>
                        </a:solidFill>
                        <a:latin typeface="Cambria Math" panose="02040503050406030204" pitchFamily="18" charset="0"/>
                      </a:rPr>
                      <m:t>𝟏</m:t>
                    </m:r>
                  </m:oMath>
                </a14:m>
                <a:endParaRPr lang="en-US" sz="2400" b="1" dirty="0">
                  <a:solidFill>
                    <a:srgbClr val="C00000"/>
                  </a:solidFill>
                  <a:latin typeface="Candara" panose="020E0502030303020204" pitchFamily="34" charset="0"/>
                </a:endParaRPr>
              </a:p>
              <a:p>
                <a:pPr marL="342900" indent="-342900">
                  <a:buFont typeface="Arial" panose="020B0604020202020204" pitchFamily="34" charset="0"/>
                  <a:buChar char="•"/>
                </a:pPr>
                <a14:m>
                  <m:oMath xmlns:m="http://schemas.openxmlformats.org/officeDocument/2006/math">
                    <m:r>
                      <m:rPr>
                        <m:sty m:val="p"/>
                      </m:rPr>
                      <a:rPr lang="en-US" sz="2400" b="0" i="1" smtClean="0">
                        <a:solidFill>
                          <a:srgbClr val="C00000"/>
                        </a:solidFill>
                        <a:latin typeface="Cambria Math" panose="02040503050406030204" pitchFamily="18" charset="0"/>
                      </a:rPr>
                      <m:t>Ver</m:t>
                    </m:r>
                    <m:r>
                      <a:rPr lang="en-US" sz="2400" b="0" i="1" smtClean="0">
                        <a:solidFill>
                          <a:srgbClr val="C00000"/>
                        </a:solidFill>
                        <a:latin typeface="Cambria Math" panose="02040503050406030204" pitchFamily="18" charset="0"/>
                      </a:rPr>
                      <m:t>(</m:t>
                    </m:r>
                    <m:r>
                      <a:rPr lang="en-US" sz="2400" b="0" i="1" smtClean="0">
                        <a:solidFill>
                          <a:srgbClr val="C00000"/>
                        </a:solidFill>
                        <a:latin typeface="Cambria Math" panose="02040503050406030204" pitchFamily="18" charset="0"/>
                      </a:rPr>
                      <m:t>𝑝</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𝑘</m:t>
                        </m:r>
                      </m:e>
                      <m:sub>
                        <m:r>
                          <a:rPr lang="en-US" sz="2400" b="0" i="1" smtClean="0">
                            <a:solidFill>
                              <a:srgbClr val="C00000"/>
                            </a:solidFill>
                            <a:latin typeface="Cambria Math" panose="02040503050406030204" pitchFamily="18" charset="0"/>
                          </a:rPr>
                          <m:t>𝐼</m:t>
                        </m:r>
                      </m:sub>
                    </m:sSub>
                    <m:r>
                      <a:rPr lang="en-US" sz="2400" b="0" i="1" smtClean="0">
                        <a:solidFill>
                          <a:srgbClr val="C00000"/>
                        </a:solidFill>
                        <a:latin typeface="Cambria Math" panose="02040503050406030204" pitchFamily="18" charset="0"/>
                      </a:rPr>
                      <m:t>,</m:t>
                    </m:r>
                    <m:r>
                      <a:rPr lang="en-US" sz="2400">
                        <a:solidFill>
                          <a:srgbClr val="C00000"/>
                        </a:solidFill>
                        <a:latin typeface="Cambria Math" panose="02040503050406030204" pitchFamily="18" charset="0"/>
                      </a:rPr>
                      <m:t>(</m:t>
                    </m:r>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𝐶</m:t>
                        </m:r>
                      </m:e>
                      <m:sub>
                        <m:r>
                          <a:rPr lang="en-US" sz="2400" i="1">
                            <a:solidFill>
                              <a:srgbClr val="C00000"/>
                            </a:solidFill>
                            <a:latin typeface="Cambria Math" panose="02040503050406030204" pitchFamily="18" charset="0"/>
                          </a:rPr>
                          <m:t>𝑓</m:t>
                        </m:r>
                      </m:sub>
                    </m:sSub>
                    <m:r>
                      <a:rPr lang="en-US" sz="2400" i="1">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𝑝</m:t>
                    </m:r>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𝑘</m:t>
                        </m:r>
                      </m:e>
                      <m:sub>
                        <m:r>
                          <a:rPr lang="en-US" sz="2400" i="1">
                            <a:solidFill>
                              <a:srgbClr val="C00000"/>
                            </a:solidFill>
                            <a:latin typeface="Cambria Math" panose="02040503050406030204" pitchFamily="18" charset="0"/>
                          </a:rPr>
                          <m:t>𝑈</m:t>
                        </m:r>
                      </m:sub>
                    </m:sSub>
                    <m:r>
                      <a:rPr lang="en-US" sz="2400" b="0" i="1" smtClean="0">
                        <a:solidFill>
                          <a:srgbClr val="C00000"/>
                        </a:solidFill>
                        <a:latin typeface="Cambria Math" panose="02040503050406030204" pitchFamily="18" charset="0"/>
                      </a:rPr>
                      <m:t>),</m:t>
                    </m:r>
                    <m:r>
                      <a:rPr lang="en-US" sz="2400" b="0" i="1" smtClean="0">
                        <a:solidFill>
                          <a:srgbClr val="C00000"/>
                        </a:solidFill>
                        <a:latin typeface="Cambria Math" panose="02040503050406030204" pitchFamily="18" charset="0"/>
                      </a:rPr>
                      <m:t>𝜎</m:t>
                    </m:r>
                    <m:r>
                      <a:rPr lang="en-US" sz="2400" b="0" i="1" smtClean="0">
                        <a:solidFill>
                          <a:srgbClr val="C00000"/>
                        </a:solidFill>
                        <a:latin typeface="Cambria Math" panose="02040503050406030204" pitchFamily="18" charset="0"/>
                      </a:rPr>
                      <m:t>)=1</m:t>
                    </m:r>
                  </m:oMath>
                </a14:m>
                <a:endParaRPr lang="en-US" sz="2400" dirty="0">
                  <a:solidFill>
                    <a:srgbClr val="C00000"/>
                  </a:solidFill>
                  <a:latin typeface="Candara" panose="020E0502030303020204" pitchFamily="34" charset="0"/>
                </a:endParaRPr>
              </a:p>
            </p:txBody>
          </p:sp>
        </mc:Choice>
        <mc:Fallback xmlns="">
          <p:sp>
            <p:nvSpPr>
              <p:cNvPr id="38" name="Rounded Rectangular Callout 37">
                <a:extLst>
                  <a:ext uri="{FF2B5EF4-FFF2-40B4-BE49-F238E27FC236}">
                    <a16:creationId xmlns:a16="http://schemas.microsoft.com/office/drawing/2014/main" id="{92E498CC-DB80-2089-4ABB-8FD682CD4241}"/>
                  </a:ext>
                </a:extLst>
              </p:cNvPr>
              <p:cNvSpPr>
                <a:spLocks noRot="1" noChangeAspect="1" noMove="1" noResize="1" noEditPoints="1" noAdjustHandles="1" noChangeArrowheads="1" noChangeShapeType="1" noTextEdit="1"/>
              </p:cNvSpPr>
              <p:nvPr/>
            </p:nvSpPr>
            <p:spPr>
              <a:xfrm>
                <a:off x="6146151" y="4436845"/>
                <a:ext cx="6045849" cy="2273662"/>
              </a:xfrm>
              <a:prstGeom prst="wedgeRoundRectCallout">
                <a:avLst>
                  <a:gd name="adj1" fmla="val -64158"/>
                  <a:gd name="adj2" fmla="val 5673"/>
                  <a:gd name="adj3" fmla="val 16667"/>
                </a:avLst>
              </a:prstGeom>
              <a:blipFill>
                <a:blip r:embed="rId18"/>
                <a:stretch>
                  <a:fillRect/>
                </a:stretch>
              </a:blipFill>
              <a:ln>
                <a:noFill/>
              </a:ln>
            </p:spPr>
            <p:txBody>
              <a:bodyPr/>
              <a:lstStyle/>
              <a:p>
                <a:r>
                  <a:rPr lang="en-US">
                    <a:noFill/>
                  </a:rPr>
                  <a:t> </a:t>
                </a:r>
              </a:p>
            </p:txBody>
          </p:sp>
        </mc:Fallback>
      </mc:AlternateContent>
      <p:sp>
        <p:nvSpPr>
          <p:cNvPr id="45" name="TextBox 44">
            <a:extLst>
              <a:ext uri="{FF2B5EF4-FFF2-40B4-BE49-F238E27FC236}">
                <a16:creationId xmlns:a16="http://schemas.microsoft.com/office/drawing/2014/main" id="{E1CCE609-AB6A-A3A0-BDBD-66FBADFEA871}"/>
              </a:ext>
            </a:extLst>
          </p:cNvPr>
          <p:cNvSpPr txBox="1"/>
          <p:nvPr/>
        </p:nvSpPr>
        <p:spPr>
          <a:xfrm>
            <a:off x="6614078" y="97483"/>
            <a:ext cx="5520232" cy="1736646"/>
          </a:xfrm>
          <a:prstGeom prst="roundRect">
            <a:avLst/>
          </a:prstGeom>
          <a:solidFill>
            <a:schemeClr val="accent6">
              <a:lumMod val="20000"/>
              <a:lumOff val="80000"/>
            </a:schemeClr>
          </a:solidFill>
          <a:ln w="38100">
            <a:solidFill>
              <a:schemeClr val="accent3"/>
            </a:solidFill>
          </a:ln>
        </p:spPr>
        <p:txBody>
          <a:bodyPr wrap="square">
            <a:spAutoFit/>
          </a:bodyPr>
          <a:lstStyle/>
          <a:p>
            <a:r>
              <a:rPr lang="en-US" sz="2400" b="1" dirty="0">
                <a:solidFill>
                  <a:srgbClr val="C00000"/>
                </a:solidFill>
                <a:latin typeface="Candara" panose="020E0502030303020204" pitchFamily="34" charset="0"/>
              </a:rPr>
              <a:t>Everlasting Anonymity via</a:t>
            </a:r>
            <a:br>
              <a:rPr lang="en-US" sz="2400" dirty="0">
                <a:solidFill>
                  <a:srgbClr val="C00000"/>
                </a:solidFill>
                <a:latin typeface="Candara" panose="020E0502030303020204" pitchFamily="34" charset="0"/>
              </a:rPr>
            </a:br>
            <a:r>
              <a:rPr lang="en-US" sz="2400" dirty="0">
                <a:solidFill>
                  <a:srgbClr val="C00000"/>
                </a:solidFill>
                <a:latin typeface="Candara" panose="020E0502030303020204" pitchFamily="34" charset="0"/>
              </a:rPr>
              <a:t>(1) k-wise independence of the polynomial, (2) statistical hiding of KZG commitment, and (3) statistical ZK.</a:t>
            </a:r>
            <a:endParaRPr lang="en-US" sz="2400" dirty="0"/>
          </a:p>
        </p:txBody>
      </p:sp>
    </p:spTree>
    <p:extLst>
      <p:ext uri="{BB962C8B-B14F-4D97-AF65-F5344CB8AC3E}">
        <p14:creationId xmlns:p14="http://schemas.microsoft.com/office/powerpoint/2010/main" val="3608446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33" grpId="0"/>
      <p:bldP spid="28" grpId="0"/>
      <p:bldP spid="30" grpId="0"/>
      <p:bldP spid="36" grpId="0" animBg="1"/>
      <p:bldP spid="37" grpId="0" animBg="1"/>
      <p:bldP spid="38" grpId="0" animBg="1"/>
      <p:bldP spid="4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0CFE2-33F7-5837-9D89-C2694F25287D}"/>
            </a:ext>
          </a:extLst>
        </p:cNvPr>
        <p:cNvGrpSpPr/>
        <p:nvPr/>
      </p:nvGrpSpPr>
      <p:grpSpPr>
        <a:xfrm>
          <a:off x="0" y="0"/>
          <a:ext cx="0" cy="0"/>
          <a:chOff x="0" y="0"/>
          <a:chExt cx="0" cy="0"/>
        </a:xfrm>
      </p:grpSpPr>
      <p:cxnSp>
        <p:nvCxnSpPr>
          <p:cNvPr id="25" name="Straight Arrow Connector 24">
            <a:extLst>
              <a:ext uri="{FF2B5EF4-FFF2-40B4-BE49-F238E27FC236}">
                <a16:creationId xmlns:a16="http://schemas.microsoft.com/office/drawing/2014/main" id="{CD80C97E-C8AD-4FB1-D000-223F7EECF00B}"/>
              </a:ext>
            </a:extLst>
          </p:cNvPr>
          <p:cNvCxnSpPr>
            <a:cxnSpLocks/>
          </p:cNvCxnSpPr>
          <p:nvPr/>
        </p:nvCxnSpPr>
        <p:spPr>
          <a:xfrm flipH="1">
            <a:off x="3410069" y="6088030"/>
            <a:ext cx="2905291"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 name="Rounded Rectangular Callout 1">
                <a:extLst>
                  <a:ext uri="{FF2B5EF4-FFF2-40B4-BE49-F238E27FC236}">
                    <a16:creationId xmlns:a16="http://schemas.microsoft.com/office/drawing/2014/main" id="{7A8978F9-FC30-EDE5-0A01-4331F6F218CF}"/>
                  </a:ext>
                </a:extLst>
              </p:cNvPr>
              <p:cNvSpPr/>
              <p:nvPr/>
            </p:nvSpPr>
            <p:spPr>
              <a:xfrm>
                <a:off x="6146151" y="4436845"/>
                <a:ext cx="6045849" cy="2273662"/>
              </a:xfrm>
              <a:prstGeom prst="wedgeRoundRectCallout">
                <a:avLst>
                  <a:gd name="adj1" fmla="val -64158"/>
                  <a:gd name="adj2" fmla="val 5673"/>
                  <a:gd name="adj3" fmla="val 16667"/>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2400" b="1" dirty="0">
                    <a:solidFill>
                      <a:srgbClr val="C00000"/>
                    </a:solidFill>
                    <a:latin typeface="Candara" panose="020E0502030303020204" pitchFamily="34" charset="0"/>
                  </a:rPr>
                  <a:t>Statistical ZK</a:t>
                </a:r>
                <a:r>
                  <a:rPr lang="en-US" sz="2400" dirty="0">
                    <a:solidFill>
                      <a:srgbClr val="C00000"/>
                    </a:solidFill>
                    <a:latin typeface="Candara" panose="020E0502030303020204" pitchFamily="34" charset="0"/>
                  </a:rPr>
                  <a:t> Proof of knowledge of</a:t>
                </a:r>
              </a:p>
              <a:p>
                <a14:m>
                  <m:oMath xmlns:m="http://schemas.openxmlformats.org/officeDocument/2006/math">
                    <m:r>
                      <a:rPr lang="en-US" sz="2400" b="0" i="1" smtClean="0">
                        <a:solidFill>
                          <a:srgbClr val="C00000"/>
                        </a:solidFill>
                        <a:latin typeface="Cambria Math" panose="02040503050406030204" pitchFamily="18" charset="0"/>
                      </a:rPr>
                      <m:t>(</m:t>
                    </m:r>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𝐶</m:t>
                        </m:r>
                      </m:e>
                      <m:sub>
                        <m:r>
                          <a:rPr lang="en-US" sz="2400" i="1">
                            <a:solidFill>
                              <a:srgbClr val="C00000"/>
                            </a:solidFill>
                            <a:latin typeface="Cambria Math" panose="02040503050406030204" pitchFamily="18" charset="0"/>
                          </a:rPr>
                          <m:t>𝑓</m:t>
                        </m:r>
                      </m:sub>
                    </m:sSub>
                    <m:r>
                      <a:rPr lang="en-US" sz="2400" b="0" i="1" smtClean="0">
                        <a:solidFill>
                          <a:srgbClr val="C00000"/>
                        </a:solidFill>
                        <a:latin typeface="Cambria Math" panose="02040503050406030204" pitchFamily="18" charset="0"/>
                      </a:rPr>
                      <m:t>,</m:t>
                    </m:r>
                    <m:r>
                      <m:rPr>
                        <m:sty m:val="p"/>
                      </m:rPr>
                      <a:rPr lang="en-US" sz="2400" b="0" i="1" smtClean="0">
                        <a:solidFill>
                          <a:srgbClr val="C00000"/>
                        </a:solidFill>
                        <a:latin typeface="Cambria Math" panose="02040503050406030204" pitchFamily="18" charset="0"/>
                      </a:rPr>
                      <m:t>ctr</m:t>
                    </m:r>
                    <m:r>
                      <a:rPr lang="en-US" sz="2400" b="0" i="1" smtClean="0">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𝑝</m:t>
                    </m:r>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𝑘</m:t>
                        </m:r>
                      </m:e>
                      <m:sub>
                        <m:r>
                          <a:rPr lang="en-US" sz="2400" i="1">
                            <a:solidFill>
                              <a:srgbClr val="C00000"/>
                            </a:solidFill>
                            <a:latin typeface="Cambria Math" panose="02040503050406030204" pitchFamily="18" charset="0"/>
                          </a:rPr>
                          <m:t>𝑈</m:t>
                        </m:r>
                      </m:sub>
                    </m:sSub>
                    <m:r>
                      <a:rPr lang="en-US" sz="2400" b="0" i="0" smtClean="0">
                        <a:solidFill>
                          <a:srgbClr val="C00000"/>
                        </a:solidFill>
                        <a:latin typeface="Cambria Math" panose="02040503050406030204" pitchFamily="18" charset="0"/>
                      </a:rPr>
                      <m:t>,</m:t>
                    </m:r>
                    <m:r>
                      <a:rPr lang="en-US" sz="2400" b="0" i="1" smtClean="0">
                        <a:solidFill>
                          <a:srgbClr val="C00000"/>
                        </a:solidFill>
                        <a:latin typeface="Cambria Math" panose="02040503050406030204" pitchFamily="18" charset="0"/>
                      </a:rPr>
                      <m:t>𝜎</m:t>
                    </m:r>
                    <m:r>
                      <a:rPr lang="en-US" sz="2400" i="1">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𝑜𝑝𝑒</m:t>
                    </m:r>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𝑛</m:t>
                        </m:r>
                      </m:e>
                      <m:sub>
                        <m:r>
                          <m:rPr>
                            <m:sty m:val="p"/>
                          </m:rPr>
                          <a:rPr lang="en-US" sz="2400" i="1">
                            <a:solidFill>
                              <a:srgbClr val="C00000"/>
                            </a:solidFill>
                            <a:latin typeface="Cambria Math" panose="02040503050406030204" pitchFamily="18" charset="0"/>
                          </a:rPr>
                          <m:t>f</m:t>
                        </m:r>
                      </m:sub>
                    </m:sSub>
                    <m:r>
                      <a:rPr lang="en-US" sz="2400" b="0" i="1" smtClean="0">
                        <a:solidFill>
                          <a:srgbClr val="C00000"/>
                        </a:solidFill>
                        <a:latin typeface="Cambria Math" panose="02040503050406030204" pitchFamily="18" charset="0"/>
                      </a:rPr>
                      <m:t>)</m:t>
                    </m:r>
                  </m:oMath>
                </a14:m>
                <a:r>
                  <a:rPr lang="en-US" sz="2400" dirty="0">
                    <a:solidFill>
                      <a:srgbClr val="C00000"/>
                    </a:solidFill>
                    <a:latin typeface="Candara" panose="020E0502030303020204" pitchFamily="34" charset="0"/>
                  </a:rPr>
                  <a:t> such that:</a:t>
                </a:r>
              </a:p>
              <a:p>
                <a:pPr marL="342900" indent="-342900">
                  <a:buFont typeface="Arial" panose="020B0604020202020204" pitchFamily="34" charset="0"/>
                  <a:buChar char="•"/>
                </a:pPr>
                <a14:m>
                  <m:oMath xmlns:m="http://schemas.openxmlformats.org/officeDocument/2006/math">
                    <m:r>
                      <m:rPr>
                        <m:sty m:val="p"/>
                      </m:rPr>
                      <a:rPr lang="en-US" sz="2400" i="1" smtClean="0">
                        <a:solidFill>
                          <a:srgbClr val="C00000"/>
                        </a:solidFill>
                        <a:latin typeface="Cambria Math" panose="02040503050406030204" pitchFamily="18" charset="0"/>
                      </a:rPr>
                      <m:t>ctr</m:t>
                    </m:r>
                    <m:r>
                      <a:rPr lang="en-US" sz="2400" b="0" i="1" smtClean="0">
                        <a:solidFill>
                          <a:srgbClr val="C00000"/>
                        </a:solidFill>
                        <a:latin typeface="Cambria Math" panose="02040503050406030204" pitchFamily="18" charset="0"/>
                      </a:rPr>
                      <m:t>∈[0,</m:t>
                    </m:r>
                    <m:r>
                      <a:rPr lang="en-US" sz="2400" b="0" i="1" smtClean="0">
                        <a:solidFill>
                          <a:srgbClr val="C00000"/>
                        </a:solidFill>
                        <a:latin typeface="Cambria Math" panose="02040503050406030204" pitchFamily="18" charset="0"/>
                      </a:rPr>
                      <m:t>𝑁</m:t>
                    </m:r>
                    <m:r>
                      <a:rPr lang="en-US" sz="2400" b="0" i="1" smtClean="0">
                        <a:solidFill>
                          <a:srgbClr val="C00000"/>
                        </a:solidFill>
                        <a:latin typeface="Cambria Math" panose="02040503050406030204" pitchFamily="18" charset="0"/>
                      </a:rPr>
                      <m:t>−1]</m:t>
                    </m:r>
                  </m:oMath>
                </a14:m>
                <a:endParaRPr lang="en-US" sz="2400" dirty="0">
                  <a:solidFill>
                    <a:srgbClr val="C00000"/>
                  </a:solidFill>
                  <a:latin typeface="Candara" panose="020E0502030303020204" pitchFamily="34" charset="0"/>
                </a:endParaRPr>
              </a:p>
              <a:p>
                <a:pPr marL="342900" indent="-342900">
                  <a:buFont typeface="Arial" panose="020B0604020202020204" pitchFamily="34" charset="0"/>
                  <a:buChar char="•"/>
                </a:pPr>
                <a14:m>
                  <m:oMath xmlns:m="http://schemas.openxmlformats.org/officeDocument/2006/math">
                    <m:r>
                      <a:rPr lang="en-US" sz="2400" b="1" i="0">
                        <a:solidFill>
                          <a:srgbClr val="C00000"/>
                        </a:solidFill>
                        <a:latin typeface="Cambria Math" panose="02040503050406030204" pitchFamily="18" charset="0"/>
                      </a:rPr>
                      <m:t>𝐊𝐙𝐆</m:t>
                    </m:r>
                    <m:r>
                      <a:rPr lang="en-US" sz="2400" b="1" i="0">
                        <a:solidFill>
                          <a:srgbClr val="C00000"/>
                        </a:solidFill>
                        <a:latin typeface="Cambria Math" panose="02040503050406030204" pitchFamily="18" charset="0"/>
                      </a:rPr>
                      <m:t>.</m:t>
                    </m:r>
                    <m:r>
                      <a:rPr lang="en-US" sz="2400" b="1" i="0" smtClean="0">
                        <a:solidFill>
                          <a:srgbClr val="C00000"/>
                        </a:solidFill>
                        <a:latin typeface="Cambria Math" panose="02040503050406030204" pitchFamily="18" charset="0"/>
                      </a:rPr>
                      <m:t>𝐕𝐞𝐫</m:t>
                    </m:r>
                    <m:r>
                      <a:rPr lang="en-US" sz="2400" b="1" i="1">
                        <a:solidFill>
                          <a:srgbClr val="C00000"/>
                        </a:solidFill>
                        <a:latin typeface="Cambria Math" panose="02040503050406030204" pitchFamily="18" charset="0"/>
                      </a:rPr>
                      <m:t>(</m:t>
                    </m:r>
                    <m:sSub>
                      <m:sSubPr>
                        <m:ctrlPr>
                          <a:rPr lang="en-US" sz="2400" b="1" i="1">
                            <a:solidFill>
                              <a:srgbClr val="C00000"/>
                            </a:solidFill>
                            <a:latin typeface="Cambria Math" panose="02040503050406030204" pitchFamily="18" charset="0"/>
                          </a:rPr>
                        </m:ctrlPr>
                      </m:sSubPr>
                      <m:e>
                        <m:r>
                          <a:rPr lang="en-US" sz="2400" b="1" i="1">
                            <a:solidFill>
                              <a:srgbClr val="C00000"/>
                            </a:solidFill>
                            <a:latin typeface="Cambria Math" panose="02040503050406030204" pitchFamily="18" charset="0"/>
                          </a:rPr>
                          <m:t>𝑪</m:t>
                        </m:r>
                      </m:e>
                      <m:sub>
                        <m:r>
                          <a:rPr lang="en-US" sz="2400" b="1" i="1">
                            <a:solidFill>
                              <a:srgbClr val="C00000"/>
                            </a:solidFill>
                            <a:latin typeface="Cambria Math" panose="02040503050406030204" pitchFamily="18" charset="0"/>
                          </a:rPr>
                          <m:t>𝒇</m:t>
                        </m:r>
                      </m:sub>
                    </m:sSub>
                    <m:r>
                      <a:rPr lang="en-US" sz="2400" b="1" i="1">
                        <a:solidFill>
                          <a:srgbClr val="C00000"/>
                        </a:solidFill>
                        <a:latin typeface="Cambria Math" panose="02040503050406030204" pitchFamily="18" charset="0"/>
                      </a:rPr>
                      <m:t>, </m:t>
                    </m:r>
                    <m:r>
                      <a:rPr lang="en-US" sz="2400" b="1" i="1">
                        <a:solidFill>
                          <a:srgbClr val="C00000"/>
                        </a:solidFill>
                        <a:latin typeface="Cambria Math" panose="02040503050406030204" pitchFamily="18" charset="0"/>
                      </a:rPr>
                      <m:t>𝐜𝐭𝐱𝐭</m:t>
                    </m:r>
                    <m:r>
                      <a:rPr lang="en-US" sz="2400" b="1">
                        <a:solidFill>
                          <a:srgbClr val="C00000"/>
                        </a:solidFill>
                        <a:latin typeface="Cambria Math" panose="02040503050406030204" pitchFamily="18" charset="0"/>
                      </a:rPr>
                      <m:t>||</m:t>
                    </m:r>
                    <m:r>
                      <a:rPr lang="en-US" sz="2400" b="1" i="1">
                        <a:solidFill>
                          <a:srgbClr val="C00000"/>
                        </a:solidFill>
                        <a:latin typeface="Cambria Math" panose="02040503050406030204" pitchFamily="18" charset="0"/>
                      </a:rPr>
                      <m:t>𝐜𝐭𝐫</m:t>
                    </m:r>
                    <m:r>
                      <a:rPr lang="en-US" sz="2400" b="1">
                        <a:solidFill>
                          <a:srgbClr val="C00000"/>
                        </a:solidFill>
                        <a:latin typeface="Cambria Math" panose="02040503050406030204" pitchFamily="18" charset="0"/>
                      </a:rPr>
                      <m:t>,</m:t>
                    </m:r>
                    <m:r>
                      <a:rPr lang="en-US" sz="2400" b="1" i="1">
                        <a:solidFill>
                          <a:srgbClr val="C00000"/>
                        </a:solidFill>
                        <a:latin typeface="Cambria Math" panose="02040503050406030204" pitchFamily="18" charset="0"/>
                      </a:rPr>
                      <m:t>𝒔𝒏</m:t>
                    </m:r>
                    <m:r>
                      <a:rPr lang="en-US" sz="2400" b="1" i="1" smtClean="0">
                        <a:solidFill>
                          <a:srgbClr val="C00000"/>
                        </a:solidFill>
                        <a:latin typeface="Cambria Math" panose="02040503050406030204" pitchFamily="18" charset="0"/>
                      </a:rPr>
                      <m:t>,</m:t>
                    </m:r>
                    <m:r>
                      <a:rPr lang="en-US" sz="2400" b="1">
                        <a:solidFill>
                          <a:srgbClr val="C00000"/>
                        </a:solidFill>
                        <a:latin typeface="Cambria Math" panose="02040503050406030204" pitchFamily="18" charset="0"/>
                      </a:rPr>
                      <m:t>𝐨𝐩𝐞</m:t>
                    </m:r>
                    <m:sSub>
                      <m:sSubPr>
                        <m:ctrlPr>
                          <a:rPr lang="en-US" sz="2400" b="1" i="1">
                            <a:solidFill>
                              <a:srgbClr val="C00000"/>
                            </a:solidFill>
                            <a:latin typeface="Cambria Math" panose="02040503050406030204" pitchFamily="18" charset="0"/>
                          </a:rPr>
                        </m:ctrlPr>
                      </m:sSubPr>
                      <m:e>
                        <m:r>
                          <a:rPr lang="en-US" sz="2400" b="1">
                            <a:solidFill>
                              <a:srgbClr val="C00000"/>
                            </a:solidFill>
                            <a:latin typeface="Cambria Math" panose="02040503050406030204" pitchFamily="18" charset="0"/>
                          </a:rPr>
                          <m:t>𝐧</m:t>
                        </m:r>
                      </m:e>
                      <m:sub>
                        <m:r>
                          <a:rPr lang="en-US" sz="2400" b="1" i="1">
                            <a:solidFill>
                              <a:srgbClr val="C00000"/>
                            </a:solidFill>
                            <a:latin typeface="Cambria Math" panose="02040503050406030204" pitchFamily="18" charset="0"/>
                          </a:rPr>
                          <m:t>𝒇</m:t>
                        </m:r>
                      </m:sub>
                    </m:sSub>
                    <m:r>
                      <a:rPr lang="en-US" sz="2400" b="1" i="1">
                        <a:solidFill>
                          <a:srgbClr val="C00000"/>
                        </a:solidFill>
                        <a:latin typeface="Cambria Math" panose="02040503050406030204" pitchFamily="18" charset="0"/>
                      </a:rPr>
                      <m:t>)=</m:t>
                    </m:r>
                    <m:r>
                      <a:rPr lang="en-US" sz="2400" b="1" i="1">
                        <a:solidFill>
                          <a:srgbClr val="C00000"/>
                        </a:solidFill>
                        <a:latin typeface="Cambria Math" panose="02040503050406030204" pitchFamily="18" charset="0"/>
                      </a:rPr>
                      <m:t>𝟏</m:t>
                    </m:r>
                  </m:oMath>
                </a14:m>
                <a:endParaRPr lang="en-US" sz="2400" b="1" dirty="0">
                  <a:solidFill>
                    <a:srgbClr val="C00000"/>
                  </a:solidFill>
                  <a:latin typeface="Candara" panose="020E0502030303020204" pitchFamily="34" charset="0"/>
                </a:endParaRPr>
              </a:p>
              <a:p>
                <a:pPr marL="342900" indent="-342900">
                  <a:buFont typeface="Arial" panose="020B0604020202020204" pitchFamily="34" charset="0"/>
                  <a:buChar char="•"/>
                </a:pPr>
                <a14:m>
                  <m:oMath xmlns:m="http://schemas.openxmlformats.org/officeDocument/2006/math">
                    <m:r>
                      <m:rPr>
                        <m:sty m:val="p"/>
                      </m:rPr>
                      <a:rPr lang="en-US" sz="2400" b="0" i="1" smtClean="0">
                        <a:solidFill>
                          <a:srgbClr val="C00000"/>
                        </a:solidFill>
                        <a:latin typeface="Cambria Math" panose="02040503050406030204" pitchFamily="18" charset="0"/>
                      </a:rPr>
                      <m:t>Ver</m:t>
                    </m:r>
                    <m:r>
                      <a:rPr lang="en-US" sz="2400" b="0" i="1" smtClean="0">
                        <a:solidFill>
                          <a:srgbClr val="C00000"/>
                        </a:solidFill>
                        <a:latin typeface="Cambria Math" panose="02040503050406030204" pitchFamily="18" charset="0"/>
                      </a:rPr>
                      <m:t>(</m:t>
                    </m:r>
                    <m:r>
                      <a:rPr lang="en-US" sz="2400" b="0" i="1" smtClean="0">
                        <a:solidFill>
                          <a:srgbClr val="C00000"/>
                        </a:solidFill>
                        <a:latin typeface="Cambria Math" panose="02040503050406030204" pitchFamily="18" charset="0"/>
                      </a:rPr>
                      <m:t>𝑝</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𝑘</m:t>
                        </m:r>
                      </m:e>
                      <m:sub>
                        <m:r>
                          <a:rPr lang="en-US" sz="2400" b="0" i="1" smtClean="0">
                            <a:solidFill>
                              <a:srgbClr val="C00000"/>
                            </a:solidFill>
                            <a:latin typeface="Cambria Math" panose="02040503050406030204" pitchFamily="18" charset="0"/>
                          </a:rPr>
                          <m:t>𝐼</m:t>
                        </m:r>
                      </m:sub>
                    </m:sSub>
                    <m:r>
                      <a:rPr lang="en-US" sz="2400" b="0" i="1" smtClean="0">
                        <a:solidFill>
                          <a:srgbClr val="C00000"/>
                        </a:solidFill>
                        <a:latin typeface="Cambria Math" panose="02040503050406030204" pitchFamily="18" charset="0"/>
                      </a:rPr>
                      <m:t>,</m:t>
                    </m:r>
                    <m:r>
                      <a:rPr lang="en-US" sz="2400">
                        <a:solidFill>
                          <a:srgbClr val="C00000"/>
                        </a:solidFill>
                        <a:latin typeface="Cambria Math" panose="02040503050406030204" pitchFamily="18" charset="0"/>
                      </a:rPr>
                      <m:t>(</m:t>
                    </m:r>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𝐶</m:t>
                        </m:r>
                      </m:e>
                      <m:sub>
                        <m:r>
                          <a:rPr lang="en-US" sz="2400" i="1">
                            <a:solidFill>
                              <a:srgbClr val="C00000"/>
                            </a:solidFill>
                            <a:latin typeface="Cambria Math" panose="02040503050406030204" pitchFamily="18" charset="0"/>
                          </a:rPr>
                          <m:t>𝑓</m:t>
                        </m:r>
                      </m:sub>
                    </m:sSub>
                    <m:r>
                      <a:rPr lang="en-US" sz="2400" i="1">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𝑝</m:t>
                    </m:r>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𝑘</m:t>
                        </m:r>
                      </m:e>
                      <m:sub>
                        <m:r>
                          <a:rPr lang="en-US" sz="2400" i="1">
                            <a:solidFill>
                              <a:srgbClr val="C00000"/>
                            </a:solidFill>
                            <a:latin typeface="Cambria Math" panose="02040503050406030204" pitchFamily="18" charset="0"/>
                          </a:rPr>
                          <m:t>𝑈</m:t>
                        </m:r>
                      </m:sub>
                    </m:sSub>
                    <m:r>
                      <a:rPr lang="en-US" sz="2400" b="0" i="1" smtClean="0">
                        <a:solidFill>
                          <a:srgbClr val="C00000"/>
                        </a:solidFill>
                        <a:latin typeface="Cambria Math" panose="02040503050406030204" pitchFamily="18" charset="0"/>
                      </a:rPr>
                      <m:t>),</m:t>
                    </m:r>
                    <m:r>
                      <a:rPr lang="en-US" sz="2400" b="0" i="1" smtClean="0">
                        <a:solidFill>
                          <a:srgbClr val="C00000"/>
                        </a:solidFill>
                        <a:latin typeface="Cambria Math" panose="02040503050406030204" pitchFamily="18" charset="0"/>
                      </a:rPr>
                      <m:t>𝜎</m:t>
                    </m:r>
                    <m:r>
                      <a:rPr lang="en-US" sz="2400" b="0" i="1" smtClean="0">
                        <a:solidFill>
                          <a:srgbClr val="C00000"/>
                        </a:solidFill>
                        <a:latin typeface="Cambria Math" panose="02040503050406030204" pitchFamily="18" charset="0"/>
                      </a:rPr>
                      <m:t>)=1</m:t>
                    </m:r>
                  </m:oMath>
                </a14:m>
                <a:endParaRPr lang="en-US" sz="2400" dirty="0">
                  <a:solidFill>
                    <a:srgbClr val="C00000"/>
                  </a:solidFill>
                  <a:latin typeface="Candara" panose="020E0502030303020204" pitchFamily="34" charset="0"/>
                </a:endParaRPr>
              </a:p>
            </p:txBody>
          </p:sp>
        </mc:Choice>
        <mc:Fallback xmlns="">
          <p:sp>
            <p:nvSpPr>
              <p:cNvPr id="2" name="Rounded Rectangular Callout 1">
                <a:extLst>
                  <a:ext uri="{FF2B5EF4-FFF2-40B4-BE49-F238E27FC236}">
                    <a16:creationId xmlns:a16="http://schemas.microsoft.com/office/drawing/2014/main" id="{7A8978F9-FC30-EDE5-0A01-4331F6F218CF}"/>
                  </a:ext>
                </a:extLst>
              </p:cNvPr>
              <p:cNvSpPr>
                <a:spLocks noRot="1" noChangeAspect="1" noMove="1" noResize="1" noEditPoints="1" noAdjustHandles="1" noChangeArrowheads="1" noChangeShapeType="1" noTextEdit="1"/>
              </p:cNvSpPr>
              <p:nvPr/>
            </p:nvSpPr>
            <p:spPr>
              <a:xfrm>
                <a:off x="6146151" y="4436845"/>
                <a:ext cx="6045849" cy="2273662"/>
              </a:xfrm>
              <a:prstGeom prst="wedgeRoundRectCallout">
                <a:avLst>
                  <a:gd name="adj1" fmla="val -64158"/>
                  <a:gd name="adj2" fmla="val 5673"/>
                  <a:gd name="adj3" fmla="val 16667"/>
                </a:avLst>
              </a:prstGeom>
              <a:blipFill>
                <a:blip r:embed="rId3"/>
                <a:stretch>
                  <a:fillRect/>
                </a:stretch>
              </a:blipFill>
              <a:ln>
                <a:noFill/>
              </a:ln>
            </p:spPr>
            <p:txBody>
              <a:bodyPr/>
              <a:lstStyle/>
              <a:p>
                <a:r>
                  <a:rPr lang="en-US">
                    <a:noFill/>
                  </a:rPr>
                  <a:t> </a:t>
                </a:r>
              </a:p>
            </p:txBody>
          </p:sp>
        </mc:Fallback>
      </mc:AlternateContent>
      <p:grpSp>
        <p:nvGrpSpPr>
          <p:cNvPr id="5" name="Group 4">
            <a:extLst>
              <a:ext uri="{FF2B5EF4-FFF2-40B4-BE49-F238E27FC236}">
                <a16:creationId xmlns:a16="http://schemas.microsoft.com/office/drawing/2014/main" id="{A3E8CA06-15D5-6F07-BF8F-96C806B1B97D}"/>
              </a:ext>
            </a:extLst>
          </p:cNvPr>
          <p:cNvGrpSpPr/>
          <p:nvPr/>
        </p:nvGrpSpPr>
        <p:grpSpPr>
          <a:xfrm>
            <a:off x="9529179" y="1816834"/>
            <a:ext cx="1330036" cy="1581514"/>
            <a:chOff x="9700876" y="2058675"/>
            <a:chExt cx="1330036" cy="1581514"/>
          </a:xfrm>
        </p:grpSpPr>
        <p:pic>
          <p:nvPicPr>
            <p:cNvPr id="6" name="Graphic 5" descr="User outline">
              <a:extLst>
                <a:ext uri="{FF2B5EF4-FFF2-40B4-BE49-F238E27FC236}">
                  <a16:creationId xmlns:a16="http://schemas.microsoft.com/office/drawing/2014/main" id="{D35C1507-CACA-4621-0AF8-DA7D31A62FD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700876" y="2310153"/>
              <a:ext cx="1330036" cy="1330036"/>
            </a:xfrm>
            <a:prstGeom prst="rect">
              <a:avLst/>
            </a:prstGeom>
          </p:spPr>
        </p:pic>
        <p:sp>
          <p:nvSpPr>
            <p:cNvPr id="7" name="TextBox 6">
              <a:extLst>
                <a:ext uri="{FF2B5EF4-FFF2-40B4-BE49-F238E27FC236}">
                  <a16:creationId xmlns:a16="http://schemas.microsoft.com/office/drawing/2014/main" id="{96E345B8-88EE-132F-5949-924FAAE2DEA2}"/>
                </a:ext>
              </a:extLst>
            </p:cNvPr>
            <p:cNvSpPr txBox="1"/>
            <p:nvPr/>
          </p:nvSpPr>
          <p:spPr>
            <a:xfrm>
              <a:off x="9859542" y="2058675"/>
              <a:ext cx="792205" cy="461665"/>
            </a:xfrm>
            <a:prstGeom prst="rect">
              <a:avLst/>
            </a:prstGeom>
            <a:noFill/>
          </p:spPr>
          <p:txBody>
            <a:bodyPr wrap="none" rtlCol="0">
              <a:spAutoFit/>
            </a:bodyPr>
            <a:lstStyle/>
            <a:p>
              <a:r>
                <a:rPr lang="en-US" sz="2400" b="1" dirty="0">
                  <a:latin typeface="Candara" panose="020E0502030303020204" pitchFamily="34" charset="0"/>
                </a:rPr>
                <a:t>User</a:t>
              </a:r>
            </a:p>
          </p:txBody>
        </p:sp>
      </p:grpSp>
      <p:grpSp>
        <p:nvGrpSpPr>
          <p:cNvPr id="8" name="Group 7">
            <a:extLst>
              <a:ext uri="{FF2B5EF4-FFF2-40B4-BE49-F238E27FC236}">
                <a16:creationId xmlns:a16="http://schemas.microsoft.com/office/drawing/2014/main" id="{A2935D66-DB02-523D-0F17-7E96F45FF711}"/>
              </a:ext>
            </a:extLst>
          </p:cNvPr>
          <p:cNvGrpSpPr/>
          <p:nvPr/>
        </p:nvGrpSpPr>
        <p:grpSpPr>
          <a:xfrm>
            <a:off x="1290737" y="1690688"/>
            <a:ext cx="1634837" cy="1955203"/>
            <a:chOff x="3154262" y="1690688"/>
            <a:chExt cx="1634837" cy="1955203"/>
          </a:xfrm>
        </p:grpSpPr>
        <p:pic>
          <p:nvPicPr>
            <p:cNvPr id="9" name="Graphic 8" descr="Bank outline">
              <a:extLst>
                <a:ext uri="{FF2B5EF4-FFF2-40B4-BE49-F238E27FC236}">
                  <a16:creationId xmlns:a16="http://schemas.microsoft.com/office/drawing/2014/main" id="{DFCD6BE9-89A2-9B0A-F06B-6A907143063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154262" y="2011054"/>
              <a:ext cx="1634837" cy="1634837"/>
            </a:xfrm>
            <a:prstGeom prst="rect">
              <a:avLst/>
            </a:prstGeom>
          </p:spPr>
        </p:pic>
        <p:sp>
          <p:nvSpPr>
            <p:cNvPr id="10" name="TextBox 9">
              <a:extLst>
                <a:ext uri="{FF2B5EF4-FFF2-40B4-BE49-F238E27FC236}">
                  <a16:creationId xmlns:a16="http://schemas.microsoft.com/office/drawing/2014/main" id="{79F1D16E-317F-5562-750D-D869EFB6F3DE}"/>
                </a:ext>
              </a:extLst>
            </p:cNvPr>
            <p:cNvSpPr txBox="1"/>
            <p:nvPr/>
          </p:nvSpPr>
          <p:spPr>
            <a:xfrm>
              <a:off x="3355853" y="1690688"/>
              <a:ext cx="973343" cy="461665"/>
            </a:xfrm>
            <a:prstGeom prst="rect">
              <a:avLst/>
            </a:prstGeom>
            <a:noFill/>
          </p:spPr>
          <p:txBody>
            <a:bodyPr wrap="none" rtlCol="0">
              <a:spAutoFit/>
            </a:bodyPr>
            <a:lstStyle/>
            <a:p>
              <a:r>
                <a:rPr lang="en-US" sz="2400" b="1" dirty="0">
                  <a:latin typeface="Candara" panose="020E0502030303020204" pitchFamily="34" charset="0"/>
                </a:rPr>
                <a:t>Issuer</a:t>
              </a:r>
            </a:p>
          </p:txBody>
        </p:sp>
      </p:gr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8FBC22D-CC85-AD52-013F-1F14F0DA0F1B}"/>
                  </a:ext>
                </a:extLst>
              </p:cNvPr>
              <p:cNvSpPr txBox="1"/>
              <p:nvPr/>
            </p:nvSpPr>
            <p:spPr>
              <a:xfrm>
                <a:off x="616643" y="2098964"/>
                <a:ext cx="67409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𝑠</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𝑘</m:t>
                          </m:r>
                        </m:e>
                        <m:sub>
                          <m:r>
                            <a:rPr lang="en-US" sz="2400" b="0" i="1" smtClean="0">
                              <a:solidFill>
                                <a:srgbClr val="C00000"/>
                              </a:solidFill>
                              <a:latin typeface="Cambria Math" panose="02040503050406030204" pitchFamily="18" charset="0"/>
                            </a:rPr>
                            <m:t>𝐼</m:t>
                          </m:r>
                        </m:sub>
                      </m:sSub>
                    </m:oMath>
                  </m:oMathPara>
                </a14:m>
                <a:endParaRPr lang="en-US" sz="2400" dirty="0">
                  <a:solidFill>
                    <a:srgbClr val="C00000"/>
                  </a:solidFill>
                  <a:latin typeface="Candara" panose="020E0502030303020204" pitchFamily="34" charset="0"/>
                </a:endParaRPr>
              </a:p>
            </p:txBody>
          </p:sp>
        </mc:Choice>
        <mc:Fallback xmlns="">
          <p:sp>
            <p:nvSpPr>
              <p:cNvPr id="11" name="TextBox 10">
                <a:extLst>
                  <a:ext uri="{FF2B5EF4-FFF2-40B4-BE49-F238E27FC236}">
                    <a16:creationId xmlns:a16="http://schemas.microsoft.com/office/drawing/2014/main" id="{C8FBC22D-CC85-AD52-013F-1F14F0DA0F1B}"/>
                  </a:ext>
                </a:extLst>
              </p:cNvPr>
              <p:cNvSpPr txBox="1">
                <a:spLocks noRot="1" noChangeAspect="1" noMove="1" noResize="1" noEditPoints="1" noAdjustHandles="1" noChangeArrowheads="1" noChangeShapeType="1" noTextEdit="1"/>
              </p:cNvSpPr>
              <p:nvPr/>
            </p:nvSpPr>
            <p:spPr>
              <a:xfrm>
                <a:off x="616643" y="2098964"/>
                <a:ext cx="674094" cy="461665"/>
              </a:xfrm>
              <a:prstGeom prst="rect">
                <a:avLst/>
              </a:prstGeom>
              <a:blipFill>
                <a:blip r:embed="rId8"/>
                <a:stretch>
                  <a:fillRect b="-27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9B30849-2794-CA8C-4FDD-5B62307C4A32}"/>
                  </a:ext>
                </a:extLst>
              </p:cNvPr>
              <p:cNvSpPr txBox="1"/>
              <p:nvPr/>
            </p:nvSpPr>
            <p:spPr>
              <a:xfrm>
                <a:off x="10701852" y="2008461"/>
                <a:ext cx="70044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solidFill>
                            <a:srgbClr val="C00000"/>
                          </a:solidFill>
                          <a:latin typeface="Cambria Math" panose="02040503050406030204" pitchFamily="18" charset="0"/>
                        </a:rPr>
                        <m:t>𝑝</m:t>
                      </m:r>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𝑘</m:t>
                          </m:r>
                        </m:e>
                        <m:sub>
                          <m:r>
                            <a:rPr lang="en-US" sz="2400" i="1">
                              <a:solidFill>
                                <a:srgbClr val="C00000"/>
                              </a:solidFill>
                              <a:latin typeface="Cambria Math" panose="02040503050406030204" pitchFamily="18" charset="0"/>
                            </a:rPr>
                            <m:t>𝐼</m:t>
                          </m:r>
                        </m:sub>
                      </m:sSub>
                    </m:oMath>
                  </m:oMathPara>
                </a14:m>
                <a:endParaRPr lang="en-US" sz="2400" dirty="0">
                  <a:solidFill>
                    <a:srgbClr val="C00000"/>
                  </a:solidFill>
                  <a:latin typeface="Candara" panose="020E0502030303020204" pitchFamily="34" charset="0"/>
                </a:endParaRPr>
              </a:p>
            </p:txBody>
          </p:sp>
        </mc:Choice>
        <mc:Fallback xmlns="">
          <p:sp>
            <p:nvSpPr>
              <p:cNvPr id="12" name="TextBox 11">
                <a:extLst>
                  <a:ext uri="{FF2B5EF4-FFF2-40B4-BE49-F238E27FC236}">
                    <a16:creationId xmlns:a16="http://schemas.microsoft.com/office/drawing/2014/main" id="{F9B30849-2794-CA8C-4FDD-5B62307C4A32}"/>
                  </a:ext>
                </a:extLst>
              </p:cNvPr>
              <p:cNvSpPr txBox="1">
                <a:spLocks noRot="1" noChangeAspect="1" noMove="1" noResize="1" noEditPoints="1" noAdjustHandles="1" noChangeArrowheads="1" noChangeShapeType="1" noTextEdit="1"/>
              </p:cNvSpPr>
              <p:nvPr/>
            </p:nvSpPr>
            <p:spPr>
              <a:xfrm>
                <a:off x="10701852" y="2008461"/>
                <a:ext cx="700448" cy="461665"/>
              </a:xfrm>
              <a:prstGeom prst="rect">
                <a:avLst/>
              </a:prstGeom>
              <a:blipFill>
                <a:blip r:embed="rId9"/>
                <a:stretch>
                  <a:fillRect b="-78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9126C2C-3344-F5DC-7721-2D149B3C6929}"/>
                  </a:ext>
                </a:extLst>
              </p:cNvPr>
              <p:cNvSpPr txBox="1"/>
              <p:nvPr/>
            </p:nvSpPr>
            <p:spPr>
              <a:xfrm>
                <a:off x="10742453" y="2647569"/>
                <a:ext cx="619245"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C00000"/>
                          </a:solidFill>
                          <a:latin typeface="Cambria Math" panose="02040503050406030204" pitchFamily="18" charset="0"/>
                        </a:rPr>
                        <m:t>𝑝</m:t>
                      </m:r>
                      <m:sSub>
                        <m:sSubPr>
                          <m:ctrlPr>
                            <a:rPr lang="en-US" sz="2400" b="0" i="1" smtClean="0">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𝑘</m:t>
                          </m:r>
                        </m:e>
                        <m:sub>
                          <m:r>
                            <a:rPr lang="en-US" sz="2400" b="0" i="1" smtClean="0">
                              <a:solidFill>
                                <a:srgbClr val="C00000"/>
                              </a:solidFill>
                              <a:latin typeface="Cambria Math" panose="02040503050406030204" pitchFamily="18" charset="0"/>
                            </a:rPr>
                            <m:t>𝑈</m:t>
                          </m:r>
                        </m:sub>
                      </m:sSub>
                    </m:oMath>
                  </m:oMathPara>
                </a14:m>
                <a:endParaRPr lang="en-US" sz="2400" dirty="0">
                  <a:latin typeface="Candara" panose="020E0502030303020204" pitchFamily="34" charset="0"/>
                </a:endParaRPr>
              </a:p>
            </p:txBody>
          </p:sp>
        </mc:Choice>
        <mc:Fallback xmlns="">
          <p:sp>
            <p:nvSpPr>
              <p:cNvPr id="13" name="TextBox 12">
                <a:extLst>
                  <a:ext uri="{FF2B5EF4-FFF2-40B4-BE49-F238E27FC236}">
                    <a16:creationId xmlns:a16="http://schemas.microsoft.com/office/drawing/2014/main" id="{49126C2C-3344-F5DC-7721-2D149B3C6929}"/>
                  </a:ext>
                </a:extLst>
              </p:cNvPr>
              <p:cNvSpPr txBox="1">
                <a:spLocks noRot="1" noChangeAspect="1" noMove="1" noResize="1" noEditPoints="1" noAdjustHandles="1" noChangeArrowheads="1" noChangeShapeType="1" noTextEdit="1"/>
              </p:cNvSpPr>
              <p:nvPr/>
            </p:nvSpPr>
            <p:spPr>
              <a:xfrm>
                <a:off x="10742453" y="2647569"/>
                <a:ext cx="619245" cy="461665"/>
              </a:xfrm>
              <a:prstGeom prst="rect">
                <a:avLst/>
              </a:prstGeom>
              <a:blipFill>
                <a:blip r:embed="rId10"/>
                <a:stretch>
                  <a:fillRect l="-2000" r="-8000" b="-10811"/>
                </a:stretch>
              </a:blipFill>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BDE42E23-4A89-C505-4C1B-5BDA0F47DCC7}"/>
              </a:ext>
            </a:extLst>
          </p:cNvPr>
          <p:cNvCxnSpPr>
            <a:cxnSpLocks/>
          </p:cNvCxnSpPr>
          <p:nvPr/>
        </p:nvCxnSpPr>
        <p:spPr>
          <a:xfrm>
            <a:off x="4087082" y="3426717"/>
            <a:ext cx="2952870"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F39B04F7-2042-27AC-28B1-BCAFEB494E67}"/>
              </a:ext>
            </a:extLst>
          </p:cNvPr>
          <p:cNvCxnSpPr>
            <a:cxnSpLocks/>
          </p:cNvCxnSpPr>
          <p:nvPr/>
        </p:nvCxnSpPr>
        <p:spPr>
          <a:xfrm flipH="1">
            <a:off x="4060405" y="2453040"/>
            <a:ext cx="2905291"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26DE201A-C8D6-E55D-E7CA-AA01DE885497}"/>
              </a:ext>
            </a:extLst>
          </p:cNvPr>
          <p:cNvCxnSpPr/>
          <p:nvPr/>
        </p:nvCxnSpPr>
        <p:spPr>
          <a:xfrm>
            <a:off x="557242" y="4132162"/>
            <a:ext cx="11273742" cy="0"/>
          </a:xfrm>
          <a:prstGeom prst="line">
            <a:avLst/>
          </a:prstGeom>
          <a:ln w="57150">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823B6AA-B769-04D2-F88B-3346E02771E7}"/>
                  </a:ext>
                </a:extLst>
              </p:cNvPr>
              <p:cNvSpPr txBox="1"/>
              <p:nvPr/>
            </p:nvSpPr>
            <p:spPr>
              <a:xfrm>
                <a:off x="8393875" y="3551618"/>
                <a:ext cx="3798125" cy="398955"/>
              </a:xfrm>
              <a:prstGeom prst="rect">
                <a:avLst/>
              </a:prstGeom>
              <a:noFill/>
            </p:spPr>
            <p:txBody>
              <a:bodyPr wrap="square" lIns="0" tIns="0" rIns="0" bIns="0" rtlCol="0">
                <a:spAutoFit/>
              </a:bodyPr>
              <a:lstStyle/>
              <a:p>
                <a:pPr algn="ctr"/>
                <a:r>
                  <a:rPr lang="en-US" sz="2400" b="0" dirty="0">
                    <a:solidFill>
                      <a:srgbClr val="C00000"/>
                    </a:solidFill>
                    <a:latin typeface="Candara" panose="020E0502030303020204" pitchFamily="34" charset="0"/>
                  </a:rPr>
                  <a:t>Signature </a:t>
                </a:r>
                <a14:m>
                  <m:oMath xmlns:m="http://schemas.openxmlformats.org/officeDocument/2006/math">
                    <m:r>
                      <a:rPr lang="en-US" sz="2400" b="0" i="1" smtClean="0">
                        <a:solidFill>
                          <a:srgbClr val="C00000"/>
                        </a:solidFill>
                        <a:latin typeface="Cambria Math" panose="02040503050406030204" pitchFamily="18" charset="0"/>
                      </a:rPr>
                      <m:t>𝜎</m:t>
                    </m:r>
                  </m:oMath>
                </a14:m>
                <a:r>
                  <a:rPr lang="en-US" sz="2400" dirty="0">
                    <a:solidFill>
                      <a:srgbClr val="C00000"/>
                    </a:solidFill>
                    <a:latin typeface="Candara" panose="020E0502030303020204" pitchFamily="34" charset="0"/>
                  </a:rPr>
                  <a:t> of </a:t>
                </a:r>
                <a14:m>
                  <m:oMath xmlns:m="http://schemas.openxmlformats.org/officeDocument/2006/math">
                    <m:r>
                      <a:rPr lang="en-US" sz="2400" b="0" i="0" smtClean="0">
                        <a:solidFill>
                          <a:srgbClr val="C00000"/>
                        </a:solidFill>
                        <a:latin typeface="Cambria Math" panose="02040503050406030204" pitchFamily="18" charset="0"/>
                      </a:rPr>
                      <m:t>(</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𝐶</m:t>
                        </m:r>
                      </m:e>
                      <m:sub>
                        <m:r>
                          <a:rPr lang="en-US" sz="2400" b="0" i="1" smtClean="0">
                            <a:solidFill>
                              <a:srgbClr val="C00000"/>
                            </a:solidFill>
                            <a:latin typeface="Cambria Math" panose="02040503050406030204" pitchFamily="18" charset="0"/>
                          </a:rPr>
                          <m:t>𝑓</m:t>
                        </m:r>
                      </m:sub>
                    </m:sSub>
                    <m:r>
                      <a:rPr lang="en-US" sz="2400" b="0" i="1" smtClean="0">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𝑝</m:t>
                    </m:r>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𝑘</m:t>
                        </m:r>
                      </m:e>
                      <m:sub>
                        <m:r>
                          <a:rPr lang="en-US" sz="2400" i="1">
                            <a:solidFill>
                              <a:srgbClr val="C00000"/>
                            </a:solidFill>
                            <a:latin typeface="Cambria Math" panose="02040503050406030204" pitchFamily="18" charset="0"/>
                          </a:rPr>
                          <m:t>𝑈</m:t>
                        </m:r>
                      </m:sub>
                    </m:sSub>
                    <m:r>
                      <a:rPr lang="en-US" sz="2400" b="0" i="1" smtClean="0">
                        <a:solidFill>
                          <a:srgbClr val="C00000"/>
                        </a:solidFill>
                        <a:latin typeface="Cambria Math" panose="02040503050406030204" pitchFamily="18" charset="0"/>
                      </a:rPr>
                      <m:t>)</m:t>
                    </m:r>
                  </m:oMath>
                </a14:m>
                <a:endParaRPr lang="en-US" sz="2400" dirty="0">
                  <a:solidFill>
                    <a:srgbClr val="C00000"/>
                  </a:solidFill>
                  <a:latin typeface="Candara" panose="020E0502030303020204" pitchFamily="34" charset="0"/>
                </a:endParaRPr>
              </a:p>
            </p:txBody>
          </p:sp>
        </mc:Choice>
        <mc:Fallback xmlns="">
          <p:sp>
            <p:nvSpPr>
              <p:cNvPr id="20" name="TextBox 19">
                <a:extLst>
                  <a:ext uri="{FF2B5EF4-FFF2-40B4-BE49-F238E27FC236}">
                    <a16:creationId xmlns:a16="http://schemas.microsoft.com/office/drawing/2014/main" id="{2823B6AA-B769-04D2-F88B-3346E02771E7}"/>
                  </a:ext>
                </a:extLst>
              </p:cNvPr>
              <p:cNvSpPr txBox="1">
                <a:spLocks noRot="1" noChangeAspect="1" noMove="1" noResize="1" noEditPoints="1" noAdjustHandles="1" noChangeArrowheads="1" noChangeShapeType="1" noTextEdit="1"/>
              </p:cNvSpPr>
              <p:nvPr/>
            </p:nvSpPr>
            <p:spPr>
              <a:xfrm>
                <a:off x="8393875" y="3551618"/>
                <a:ext cx="3798125" cy="398955"/>
              </a:xfrm>
              <a:prstGeom prst="rect">
                <a:avLst/>
              </a:prstGeom>
              <a:blipFill>
                <a:blip r:embed="rId11"/>
                <a:stretch>
                  <a:fillRect t="-18182" b="-36364"/>
                </a:stretch>
              </a:blipFill>
            </p:spPr>
            <p:txBody>
              <a:bodyPr/>
              <a:lstStyle/>
              <a:p>
                <a:r>
                  <a:rPr lang="en-US">
                    <a:noFill/>
                  </a:rPr>
                  <a:t> </a:t>
                </a:r>
              </a:p>
            </p:txBody>
          </p:sp>
        </mc:Fallback>
      </mc:AlternateContent>
      <p:grpSp>
        <p:nvGrpSpPr>
          <p:cNvPr id="21" name="Group 20">
            <a:extLst>
              <a:ext uri="{FF2B5EF4-FFF2-40B4-BE49-F238E27FC236}">
                <a16:creationId xmlns:a16="http://schemas.microsoft.com/office/drawing/2014/main" id="{EAF49CD1-237C-7A6E-1DE6-44FD35BD8B02}"/>
              </a:ext>
            </a:extLst>
          </p:cNvPr>
          <p:cNvGrpSpPr/>
          <p:nvPr/>
        </p:nvGrpSpPr>
        <p:grpSpPr>
          <a:xfrm>
            <a:off x="838200" y="4387601"/>
            <a:ext cx="2278444" cy="2237308"/>
            <a:chOff x="838200" y="4387601"/>
            <a:chExt cx="2278444" cy="2237308"/>
          </a:xfrm>
        </p:grpSpPr>
        <p:pic>
          <p:nvPicPr>
            <p:cNvPr id="22" name="Graphic 21" descr="Store with solid fill">
              <a:extLst>
                <a:ext uri="{FF2B5EF4-FFF2-40B4-BE49-F238E27FC236}">
                  <a16:creationId xmlns:a16="http://schemas.microsoft.com/office/drawing/2014/main" id="{DA291AD1-0880-ED14-56B8-948903E8DA34}"/>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73851" y="4990072"/>
              <a:ext cx="1634837" cy="1634837"/>
            </a:xfrm>
            <a:prstGeom prst="rect">
              <a:avLst/>
            </a:prstGeom>
          </p:spPr>
        </p:pic>
        <p:sp>
          <p:nvSpPr>
            <p:cNvPr id="23" name="TextBox 22">
              <a:extLst>
                <a:ext uri="{FF2B5EF4-FFF2-40B4-BE49-F238E27FC236}">
                  <a16:creationId xmlns:a16="http://schemas.microsoft.com/office/drawing/2014/main" id="{EB81DE5F-AFD6-EF59-B5C3-AFE37EDF0CAC}"/>
                </a:ext>
              </a:extLst>
            </p:cNvPr>
            <p:cNvSpPr txBox="1"/>
            <p:nvPr/>
          </p:nvSpPr>
          <p:spPr>
            <a:xfrm>
              <a:off x="1293188" y="4387601"/>
              <a:ext cx="1196161" cy="461665"/>
            </a:xfrm>
            <a:prstGeom prst="rect">
              <a:avLst/>
            </a:prstGeom>
            <a:noFill/>
          </p:spPr>
          <p:txBody>
            <a:bodyPr wrap="none" rtlCol="0">
              <a:spAutoFit/>
            </a:bodyPr>
            <a:lstStyle/>
            <a:p>
              <a:r>
                <a:rPr lang="en-US" sz="2400" b="1" dirty="0">
                  <a:latin typeface="Candara" panose="020E0502030303020204" pitchFamily="34" charset="0"/>
                </a:rPr>
                <a:t>Verifier</a:t>
              </a:r>
            </a:p>
          </p:txBody>
        </p:sp>
        <p:sp>
          <p:nvSpPr>
            <p:cNvPr id="24" name="TextBox 23">
              <a:extLst>
                <a:ext uri="{FF2B5EF4-FFF2-40B4-BE49-F238E27FC236}">
                  <a16:creationId xmlns:a16="http://schemas.microsoft.com/office/drawing/2014/main" id="{74451148-0F42-9472-F29A-BCA369ABE358}"/>
                </a:ext>
              </a:extLst>
            </p:cNvPr>
            <p:cNvSpPr txBox="1"/>
            <p:nvPr/>
          </p:nvSpPr>
          <p:spPr>
            <a:xfrm>
              <a:off x="838200" y="4837659"/>
              <a:ext cx="2278444" cy="369332"/>
            </a:xfrm>
            <a:prstGeom prst="rect">
              <a:avLst/>
            </a:prstGeom>
            <a:noFill/>
          </p:spPr>
          <p:txBody>
            <a:bodyPr wrap="none" rtlCol="0">
              <a:spAutoFit/>
            </a:bodyPr>
            <a:lstStyle/>
            <a:p>
              <a:r>
                <a:rPr lang="en-US" dirty="0" err="1">
                  <a:latin typeface="Candara" panose="020E0502030303020204" pitchFamily="34" charset="0"/>
                  <a:ea typeface="Cambria Math" panose="02040503050406030204" pitchFamily="18" charset="0"/>
                </a:rPr>
                <a:t>ctxt</a:t>
              </a:r>
              <a:r>
                <a:rPr lang="en-US" dirty="0">
                  <a:latin typeface="Candara" panose="020E0502030303020204" pitchFamily="34" charset="0"/>
                  <a:ea typeface="Cambria Math" panose="02040503050406030204" pitchFamily="18" charset="0"/>
                </a:rPr>
                <a:t> = ‘</a:t>
              </a:r>
              <a:r>
                <a:rPr lang="en-US" dirty="0" err="1">
                  <a:latin typeface="Candara" panose="020E0502030303020204" pitchFamily="34" charset="0"/>
                  <a:ea typeface="Cambria Math" panose="02040503050406030204" pitchFamily="18" charset="0"/>
                </a:rPr>
                <a:t>blahblah.com</a:t>
              </a:r>
              <a:r>
                <a:rPr lang="en-US" dirty="0">
                  <a:latin typeface="Candara" panose="020E0502030303020204" pitchFamily="34" charset="0"/>
                  <a:ea typeface="Cambria Math" panose="02040503050406030204" pitchFamily="18" charset="0"/>
                </a:rPr>
                <a:t>’</a:t>
              </a:r>
            </a:p>
          </p:txBody>
        </p:sp>
      </p:gr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3527D07A-AEBC-64A8-01C4-BD8EF1EEF663}"/>
                  </a:ext>
                </a:extLst>
              </p:cNvPr>
              <p:cNvSpPr txBox="1"/>
              <p:nvPr/>
            </p:nvSpPr>
            <p:spPr>
              <a:xfrm>
                <a:off x="4763000" y="5519030"/>
                <a:ext cx="25327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2400" b="0" i="1" smtClean="0">
                          <a:solidFill>
                            <a:srgbClr val="C00000"/>
                          </a:solidFill>
                          <a:latin typeface="Cambria Math" panose="02040503050406030204" pitchFamily="18" charset="0"/>
                        </a:rPr>
                        <m:t>π</m:t>
                      </m:r>
                    </m:oMath>
                  </m:oMathPara>
                </a14:m>
                <a:endParaRPr lang="en-US" sz="2400" dirty="0">
                  <a:solidFill>
                    <a:srgbClr val="C00000"/>
                  </a:solidFill>
                  <a:latin typeface="Candara" panose="020E0502030303020204" pitchFamily="34" charset="0"/>
                </a:endParaRPr>
              </a:p>
            </p:txBody>
          </p:sp>
        </mc:Choice>
        <mc:Fallback xmlns="">
          <p:sp>
            <p:nvSpPr>
              <p:cNvPr id="27" name="TextBox 26">
                <a:extLst>
                  <a:ext uri="{FF2B5EF4-FFF2-40B4-BE49-F238E27FC236}">
                    <a16:creationId xmlns:a16="http://schemas.microsoft.com/office/drawing/2014/main" id="{3527D07A-AEBC-64A8-01C4-BD8EF1EEF663}"/>
                  </a:ext>
                </a:extLst>
              </p:cNvPr>
              <p:cNvSpPr txBox="1">
                <a:spLocks noRot="1" noChangeAspect="1" noMove="1" noResize="1" noEditPoints="1" noAdjustHandles="1" noChangeArrowheads="1" noChangeShapeType="1" noTextEdit="1"/>
              </p:cNvSpPr>
              <p:nvPr/>
            </p:nvSpPr>
            <p:spPr>
              <a:xfrm>
                <a:off x="4763000" y="5519030"/>
                <a:ext cx="253274" cy="369332"/>
              </a:xfrm>
              <a:prstGeom prst="rect">
                <a:avLst/>
              </a:prstGeom>
              <a:blipFill>
                <a:blip r:embed="rId14"/>
                <a:stretch>
                  <a:fillRect l="-9091" r="-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DA369972-31ED-F361-B76E-BB54C8E95180}"/>
                  </a:ext>
                </a:extLst>
              </p:cNvPr>
              <p:cNvSpPr txBox="1"/>
              <p:nvPr/>
            </p:nvSpPr>
            <p:spPr>
              <a:xfrm>
                <a:off x="3733423" y="4925430"/>
                <a:ext cx="231242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𝑠𝑛</m:t>
                      </m:r>
                      <m:r>
                        <a:rPr lang="en-US" sz="2400" b="0" i="1" smtClean="0">
                          <a:solidFill>
                            <a:srgbClr val="C00000"/>
                          </a:solidFill>
                          <a:latin typeface="Cambria Math" panose="02040503050406030204" pitchFamily="18" charset="0"/>
                        </a:rPr>
                        <m:t>←</m:t>
                      </m:r>
                      <m:r>
                        <a:rPr lang="en-US" sz="2400" b="0" i="1" smtClean="0">
                          <a:solidFill>
                            <a:srgbClr val="C00000"/>
                          </a:solidFill>
                          <a:latin typeface="Cambria Math" panose="02040503050406030204" pitchFamily="18" charset="0"/>
                        </a:rPr>
                        <m:t>𝑓</m:t>
                      </m:r>
                      <m:r>
                        <a:rPr lang="en-US" sz="2400" b="0" i="1" smtClean="0">
                          <a:solidFill>
                            <a:srgbClr val="C00000"/>
                          </a:solidFill>
                          <a:latin typeface="Cambria Math" panose="02040503050406030204" pitchFamily="18" charset="0"/>
                        </a:rPr>
                        <m:t>(</m:t>
                      </m:r>
                      <m:r>
                        <m:rPr>
                          <m:sty m:val="p"/>
                        </m:rPr>
                        <a:rPr lang="en-US" sz="2400" b="0" i="1" smtClean="0">
                          <a:solidFill>
                            <a:srgbClr val="C00000"/>
                          </a:solidFill>
                          <a:latin typeface="Cambria Math" panose="02040503050406030204" pitchFamily="18" charset="0"/>
                        </a:rPr>
                        <m:t>ctxt</m:t>
                      </m:r>
                      <m:r>
                        <a:rPr lang="en-US" sz="2400" b="0" i="1" smtClean="0">
                          <a:solidFill>
                            <a:srgbClr val="C00000"/>
                          </a:solidFill>
                          <a:latin typeface="Cambria Math" panose="02040503050406030204" pitchFamily="18" charset="0"/>
                        </a:rPr>
                        <m:t>||</m:t>
                      </m:r>
                      <m:r>
                        <m:rPr>
                          <m:sty m:val="p"/>
                        </m:rPr>
                        <a:rPr lang="en-US" sz="2400" b="0" i="1" smtClean="0">
                          <a:solidFill>
                            <a:srgbClr val="C00000"/>
                          </a:solidFill>
                          <a:latin typeface="Cambria Math" panose="02040503050406030204" pitchFamily="18" charset="0"/>
                        </a:rPr>
                        <m:t>ctr</m:t>
                      </m:r>
                      <m:r>
                        <a:rPr lang="en-US" sz="2400" b="0" i="1" smtClean="0">
                          <a:solidFill>
                            <a:srgbClr val="C00000"/>
                          </a:solidFill>
                          <a:latin typeface="Cambria Math" panose="02040503050406030204" pitchFamily="18" charset="0"/>
                        </a:rPr>
                        <m:t>)</m:t>
                      </m:r>
                    </m:oMath>
                  </m:oMathPara>
                </a14:m>
                <a:endParaRPr lang="en-US" sz="2400" dirty="0">
                  <a:solidFill>
                    <a:srgbClr val="C00000"/>
                  </a:solidFill>
                  <a:latin typeface="Candara" panose="020E0502030303020204" pitchFamily="34" charset="0"/>
                </a:endParaRPr>
              </a:p>
            </p:txBody>
          </p:sp>
        </mc:Choice>
        <mc:Fallback xmlns="">
          <p:sp>
            <p:nvSpPr>
              <p:cNvPr id="32" name="TextBox 31">
                <a:extLst>
                  <a:ext uri="{FF2B5EF4-FFF2-40B4-BE49-F238E27FC236}">
                    <a16:creationId xmlns:a16="http://schemas.microsoft.com/office/drawing/2014/main" id="{DA369972-31ED-F361-B76E-BB54C8E95180}"/>
                  </a:ext>
                </a:extLst>
              </p:cNvPr>
              <p:cNvSpPr txBox="1">
                <a:spLocks noRot="1" noChangeAspect="1" noMove="1" noResize="1" noEditPoints="1" noAdjustHandles="1" noChangeArrowheads="1" noChangeShapeType="1" noTextEdit="1"/>
              </p:cNvSpPr>
              <p:nvPr/>
            </p:nvSpPr>
            <p:spPr>
              <a:xfrm>
                <a:off x="3733423" y="4925430"/>
                <a:ext cx="2312428" cy="369332"/>
              </a:xfrm>
              <a:prstGeom prst="rect">
                <a:avLst/>
              </a:prstGeom>
              <a:blipFill>
                <a:blip r:embed="rId15"/>
                <a:stretch>
                  <a:fillRect l="-1087" r="-3804" b="-322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E3F0D584-0242-9BFA-E02C-571778C150E1}"/>
                  </a:ext>
                </a:extLst>
              </p:cNvPr>
              <p:cNvSpPr txBox="1"/>
              <p:nvPr/>
            </p:nvSpPr>
            <p:spPr>
              <a:xfrm>
                <a:off x="7252787" y="1728645"/>
                <a:ext cx="2390532" cy="830997"/>
              </a:xfrm>
              <a:prstGeom prst="rect">
                <a:avLst/>
              </a:prstGeom>
              <a:noFill/>
            </p:spPr>
            <p:txBody>
              <a:bodyPr wrap="square" rtlCol="0">
                <a:spAutoFit/>
              </a:bodyPr>
              <a:lstStyle/>
              <a:p>
                <a:r>
                  <a:rPr lang="en-US" sz="2400" dirty="0">
                    <a:solidFill>
                      <a:srgbClr val="C00000"/>
                    </a:solidFill>
                  </a:rPr>
                  <a:t>Sample degree-</a:t>
                </a:r>
                <a14:m>
                  <m:oMath xmlns:m="http://schemas.openxmlformats.org/officeDocument/2006/math">
                    <m:r>
                      <a:rPr lang="en-US" sz="2400" i="1" dirty="0" smtClean="0">
                        <a:solidFill>
                          <a:srgbClr val="C00000"/>
                        </a:solidFill>
                        <a:latin typeface="Cambria Math" panose="02040503050406030204" pitchFamily="18" charset="0"/>
                      </a:rPr>
                      <m:t>𝑘</m:t>
                    </m:r>
                  </m:oMath>
                </a14:m>
                <a:r>
                  <a:rPr lang="en-US" sz="2400" dirty="0">
                    <a:solidFill>
                      <a:srgbClr val="C00000"/>
                    </a:solidFill>
                  </a:rPr>
                  <a:t> polynomial </a:t>
                </a:r>
                <a14:m>
                  <m:oMath xmlns:m="http://schemas.openxmlformats.org/officeDocument/2006/math">
                    <m:r>
                      <a:rPr lang="en-US" sz="2400" i="1" dirty="0" smtClean="0">
                        <a:solidFill>
                          <a:srgbClr val="C00000"/>
                        </a:solidFill>
                        <a:latin typeface="Cambria Math" panose="02040503050406030204" pitchFamily="18" charset="0"/>
                      </a:rPr>
                      <m:t>𝑓</m:t>
                    </m:r>
                  </m:oMath>
                </a14:m>
                <a:endParaRPr lang="en-US" sz="2400" dirty="0">
                  <a:solidFill>
                    <a:srgbClr val="C00000"/>
                  </a:solidFill>
                </a:endParaRPr>
              </a:p>
            </p:txBody>
          </p:sp>
        </mc:Choice>
        <mc:Fallback xmlns="">
          <p:sp>
            <p:nvSpPr>
              <p:cNvPr id="33" name="TextBox 32">
                <a:extLst>
                  <a:ext uri="{FF2B5EF4-FFF2-40B4-BE49-F238E27FC236}">
                    <a16:creationId xmlns:a16="http://schemas.microsoft.com/office/drawing/2014/main" id="{E3F0D584-0242-9BFA-E02C-571778C150E1}"/>
                  </a:ext>
                </a:extLst>
              </p:cNvPr>
              <p:cNvSpPr txBox="1">
                <a:spLocks noRot="1" noChangeAspect="1" noMove="1" noResize="1" noEditPoints="1" noAdjustHandles="1" noChangeArrowheads="1" noChangeShapeType="1" noTextEdit="1"/>
              </p:cNvSpPr>
              <p:nvPr/>
            </p:nvSpPr>
            <p:spPr>
              <a:xfrm>
                <a:off x="7252787" y="1728645"/>
                <a:ext cx="2390532" cy="830997"/>
              </a:xfrm>
              <a:prstGeom prst="rect">
                <a:avLst/>
              </a:prstGeom>
              <a:blipFill>
                <a:blip r:embed="rId16"/>
                <a:stretch>
                  <a:fillRect l="-4233" t="-4545" b="-151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FE3D0194-E49E-8644-BADD-E51377725653}"/>
                  </a:ext>
                </a:extLst>
              </p:cNvPr>
              <p:cNvSpPr txBox="1"/>
              <p:nvPr/>
            </p:nvSpPr>
            <p:spPr>
              <a:xfrm>
                <a:off x="3876389" y="1832674"/>
                <a:ext cx="3273319" cy="4912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a:solidFill>
                            <a:srgbClr val="C00000"/>
                          </a:solidFill>
                          <a:latin typeface="Cambria Math" panose="02040503050406030204" pitchFamily="18" charset="0"/>
                        </a:rPr>
                        <m:t>𝑝</m:t>
                      </m:r>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𝑘</m:t>
                          </m:r>
                        </m:e>
                        <m:sub>
                          <m:r>
                            <a:rPr lang="en-US" sz="2400" i="1">
                              <a:solidFill>
                                <a:srgbClr val="C00000"/>
                              </a:solidFill>
                              <a:latin typeface="Cambria Math" panose="02040503050406030204" pitchFamily="18" charset="0"/>
                            </a:rPr>
                            <m:t>𝑈</m:t>
                          </m:r>
                        </m:sub>
                      </m:sSub>
                      <m:r>
                        <a:rPr lang="en-US" sz="2400" b="0" i="1" smtClean="0">
                          <a:solidFill>
                            <a:srgbClr val="C00000"/>
                          </a:solidFill>
                          <a:latin typeface="Cambria Math" panose="02040503050406030204" pitchFamily="18" charset="0"/>
                        </a:rPr>
                        <m:t>,</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𝐶</m:t>
                          </m:r>
                        </m:e>
                        <m:sub>
                          <m:r>
                            <a:rPr lang="en-US" sz="2400" b="0" i="1" smtClean="0">
                              <a:solidFill>
                                <a:srgbClr val="C00000"/>
                              </a:solidFill>
                              <a:latin typeface="Cambria Math" panose="02040503050406030204" pitchFamily="18" charset="0"/>
                            </a:rPr>
                            <m:t>𝑓</m:t>
                          </m:r>
                        </m:sub>
                      </m:sSub>
                      <m:r>
                        <a:rPr lang="en-US" sz="2400" b="0" i="1" smtClean="0">
                          <a:solidFill>
                            <a:srgbClr val="C00000"/>
                          </a:solidFill>
                          <a:latin typeface="Cambria Math" panose="02040503050406030204" pitchFamily="18" charset="0"/>
                        </a:rPr>
                        <m:t>←</m:t>
                      </m:r>
                      <m:r>
                        <m:rPr>
                          <m:sty m:val="p"/>
                        </m:rPr>
                        <a:rPr lang="en-US" sz="2400" b="0" i="1" smtClean="0">
                          <a:solidFill>
                            <a:srgbClr val="C00000"/>
                          </a:solidFill>
                          <a:latin typeface="Cambria Math" panose="02040503050406030204" pitchFamily="18" charset="0"/>
                        </a:rPr>
                        <m:t>KZG</m:t>
                      </m:r>
                      <m:r>
                        <a:rPr lang="en-US" sz="2400" b="0" i="1" smtClean="0">
                          <a:solidFill>
                            <a:srgbClr val="C00000"/>
                          </a:solidFill>
                          <a:latin typeface="Cambria Math" panose="02040503050406030204" pitchFamily="18" charset="0"/>
                        </a:rPr>
                        <m:t>.</m:t>
                      </m:r>
                      <m:r>
                        <m:rPr>
                          <m:sty m:val="p"/>
                        </m:rPr>
                        <a:rPr lang="en-US" sz="2400" b="0" i="1" smtClean="0">
                          <a:solidFill>
                            <a:srgbClr val="C00000"/>
                          </a:solidFill>
                          <a:latin typeface="Cambria Math" panose="02040503050406030204" pitchFamily="18" charset="0"/>
                        </a:rPr>
                        <m:t>Com</m:t>
                      </m:r>
                      <m:r>
                        <a:rPr lang="en-US" sz="2400" b="0" i="1" smtClean="0">
                          <a:solidFill>
                            <a:srgbClr val="C00000"/>
                          </a:solidFill>
                          <a:latin typeface="Cambria Math" panose="02040503050406030204" pitchFamily="18" charset="0"/>
                        </a:rPr>
                        <m:t>(</m:t>
                      </m:r>
                      <m:r>
                        <a:rPr lang="en-US" sz="2400" b="0" i="1" smtClean="0">
                          <a:solidFill>
                            <a:srgbClr val="C00000"/>
                          </a:solidFill>
                          <a:latin typeface="Cambria Math" panose="02040503050406030204" pitchFamily="18" charset="0"/>
                        </a:rPr>
                        <m:t>𝑓</m:t>
                      </m:r>
                      <m:r>
                        <a:rPr lang="en-US" sz="2400" b="0" i="1" smtClean="0">
                          <a:solidFill>
                            <a:srgbClr val="C00000"/>
                          </a:solidFill>
                          <a:latin typeface="Cambria Math" panose="02040503050406030204" pitchFamily="18" charset="0"/>
                        </a:rPr>
                        <m:t>)</m:t>
                      </m:r>
                    </m:oMath>
                  </m:oMathPara>
                </a14:m>
                <a:endParaRPr lang="en-US" sz="2400" dirty="0"/>
              </a:p>
            </p:txBody>
          </p:sp>
        </mc:Choice>
        <mc:Fallback xmlns="">
          <p:sp>
            <p:nvSpPr>
              <p:cNvPr id="28" name="TextBox 27">
                <a:extLst>
                  <a:ext uri="{FF2B5EF4-FFF2-40B4-BE49-F238E27FC236}">
                    <a16:creationId xmlns:a16="http://schemas.microsoft.com/office/drawing/2014/main" id="{FE3D0194-E49E-8644-BADD-E51377725653}"/>
                  </a:ext>
                </a:extLst>
              </p:cNvPr>
              <p:cNvSpPr txBox="1">
                <a:spLocks noRot="1" noChangeAspect="1" noMove="1" noResize="1" noEditPoints="1" noAdjustHandles="1" noChangeArrowheads="1" noChangeShapeType="1" noTextEdit="1"/>
              </p:cNvSpPr>
              <p:nvPr/>
            </p:nvSpPr>
            <p:spPr>
              <a:xfrm>
                <a:off x="3876389" y="1832674"/>
                <a:ext cx="3273319" cy="491288"/>
              </a:xfrm>
              <a:prstGeom prst="rect">
                <a:avLst/>
              </a:prstGeom>
              <a:blipFill>
                <a:blip r:embed="rId17"/>
                <a:stretch>
                  <a:fillRect r="-386" b="-1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6507F4D9-873F-4271-E2BE-51ECFB239F35}"/>
                  </a:ext>
                </a:extLst>
              </p:cNvPr>
              <p:cNvSpPr txBox="1"/>
              <p:nvPr/>
            </p:nvSpPr>
            <p:spPr>
              <a:xfrm>
                <a:off x="3362490" y="2887524"/>
                <a:ext cx="4295468" cy="398955"/>
              </a:xfrm>
              <a:prstGeom prst="rect">
                <a:avLst/>
              </a:prstGeom>
              <a:noFill/>
            </p:spPr>
            <p:txBody>
              <a:bodyPr wrap="square" lIns="0" tIns="0" rIns="0" bIns="0" rtlCol="0">
                <a:spAutoFit/>
              </a:bodyPr>
              <a:lstStyle/>
              <a:p>
                <a:pPr algn="ctr"/>
                <a14:m>
                  <m:oMath xmlns:m="http://schemas.openxmlformats.org/officeDocument/2006/math">
                    <m:r>
                      <a:rPr lang="en-US" sz="2400" b="0" i="1" smtClean="0">
                        <a:solidFill>
                          <a:srgbClr val="C00000"/>
                        </a:solidFill>
                        <a:latin typeface="Cambria Math" panose="02040503050406030204" pitchFamily="18" charset="0"/>
                      </a:rPr>
                      <m:t>𝜎</m:t>
                    </m:r>
                    <m:r>
                      <a:rPr lang="en-US" sz="2400" b="0" i="1" smtClean="0">
                        <a:solidFill>
                          <a:srgbClr val="C00000"/>
                        </a:solidFill>
                        <a:latin typeface="Cambria Math" panose="02040503050406030204" pitchFamily="18" charset="0"/>
                      </a:rPr>
                      <m:t>←</m:t>
                    </m:r>
                    <m:r>
                      <m:rPr>
                        <m:sty m:val="p"/>
                      </m:rPr>
                      <a:rPr lang="en-US" sz="2400" b="0" i="1" smtClean="0">
                        <a:solidFill>
                          <a:srgbClr val="C00000"/>
                        </a:solidFill>
                        <a:latin typeface="Cambria Math" panose="02040503050406030204" pitchFamily="18" charset="0"/>
                      </a:rPr>
                      <m:t>SPS</m:t>
                    </m:r>
                    <m:r>
                      <a:rPr lang="en-US" sz="2400" b="0" i="1" smtClean="0">
                        <a:solidFill>
                          <a:srgbClr val="C00000"/>
                        </a:solidFill>
                        <a:latin typeface="Cambria Math" panose="02040503050406030204" pitchFamily="18" charset="0"/>
                      </a:rPr>
                      <m:t>.</m:t>
                    </m:r>
                    <m:r>
                      <m:rPr>
                        <m:sty m:val="p"/>
                      </m:rPr>
                      <a:rPr lang="en-US" sz="2400" b="0" i="0" smtClean="0">
                        <a:solidFill>
                          <a:srgbClr val="C00000"/>
                        </a:solidFill>
                        <a:latin typeface="Cambria Math" panose="02040503050406030204" pitchFamily="18" charset="0"/>
                      </a:rPr>
                      <m:t>Sign</m:t>
                    </m:r>
                    <m:r>
                      <a:rPr lang="en-US" sz="2400" b="0" i="0" smtClean="0">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𝑠</m:t>
                    </m:r>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𝑘</m:t>
                        </m:r>
                      </m:e>
                      <m:sub>
                        <m:r>
                          <a:rPr lang="en-US" sz="2400" i="1">
                            <a:solidFill>
                              <a:srgbClr val="C00000"/>
                            </a:solidFill>
                            <a:latin typeface="Cambria Math" panose="02040503050406030204" pitchFamily="18" charset="0"/>
                          </a:rPr>
                          <m:t>𝐼</m:t>
                        </m:r>
                      </m:sub>
                    </m:sSub>
                  </m:oMath>
                </a14:m>
                <a:r>
                  <a:rPr lang="en-US" sz="2400" b="0" dirty="0">
                    <a:solidFill>
                      <a:srgbClr val="C00000"/>
                    </a:solidFill>
                  </a:rPr>
                  <a:t>,</a:t>
                </a:r>
                <a14:m>
                  <m:oMath xmlns:m="http://schemas.openxmlformats.org/officeDocument/2006/math">
                    <m:r>
                      <a:rPr lang="en-US" sz="2400" b="0" i="0" smtClean="0">
                        <a:solidFill>
                          <a:srgbClr val="C00000"/>
                        </a:solidFill>
                        <a:latin typeface="Cambria Math" panose="02040503050406030204" pitchFamily="18" charset="0"/>
                      </a:rPr>
                      <m:t>(</m:t>
                    </m:r>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𝐶</m:t>
                        </m:r>
                      </m:e>
                      <m:sub>
                        <m:r>
                          <a:rPr lang="en-US" sz="2400" b="0" i="1" smtClean="0">
                            <a:solidFill>
                              <a:srgbClr val="C00000"/>
                            </a:solidFill>
                            <a:latin typeface="Cambria Math" panose="02040503050406030204" pitchFamily="18" charset="0"/>
                          </a:rPr>
                          <m:t>𝑓</m:t>
                        </m:r>
                      </m:sub>
                    </m:sSub>
                    <m:r>
                      <a:rPr lang="en-US" sz="2400" b="0" i="1" smtClean="0">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𝑝</m:t>
                    </m:r>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𝑘</m:t>
                        </m:r>
                      </m:e>
                      <m:sub>
                        <m:r>
                          <a:rPr lang="en-US" sz="2400" i="1">
                            <a:solidFill>
                              <a:srgbClr val="C00000"/>
                            </a:solidFill>
                            <a:latin typeface="Cambria Math" panose="02040503050406030204" pitchFamily="18" charset="0"/>
                          </a:rPr>
                          <m:t>𝑈</m:t>
                        </m:r>
                      </m:sub>
                    </m:sSub>
                    <m:r>
                      <a:rPr lang="en-US" sz="2400" b="0" i="1" smtClean="0">
                        <a:solidFill>
                          <a:srgbClr val="C00000"/>
                        </a:solidFill>
                        <a:latin typeface="Cambria Math" panose="02040503050406030204" pitchFamily="18" charset="0"/>
                      </a:rPr>
                      <m:t>))</m:t>
                    </m:r>
                  </m:oMath>
                </a14:m>
                <a:endParaRPr lang="en-US" sz="2400" dirty="0">
                  <a:solidFill>
                    <a:srgbClr val="C00000"/>
                  </a:solidFill>
                  <a:latin typeface="Candara" panose="020E0502030303020204" pitchFamily="34" charset="0"/>
                </a:endParaRPr>
              </a:p>
            </p:txBody>
          </p:sp>
        </mc:Choice>
        <mc:Fallback xmlns="">
          <p:sp>
            <p:nvSpPr>
              <p:cNvPr id="30" name="TextBox 29">
                <a:extLst>
                  <a:ext uri="{FF2B5EF4-FFF2-40B4-BE49-F238E27FC236}">
                    <a16:creationId xmlns:a16="http://schemas.microsoft.com/office/drawing/2014/main" id="{6507F4D9-873F-4271-E2BE-51ECFB239F35}"/>
                  </a:ext>
                </a:extLst>
              </p:cNvPr>
              <p:cNvSpPr txBox="1">
                <a:spLocks noRot="1" noChangeAspect="1" noMove="1" noResize="1" noEditPoints="1" noAdjustHandles="1" noChangeArrowheads="1" noChangeShapeType="1" noTextEdit="1"/>
              </p:cNvSpPr>
              <p:nvPr/>
            </p:nvSpPr>
            <p:spPr>
              <a:xfrm>
                <a:off x="3362490" y="2887524"/>
                <a:ext cx="4295468" cy="398955"/>
              </a:xfrm>
              <a:prstGeom prst="rect">
                <a:avLst/>
              </a:prstGeom>
              <a:blipFill>
                <a:blip r:embed="rId18"/>
                <a:stretch>
                  <a:fillRect t="-21875" b="-40625"/>
                </a:stretch>
              </a:blipFill>
            </p:spPr>
            <p:txBody>
              <a:bodyPr/>
              <a:lstStyle/>
              <a:p>
                <a:r>
                  <a:rPr lang="en-US">
                    <a:noFill/>
                  </a:rPr>
                  <a:t> </a:t>
                </a:r>
              </a:p>
            </p:txBody>
          </p:sp>
        </mc:Fallback>
      </mc:AlternateContent>
      <p:sp>
        <p:nvSpPr>
          <p:cNvPr id="36" name="Rounded Rectangular Callout 35">
            <a:extLst>
              <a:ext uri="{FF2B5EF4-FFF2-40B4-BE49-F238E27FC236}">
                <a16:creationId xmlns:a16="http://schemas.microsoft.com/office/drawing/2014/main" id="{A1A598A0-578F-7432-D3D3-E0B6B8798E1B}"/>
              </a:ext>
            </a:extLst>
          </p:cNvPr>
          <p:cNvSpPr/>
          <p:nvPr/>
        </p:nvSpPr>
        <p:spPr>
          <a:xfrm>
            <a:off x="5195716" y="647282"/>
            <a:ext cx="2759564" cy="830997"/>
          </a:xfrm>
          <a:prstGeom prst="wedgeRoundRectCallou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[KZG’10] Polynomial commitment scheme</a:t>
            </a:r>
          </a:p>
        </p:txBody>
      </p:sp>
      <p:sp>
        <p:nvSpPr>
          <p:cNvPr id="37" name="Rounded Rectangular Callout 36">
            <a:extLst>
              <a:ext uri="{FF2B5EF4-FFF2-40B4-BE49-F238E27FC236}">
                <a16:creationId xmlns:a16="http://schemas.microsoft.com/office/drawing/2014/main" id="{220E7709-5B10-F312-73C1-09E13AF0F1FE}"/>
              </a:ext>
            </a:extLst>
          </p:cNvPr>
          <p:cNvSpPr/>
          <p:nvPr/>
        </p:nvSpPr>
        <p:spPr>
          <a:xfrm>
            <a:off x="1290737" y="272770"/>
            <a:ext cx="3360095" cy="1281049"/>
          </a:xfrm>
          <a:prstGeom prst="wedgeRoundRectCallout">
            <a:avLst>
              <a:gd name="adj1" fmla="val 57588"/>
              <a:gd name="adj2" fmla="val 153847"/>
              <a:gd name="adj3"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Structure-preserving signatures (SPS) signing group elements</a:t>
            </a:r>
          </a:p>
        </p:txBody>
      </p:sp>
      <p:sp>
        <p:nvSpPr>
          <p:cNvPr id="40" name="Rounded Rectangle 39">
            <a:extLst>
              <a:ext uri="{FF2B5EF4-FFF2-40B4-BE49-F238E27FC236}">
                <a16:creationId xmlns:a16="http://schemas.microsoft.com/office/drawing/2014/main" id="{CAE10725-F478-8C6D-B9CC-9F906FCF3FED}"/>
              </a:ext>
            </a:extLst>
          </p:cNvPr>
          <p:cNvSpPr/>
          <p:nvPr/>
        </p:nvSpPr>
        <p:spPr>
          <a:xfrm>
            <a:off x="10137233" y="5553480"/>
            <a:ext cx="1129238" cy="669764"/>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ounded Rectangle 41">
            <a:extLst>
              <a:ext uri="{FF2B5EF4-FFF2-40B4-BE49-F238E27FC236}">
                <a16:creationId xmlns:a16="http://schemas.microsoft.com/office/drawing/2014/main" id="{BF22E63A-2112-7AE8-E154-6A503C32FF37}"/>
              </a:ext>
            </a:extLst>
          </p:cNvPr>
          <p:cNvSpPr/>
          <p:nvPr/>
        </p:nvSpPr>
        <p:spPr>
          <a:xfrm>
            <a:off x="3522463" y="4837607"/>
            <a:ext cx="2689478" cy="681417"/>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BC64226-F348-A348-1EB8-B7B33167A341}"/>
                  </a:ext>
                </a:extLst>
              </p:cNvPr>
              <p:cNvSpPr txBox="1"/>
              <p:nvPr/>
            </p:nvSpPr>
            <p:spPr>
              <a:xfrm>
                <a:off x="4937923" y="1478279"/>
                <a:ext cx="4378421" cy="1532334"/>
              </a:xfrm>
              <a:prstGeom prst="roundRect">
                <a:avLst/>
              </a:prstGeom>
              <a:solidFill>
                <a:srgbClr val="F3E7E7"/>
              </a:solidFill>
              <a:ln w="38100">
                <a:solidFill>
                  <a:srgbClr val="C00000"/>
                </a:solidFill>
              </a:ln>
            </p:spPr>
            <p:txBody>
              <a:bodyPr wrap="square">
                <a:spAutoFit/>
              </a:bodyPr>
              <a:lstStyle/>
              <a:p>
                <a:r>
                  <a:rPr lang="en-US" sz="2800" b="1" dirty="0">
                    <a:solidFill>
                      <a:srgbClr val="C00000"/>
                    </a:solidFill>
                    <a:latin typeface="Candara" panose="020E0502030303020204" pitchFamily="34" charset="0"/>
                  </a:rPr>
                  <a:t>Downside:</a:t>
                </a:r>
                <a:r>
                  <a:rPr lang="en-US" sz="2800" dirty="0">
                    <a:latin typeface="Candara" panose="020E0502030303020204" pitchFamily="34" charset="0"/>
                  </a:rPr>
                  <a:t> Running time </a:t>
                </a:r>
                <a:r>
                  <a:rPr lang="en-US" sz="2800" u="sng" dirty="0">
                    <a:solidFill>
                      <a:srgbClr val="C00000"/>
                    </a:solidFill>
                    <a:latin typeface="Candara" panose="020E0502030303020204" pitchFamily="34" charset="0"/>
                  </a:rPr>
                  <a:t>scales linearly with </a:t>
                </a:r>
                <a14:m>
                  <m:oMath xmlns:m="http://schemas.openxmlformats.org/officeDocument/2006/math">
                    <m:r>
                      <a:rPr lang="en-US" sz="2800" i="1" u="sng" dirty="0">
                        <a:solidFill>
                          <a:srgbClr val="C00000"/>
                        </a:solidFill>
                        <a:latin typeface="Cambria Math" panose="02040503050406030204" pitchFamily="18" charset="0"/>
                      </a:rPr>
                      <m:t>𝑘</m:t>
                    </m:r>
                  </m:oMath>
                </a14:m>
                <a:r>
                  <a:rPr lang="en-US" sz="2800" dirty="0"/>
                  <a:t> </a:t>
                </a:r>
                <a:r>
                  <a:rPr lang="en-US" sz="2800" b="1" dirty="0"/>
                  <a:t>per each token generation</a:t>
                </a:r>
                <a:r>
                  <a:rPr lang="en-US" sz="2800" dirty="0"/>
                  <a:t>!</a:t>
                </a:r>
              </a:p>
            </p:txBody>
          </p:sp>
        </mc:Choice>
        <mc:Fallback xmlns="">
          <p:sp>
            <p:nvSpPr>
              <p:cNvPr id="3" name="TextBox 2">
                <a:extLst>
                  <a:ext uri="{FF2B5EF4-FFF2-40B4-BE49-F238E27FC236}">
                    <a16:creationId xmlns:a16="http://schemas.microsoft.com/office/drawing/2014/main" id="{8BC64226-F348-A348-1EB8-B7B33167A341}"/>
                  </a:ext>
                </a:extLst>
              </p:cNvPr>
              <p:cNvSpPr txBox="1">
                <a:spLocks noRot="1" noChangeAspect="1" noMove="1" noResize="1" noEditPoints="1" noAdjustHandles="1" noChangeArrowheads="1" noChangeShapeType="1" noTextEdit="1"/>
              </p:cNvSpPr>
              <p:nvPr/>
            </p:nvSpPr>
            <p:spPr>
              <a:xfrm>
                <a:off x="4937923" y="1478279"/>
                <a:ext cx="4378421" cy="1532334"/>
              </a:xfrm>
              <a:prstGeom prst="roundRect">
                <a:avLst/>
              </a:prstGeom>
              <a:blipFill>
                <a:blip r:embed="rId19"/>
                <a:stretch>
                  <a:fillRect l="-862" b="-4000"/>
                </a:stretch>
              </a:blipFill>
              <a:ln w="38100">
                <a:solidFill>
                  <a:srgbClr val="C00000"/>
                </a:solidFill>
              </a:ln>
            </p:spPr>
            <p:txBody>
              <a:bodyPr/>
              <a:lstStyle/>
              <a:p>
                <a:r>
                  <a:rPr lang="en-US">
                    <a:noFill/>
                  </a:rPr>
                  <a:t> </a:t>
                </a:r>
              </a:p>
            </p:txBody>
          </p:sp>
        </mc:Fallback>
      </mc:AlternateContent>
      <p:cxnSp>
        <p:nvCxnSpPr>
          <p:cNvPr id="4" name="Straight Arrow Connector 3">
            <a:extLst>
              <a:ext uri="{FF2B5EF4-FFF2-40B4-BE49-F238E27FC236}">
                <a16:creationId xmlns:a16="http://schemas.microsoft.com/office/drawing/2014/main" id="{0B940D23-1E73-5834-3156-D6AB48A598E4}"/>
              </a:ext>
            </a:extLst>
          </p:cNvPr>
          <p:cNvCxnSpPr>
            <a:cxnSpLocks/>
            <a:stCxn id="42" idx="0"/>
            <a:endCxn id="3" idx="2"/>
          </p:cNvCxnSpPr>
          <p:nvPr/>
        </p:nvCxnSpPr>
        <p:spPr>
          <a:xfrm flipV="1">
            <a:off x="4867202" y="3010613"/>
            <a:ext cx="2259932" cy="1826994"/>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624B8542-3E67-FF1F-EDA5-E68560061F17}"/>
              </a:ext>
            </a:extLst>
          </p:cNvPr>
          <p:cNvCxnSpPr>
            <a:cxnSpLocks/>
            <a:stCxn id="40" idx="0"/>
            <a:endCxn id="3" idx="2"/>
          </p:cNvCxnSpPr>
          <p:nvPr/>
        </p:nvCxnSpPr>
        <p:spPr>
          <a:xfrm flipH="1" flipV="1">
            <a:off x="7127134" y="3010613"/>
            <a:ext cx="3574718" cy="2542867"/>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93177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2" grpId="0" animBg="1"/>
      <p:bldP spid="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9BC2F-76B1-6AF1-A188-19C5E499BCAA}"/>
              </a:ext>
            </a:extLst>
          </p:cNvPr>
          <p:cNvSpPr>
            <a:spLocks noGrp="1"/>
          </p:cNvSpPr>
          <p:nvPr>
            <p:ph type="title"/>
          </p:nvPr>
        </p:nvSpPr>
        <p:spPr/>
        <p:txBody>
          <a:bodyPr/>
          <a:lstStyle/>
          <a:p>
            <a:r>
              <a:rPr lang="en-US" dirty="0">
                <a:latin typeface="Candara" panose="020E0502030303020204" pitchFamily="34" charset="0"/>
              </a:rPr>
              <a:t>Our approach at a high-level</a:t>
            </a:r>
          </a:p>
        </p:txBody>
      </p:sp>
      <p:sp>
        <p:nvSpPr>
          <p:cNvPr id="3" name="Content Placeholder 2">
            <a:extLst>
              <a:ext uri="{FF2B5EF4-FFF2-40B4-BE49-F238E27FC236}">
                <a16:creationId xmlns:a16="http://schemas.microsoft.com/office/drawing/2014/main" id="{89663BE6-238E-35F9-24E7-65E8041E4DA7}"/>
              </a:ext>
            </a:extLst>
          </p:cNvPr>
          <p:cNvSpPr>
            <a:spLocks noGrp="1"/>
          </p:cNvSpPr>
          <p:nvPr>
            <p:ph idx="1"/>
          </p:nvPr>
        </p:nvSpPr>
        <p:spPr>
          <a:xfrm>
            <a:off x="838200" y="1642223"/>
            <a:ext cx="10762129" cy="5032375"/>
          </a:xfrm>
        </p:spPr>
        <p:txBody>
          <a:bodyPr>
            <a:normAutofit/>
          </a:bodyPr>
          <a:lstStyle/>
          <a:p>
            <a:pPr>
              <a:lnSpc>
                <a:spcPct val="150000"/>
              </a:lnSpc>
            </a:pPr>
            <a:r>
              <a:rPr lang="en-US" sz="3200" dirty="0">
                <a:latin typeface="Candara" panose="020E0502030303020204" pitchFamily="34" charset="0"/>
              </a:rPr>
              <a:t>Replace a random polynomial with (almost) k-wise independent function with fast evaluation </a:t>
            </a:r>
            <a:r>
              <a:rPr lang="en-US" sz="3200" dirty="0">
                <a:solidFill>
                  <a:srgbClr val="C00000"/>
                </a:solidFill>
                <a:latin typeface="Candara" panose="020E0502030303020204" pitchFamily="34" charset="0"/>
              </a:rPr>
              <a:t>[Pagh-Pagh’08,BHNK’18]</a:t>
            </a:r>
            <a:r>
              <a:rPr lang="en-US" sz="3200" dirty="0">
                <a:latin typeface="Candara" panose="020E0502030303020204" pitchFamily="34" charset="0"/>
              </a:rPr>
              <a:t> </a:t>
            </a:r>
          </a:p>
          <a:p>
            <a:pPr>
              <a:lnSpc>
                <a:spcPct val="150000"/>
              </a:lnSpc>
            </a:pPr>
            <a:r>
              <a:rPr lang="en-US" sz="3200" dirty="0">
                <a:latin typeface="Candara" panose="020E0502030303020204" pitchFamily="34" charset="0"/>
              </a:rPr>
              <a:t>Still commit to function keys with KZG commitments and sign with SPS</a:t>
            </a:r>
          </a:p>
          <a:p>
            <a:pPr lvl="1">
              <a:lnSpc>
                <a:spcPct val="100000"/>
              </a:lnSpc>
            </a:pPr>
            <a:r>
              <a:rPr lang="en-US" sz="2800" dirty="0">
                <a:latin typeface="Candara" panose="020E0502030303020204" pitchFamily="34" charset="0"/>
              </a:rPr>
              <a:t>Structure of the keys allow some preprocessing of the openings</a:t>
            </a:r>
          </a:p>
        </p:txBody>
      </p:sp>
    </p:spTree>
    <p:extLst>
      <p:ext uri="{BB962C8B-B14F-4D97-AF65-F5344CB8AC3E}">
        <p14:creationId xmlns:p14="http://schemas.microsoft.com/office/powerpoint/2010/main" val="1730903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51EA1-AC78-C555-9863-4F67BFBB0FA7}"/>
              </a:ext>
            </a:extLst>
          </p:cNvPr>
          <p:cNvSpPr>
            <a:spLocks noGrp="1"/>
          </p:cNvSpPr>
          <p:nvPr>
            <p:ph type="title"/>
          </p:nvPr>
        </p:nvSpPr>
        <p:spPr/>
        <p:txBody>
          <a:bodyPr>
            <a:normAutofit/>
          </a:bodyPr>
          <a:lstStyle/>
          <a:p>
            <a:r>
              <a:rPr lang="en-US" sz="4000" dirty="0">
                <a:latin typeface="Candara" panose="020E0502030303020204" pitchFamily="34" charset="0"/>
              </a:rPr>
              <a:t>Statistically Pseudorandom Function with faster evaluation </a:t>
            </a:r>
            <a:r>
              <a:rPr lang="en-US" sz="4000" dirty="0">
                <a:solidFill>
                  <a:srgbClr val="C00000"/>
                </a:solidFill>
                <a:latin typeface="Candara" panose="020E0502030303020204" pitchFamily="34" charset="0"/>
              </a:rPr>
              <a:t>[Pagh-Pagh’08,BHNK’18]</a:t>
            </a:r>
          </a:p>
        </p:txBody>
      </p:sp>
      <p:grpSp>
        <p:nvGrpSpPr>
          <p:cNvPr id="18" name="Group 17">
            <a:extLst>
              <a:ext uri="{FF2B5EF4-FFF2-40B4-BE49-F238E27FC236}">
                <a16:creationId xmlns:a16="http://schemas.microsoft.com/office/drawing/2014/main" id="{5D2197A8-EE57-CF63-DD6F-D45E39AA5D1D}"/>
              </a:ext>
            </a:extLst>
          </p:cNvPr>
          <p:cNvGrpSpPr/>
          <p:nvPr/>
        </p:nvGrpSpPr>
        <p:grpSpPr>
          <a:xfrm>
            <a:off x="281940" y="4284196"/>
            <a:ext cx="2080260" cy="472440"/>
            <a:chOff x="381000" y="4480560"/>
            <a:chExt cx="2080260" cy="472440"/>
          </a:xfrm>
        </p:grpSpPr>
        <p:sp>
          <p:nvSpPr>
            <p:cNvPr id="13" name="Rectangle 12">
              <a:extLst>
                <a:ext uri="{FF2B5EF4-FFF2-40B4-BE49-F238E27FC236}">
                  <a16:creationId xmlns:a16="http://schemas.microsoft.com/office/drawing/2014/main" id="{D7882662-AA09-9DD8-7749-4EFB44549075}"/>
                </a:ext>
              </a:extLst>
            </p:cNvPr>
            <p:cNvSpPr/>
            <p:nvPr/>
          </p:nvSpPr>
          <p:spPr>
            <a:xfrm>
              <a:off x="381000" y="4480560"/>
              <a:ext cx="472440" cy="47244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B8826F9-6488-DE69-7A2E-9CB9A16DB8D7}"/>
                </a:ext>
              </a:extLst>
            </p:cNvPr>
            <p:cNvSpPr/>
            <p:nvPr/>
          </p:nvSpPr>
          <p:spPr>
            <a:xfrm>
              <a:off x="906780" y="4480560"/>
              <a:ext cx="472440" cy="47244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0B528CB-462D-5E9B-99A6-61ADD01A0C59}"/>
                </a:ext>
              </a:extLst>
            </p:cNvPr>
            <p:cNvSpPr/>
            <p:nvPr/>
          </p:nvSpPr>
          <p:spPr>
            <a:xfrm>
              <a:off x="1447800" y="4480560"/>
              <a:ext cx="472440" cy="47244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208044C-26EE-01FC-A032-DAB9F35CA4A0}"/>
                </a:ext>
              </a:extLst>
            </p:cNvPr>
            <p:cNvSpPr/>
            <p:nvPr/>
          </p:nvSpPr>
          <p:spPr>
            <a:xfrm>
              <a:off x="1988820" y="4480560"/>
              <a:ext cx="472440" cy="47244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4FB996DC-7B20-831A-C150-FA8F3A979804}"/>
              </a:ext>
            </a:extLst>
          </p:cNvPr>
          <p:cNvGrpSpPr/>
          <p:nvPr/>
        </p:nvGrpSpPr>
        <p:grpSpPr>
          <a:xfrm>
            <a:off x="3390900" y="4284196"/>
            <a:ext cx="2080260" cy="472440"/>
            <a:chOff x="381000" y="4480560"/>
            <a:chExt cx="2080260" cy="472440"/>
          </a:xfrm>
        </p:grpSpPr>
        <p:sp>
          <p:nvSpPr>
            <p:cNvPr id="20" name="Rectangle 19">
              <a:extLst>
                <a:ext uri="{FF2B5EF4-FFF2-40B4-BE49-F238E27FC236}">
                  <a16:creationId xmlns:a16="http://schemas.microsoft.com/office/drawing/2014/main" id="{8A596238-05D6-FB86-33FF-8BAE07E6F093}"/>
                </a:ext>
              </a:extLst>
            </p:cNvPr>
            <p:cNvSpPr/>
            <p:nvPr/>
          </p:nvSpPr>
          <p:spPr>
            <a:xfrm>
              <a:off x="381000" y="4480560"/>
              <a:ext cx="472440" cy="47244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539A19D-3AB5-9448-1493-70CFFC9CAEE0}"/>
                </a:ext>
              </a:extLst>
            </p:cNvPr>
            <p:cNvSpPr/>
            <p:nvPr/>
          </p:nvSpPr>
          <p:spPr>
            <a:xfrm>
              <a:off x="906780" y="4480560"/>
              <a:ext cx="472440" cy="47244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8B9E854-8869-DE01-4494-71089753BBD4}"/>
                </a:ext>
              </a:extLst>
            </p:cNvPr>
            <p:cNvSpPr/>
            <p:nvPr/>
          </p:nvSpPr>
          <p:spPr>
            <a:xfrm>
              <a:off x="1447800" y="4480560"/>
              <a:ext cx="472440" cy="47244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A9F4452-42FB-0A62-2996-2BDA8165EE78}"/>
                </a:ext>
              </a:extLst>
            </p:cNvPr>
            <p:cNvSpPr/>
            <p:nvPr/>
          </p:nvSpPr>
          <p:spPr>
            <a:xfrm>
              <a:off x="1988820" y="4480560"/>
              <a:ext cx="472440" cy="47244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038377B1-4906-A28A-A6A1-9E04E57CAC43}"/>
                  </a:ext>
                </a:extLst>
              </p:cNvPr>
              <p:cNvSpPr txBox="1"/>
              <p:nvPr/>
            </p:nvSpPr>
            <p:spPr>
              <a:xfrm>
                <a:off x="3615201" y="1641561"/>
                <a:ext cx="159889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𝑖𝑛𝑝𝑢𝑡</m:t>
                      </m:r>
                      <m:r>
                        <a:rPr lang="en-US" sz="2400" b="0" i="1" dirty="0" smtClean="0">
                          <a:latin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𝒟</m:t>
                      </m:r>
                    </m:oMath>
                  </m:oMathPara>
                </a14:m>
                <a:endParaRPr lang="en-US" sz="2400" dirty="0"/>
              </a:p>
            </p:txBody>
          </p:sp>
        </mc:Choice>
        <mc:Fallback xmlns="">
          <p:sp>
            <p:nvSpPr>
              <p:cNvPr id="24" name="TextBox 23">
                <a:extLst>
                  <a:ext uri="{FF2B5EF4-FFF2-40B4-BE49-F238E27FC236}">
                    <a16:creationId xmlns:a16="http://schemas.microsoft.com/office/drawing/2014/main" id="{038377B1-4906-A28A-A6A1-9E04E57CAC43}"/>
                  </a:ext>
                </a:extLst>
              </p:cNvPr>
              <p:cNvSpPr txBox="1">
                <a:spLocks noRot="1" noChangeAspect="1" noMove="1" noResize="1" noEditPoints="1" noAdjustHandles="1" noChangeArrowheads="1" noChangeShapeType="1" noTextEdit="1"/>
              </p:cNvSpPr>
              <p:nvPr/>
            </p:nvSpPr>
            <p:spPr>
              <a:xfrm>
                <a:off x="3615201" y="1641561"/>
                <a:ext cx="1598899" cy="461665"/>
              </a:xfrm>
              <a:prstGeom prst="rect">
                <a:avLst/>
              </a:prstGeom>
              <a:blipFill>
                <a:blip r:embed="rId3"/>
                <a:stretch>
                  <a:fillRect b="-162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84FA8099-BCF4-C78B-477A-2088E2F2B056}"/>
                  </a:ext>
                </a:extLst>
              </p:cNvPr>
              <p:cNvSpPr txBox="1"/>
              <p:nvPr/>
            </p:nvSpPr>
            <p:spPr>
              <a:xfrm>
                <a:off x="3502317" y="6395079"/>
                <a:ext cx="179151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𝑜𝑢𝑡𝑝𝑢𝑡</m:t>
                      </m:r>
                      <m:r>
                        <a:rPr lang="en-US" sz="2400" b="0" i="1" dirty="0" smtClean="0">
                          <a:latin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ℛ</m:t>
                      </m:r>
                    </m:oMath>
                  </m:oMathPara>
                </a14:m>
                <a:endParaRPr lang="en-US" sz="2400" dirty="0"/>
              </a:p>
            </p:txBody>
          </p:sp>
        </mc:Choice>
        <mc:Fallback xmlns="">
          <p:sp>
            <p:nvSpPr>
              <p:cNvPr id="25" name="TextBox 24">
                <a:extLst>
                  <a:ext uri="{FF2B5EF4-FFF2-40B4-BE49-F238E27FC236}">
                    <a16:creationId xmlns:a16="http://schemas.microsoft.com/office/drawing/2014/main" id="{84FA8099-BCF4-C78B-477A-2088E2F2B056}"/>
                  </a:ext>
                </a:extLst>
              </p:cNvPr>
              <p:cNvSpPr txBox="1">
                <a:spLocks noRot="1" noChangeAspect="1" noMove="1" noResize="1" noEditPoints="1" noAdjustHandles="1" noChangeArrowheads="1" noChangeShapeType="1" noTextEdit="1"/>
              </p:cNvSpPr>
              <p:nvPr/>
            </p:nvSpPr>
            <p:spPr>
              <a:xfrm>
                <a:off x="3502317" y="6395079"/>
                <a:ext cx="1791516" cy="461665"/>
              </a:xfrm>
              <a:prstGeom prst="rect">
                <a:avLst/>
              </a:prstGeom>
              <a:blipFill>
                <a:blip r:embed="rId4"/>
                <a:stretch>
                  <a:fillRect b="-13514"/>
                </a:stretch>
              </a:blipFill>
            </p:spPr>
            <p:txBody>
              <a:bodyPr/>
              <a:lstStyle/>
              <a:p>
                <a:r>
                  <a:rPr lang="en-US">
                    <a:noFill/>
                  </a:rPr>
                  <a:t> </a:t>
                </a:r>
              </a:p>
            </p:txBody>
          </p:sp>
        </mc:Fallback>
      </mc:AlternateContent>
      <p:pic>
        <p:nvPicPr>
          <p:cNvPr id="27" name="Graphic 26" descr="Badge Follow with solid fill">
            <a:extLst>
              <a:ext uri="{FF2B5EF4-FFF2-40B4-BE49-F238E27FC236}">
                <a16:creationId xmlns:a16="http://schemas.microsoft.com/office/drawing/2014/main" id="{58198BDC-2920-E874-0412-996D90FFBF0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005423" y="5630826"/>
            <a:ext cx="727252" cy="727252"/>
          </a:xfrm>
          <a:prstGeom prst="rect">
            <a:avLst/>
          </a:prstGeom>
        </p:spPr>
      </p:pic>
      <p:grpSp>
        <p:nvGrpSpPr>
          <p:cNvPr id="30" name="Group 29">
            <a:extLst>
              <a:ext uri="{FF2B5EF4-FFF2-40B4-BE49-F238E27FC236}">
                <a16:creationId xmlns:a16="http://schemas.microsoft.com/office/drawing/2014/main" id="{735E73CE-6403-DCF6-88C6-BF4735E81D45}"/>
              </a:ext>
            </a:extLst>
          </p:cNvPr>
          <p:cNvGrpSpPr/>
          <p:nvPr/>
        </p:nvGrpSpPr>
        <p:grpSpPr>
          <a:xfrm>
            <a:off x="3947160" y="2656339"/>
            <a:ext cx="868680" cy="642742"/>
            <a:chOff x="3947160" y="2656339"/>
            <a:chExt cx="868680" cy="642742"/>
          </a:xfrm>
        </p:grpSpPr>
        <p:sp>
          <p:nvSpPr>
            <p:cNvPr id="8" name="Trapezoid 7">
              <a:extLst>
                <a:ext uri="{FF2B5EF4-FFF2-40B4-BE49-F238E27FC236}">
                  <a16:creationId xmlns:a16="http://schemas.microsoft.com/office/drawing/2014/main" id="{02A66FBD-FC05-719F-FF5B-CFB30037B672}"/>
                </a:ext>
              </a:extLst>
            </p:cNvPr>
            <p:cNvSpPr/>
            <p:nvPr/>
          </p:nvSpPr>
          <p:spPr>
            <a:xfrm flipV="1">
              <a:off x="3947160" y="2656339"/>
              <a:ext cx="868680" cy="642742"/>
            </a:xfrm>
            <a:prstGeom prst="trapezoid">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A105B29-3E83-30E2-CBCA-BEADF8A7BFC2}"/>
                    </a:ext>
                  </a:extLst>
                </p:cNvPr>
                <p:cNvSpPr txBox="1"/>
                <p:nvPr/>
              </p:nvSpPr>
              <p:spPr>
                <a:xfrm>
                  <a:off x="4152900" y="2782458"/>
                  <a:ext cx="516423"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𝑓</m:t>
                            </m:r>
                          </m:e>
                          <m:sub>
                            <m:r>
                              <a:rPr lang="en-US" sz="2400" b="0" i="1" dirty="0" smtClean="0">
                                <a:latin typeface="Cambria Math" panose="02040503050406030204" pitchFamily="18" charset="0"/>
                              </a:rPr>
                              <m:t>2</m:t>
                            </m:r>
                          </m:sub>
                        </m:sSub>
                      </m:oMath>
                    </m:oMathPara>
                  </a14:m>
                  <a:endParaRPr lang="en-US" sz="2400" dirty="0"/>
                </a:p>
              </p:txBody>
            </p:sp>
          </mc:Choice>
          <mc:Fallback xmlns="">
            <p:sp>
              <p:nvSpPr>
                <p:cNvPr id="28" name="TextBox 27">
                  <a:extLst>
                    <a:ext uri="{FF2B5EF4-FFF2-40B4-BE49-F238E27FC236}">
                      <a16:creationId xmlns:a16="http://schemas.microsoft.com/office/drawing/2014/main" id="{7A105B29-3E83-30E2-CBCA-BEADF8A7BFC2}"/>
                    </a:ext>
                  </a:extLst>
                </p:cNvPr>
                <p:cNvSpPr txBox="1">
                  <a:spLocks noRot="1" noChangeAspect="1" noMove="1" noResize="1" noEditPoints="1" noAdjustHandles="1" noChangeArrowheads="1" noChangeShapeType="1" noTextEdit="1"/>
                </p:cNvSpPr>
                <p:nvPr/>
              </p:nvSpPr>
              <p:spPr>
                <a:xfrm>
                  <a:off x="4152900" y="2782458"/>
                  <a:ext cx="516423" cy="461665"/>
                </a:xfrm>
                <a:prstGeom prst="rect">
                  <a:avLst/>
                </a:prstGeom>
                <a:blipFill>
                  <a:blip r:embed="rId7"/>
                  <a:stretch>
                    <a:fillRect l="-2381" b="-18421"/>
                  </a:stretch>
                </a:blipFill>
              </p:spPr>
              <p:txBody>
                <a:bodyPr/>
                <a:lstStyle/>
                <a:p>
                  <a:r>
                    <a:rPr lang="en-US">
                      <a:noFill/>
                    </a:rPr>
                    <a:t> </a:t>
                  </a:r>
                </a:p>
              </p:txBody>
            </p:sp>
          </mc:Fallback>
        </mc:AlternateContent>
      </p:grpSp>
      <p:grpSp>
        <p:nvGrpSpPr>
          <p:cNvPr id="31" name="Group 30">
            <a:extLst>
              <a:ext uri="{FF2B5EF4-FFF2-40B4-BE49-F238E27FC236}">
                <a16:creationId xmlns:a16="http://schemas.microsoft.com/office/drawing/2014/main" id="{239A50F6-2631-2885-661B-20DAC93F3160}"/>
              </a:ext>
            </a:extLst>
          </p:cNvPr>
          <p:cNvGrpSpPr/>
          <p:nvPr/>
        </p:nvGrpSpPr>
        <p:grpSpPr>
          <a:xfrm>
            <a:off x="1021080" y="2655272"/>
            <a:ext cx="868680" cy="642742"/>
            <a:chOff x="1021080" y="2655272"/>
            <a:chExt cx="868680" cy="642742"/>
          </a:xfrm>
        </p:grpSpPr>
        <p:sp>
          <p:nvSpPr>
            <p:cNvPr id="4" name="Trapezoid 3">
              <a:extLst>
                <a:ext uri="{FF2B5EF4-FFF2-40B4-BE49-F238E27FC236}">
                  <a16:creationId xmlns:a16="http://schemas.microsoft.com/office/drawing/2014/main" id="{9989E431-F3D5-9AD5-EED4-73AC7AD078AC}"/>
                </a:ext>
              </a:extLst>
            </p:cNvPr>
            <p:cNvSpPr/>
            <p:nvPr/>
          </p:nvSpPr>
          <p:spPr>
            <a:xfrm flipV="1">
              <a:off x="1021080" y="2655272"/>
              <a:ext cx="868680" cy="642742"/>
            </a:xfrm>
            <a:prstGeom prst="trapezoid">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423AFBBC-88C7-8328-C829-567710B7C920}"/>
                    </a:ext>
                  </a:extLst>
                </p:cNvPr>
                <p:cNvSpPr txBox="1"/>
                <p:nvPr/>
              </p:nvSpPr>
              <p:spPr>
                <a:xfrm>
                  <a:off x="1249170" y="2791977"/>
                  <a:ext cx="50930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𝑓</m:t>
                            </m:r>
                          </m:e>
                          <m:sub>
                            <m:r>
                              <a:rPr lang="en-US" sz="2400" i="1" dirty="0">
                                <a:latin typeface="Cambria Math" panose="02040503050406030204" pitchFamily="18" charset="0"/>
                              </a:rPr>
                              <m:t>1</m:t>
                            </m:r>
                          </m:sub>
                        </m:sSub>
                      </m:oMath>
                    </m:oMathPara>
                  </a14:m>
                  <a:endParaRPr lang="en-US" sz="2400" dirty="0"/>
                </a:p>
              </p:txBody>
            </p:sp>
          </mc:Choice>
          <mc:Fallback xmlns="">
            <p:sp>
              <p:nvSpPr>
                <p:cNvPr id="29" name="TextBox 28">
                  <a:extLst>
                    <a:ext uri="{FF2B5EF4-FFF2-40B4-BE49-F238E27FC236}">
                      <a16:creationId xmlns:a16="http://schemas.microsoft.com/office/drawing/2014/main" id="{423AFBBC-88C7-8328-C829-567710B7C920}"/>
                    </a:ext>
                  </a:extLst>
                </p:cNvPr>
                <p:cNvSpPr txBox="1">
                  <a:spLocks noRot="1" noChangeAspect="1" noMove="1" noResize="1" noEditPoints="1" noAdjustHandles="1" noChangeArrowheads="1" noChangeShapeType="1" noTextEdit="1"/>
                </p:cNvSpPr>
                <p:nvPr/>
              </p:nvSpPr>
              <p:spPr>
                <a:xfrm>
                  <a:off x="1249170" y="2791977"/>
                  <a:ext cx="509306" cy="461665"/>
                </a:xfrm>
                <a:prstGeom prst="rect">
                  <a:avLst/>
                </a:prstGeom>
                <a:blipFill>
                  <a:blip r:embed="rId8"/>
                  <a:stretch>
                    <a:fillRect l="-4878" b="-15789"/>
                  </a:stretch>
                </a:blipFill>
              </p:spPr>
              <p:txBody>
                <a:bodyPr/>
                <a:lstStyle/>
                <a:p>
                  <a:r>
                    <a:rPr lang="en-US">
                      <a:noFill/>
                    </a:rPr>
                    <a:t> </a:t>
                  </a:r>
                </a:p>
              </p:txBody>
            </p:sp>
          </mc:Fallback>
        </mc:AlternateContent>
      </p:grpSp>
      <p:grpSp>
        <p:nvGrpSpPr>
          <p:cNvPr id="32" name="Group 31">
            <a:extLst>
              <a:ext uri="{FF2B5EF4-FFF2-40B4-BE49-F238E27FC236}">
                <a16:creationId xmlns:a16="http://schemas.microsoft.com/office/drawing/2014/main" id="{A508F45F-01CA-8D89-1C50-02CEBD52806F}"/>
              </a:ext>
            </a:extLst>
          </p:cNvPr>
          <p:cNvGrpSpPr/>
          <p:nvPr/>
        </p:nvGrpSpPr>
        <p:grpSpPr>
          <a:xfrm>
            <a:off x="6834802" y="2655272"/>
            <a:ext cx="868680" cy="642742"/>
            <a:chOff x="1021080" y="2655272"/>
            <a:chExt cx="868680" cy="642742"/>
          </a:xfrm>
        </p:grpSpPr>
        <p:sp>
          <p:nvSpPr>
            <p:cNvPr id="33" name="Trapezoid 32">
              <a:extLst>
                <a:ext uri="{FF2B5EF4-FFF2-40B4-BE49-F238E27FC236}">
                  <a16:creationId xmlns:a16="http://schemas.microsoft.com/office/drawing/2014/main" id="{413F7FDE-BDD0-7B84-A03B-8798B9F0D0EA}"/>
                </a:ext>
              </a:extLst>
            </p:cNvPr>
            <p:cNvSpPr/>
            <p:nvPr/>
          </p:nvSpPr>
          <p:spPr>
            <a:xfrm flipV="1">
              <a:off x="1021080" y="2655272"/>
              <a:ext cx="868680" cy="642742"/>
            </a:xfrm>
            <a:prstGeom prst="trapezoid">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B6B2D8D0-F217-E4FF-4398-484389B57840}"/>
                    </a:ext>
                  </a:extLst>
                </p:cNvPr>
                <p:cNvSpPr txBox="1"/>
                <p:nvPr/>
              </p:nvSpPr>
              <p:spPr>
                <a:xfrm>
                  <a:off x="1249170" y="2791977"/>
                  <a:ext cx="444801"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𝑔</m:t>
                        </m:r>
                      </m:oMath>
                    </m:oMathPara>
                  </a14:m>
                  <a:endParaRPr lang="en-US" sz="2400" dirty="0"/>
                </a:p>
              </p:txBody>
            </p:sp>
          </mc:Choice>
          <mc:Fallback xmlns="">
            <p:sp>
              <p:nvSpPr>
                <p:cNvPr id="34" name="TextBox 33">
                  <a:extLst>
                    <a:ext uri="{FF2B5EF4-FFF2-40B4-BE49-F238E27FC236}">
                      <a16:creationId xmlns:a16="http://schemas.microsoft.com/office/drawing/2014/main" id="{B6B2D8D0-F217-E4FF-4398-484389B57840}"/>
                    </a:ext>
                  </a:extLst>
                </p:cNvPr>
                <p:cNvSpPr txBox="1">
                  <a:spLocks noRot="1" noChangeAspect="1" noMove="1" noResize="1" noEditPoints="1" noAdjustHandles="1" noChangeArrowheads="1" noChangeShapeType="1" noTextEdit="1"/>
                </p:cNvSpPr>
                <p:nvPr/>
              </p:nvSpPr>
              <p:spPr>
                <a:xfrm>
                  <a:off x="1249170" y="2791977"/>
                  <a:ext cx="444801" cy="461665"/>
                </a:xfrm>
                <a:prstGeom prst="rect">
                  <a:avLst/>
                </a:prstGeom>
                <a:blipFill>
                  <a:blip r:embed="rId9"/>
                  <a:stretch>
                    <a:fillRect b="-7895"/>
                  </a:stretch>
                </a:blipFill>
              </p:spPr>
              <p:txBody>
                <a:bodyPr/>
                <a:lstStyle/>
                <a:p>
                  <a:r>
                    <a:rPr lang="en-US">
                      <a:noFill/>
                    </a:rPr>
                    <a:t> </a:t>
                  </a:r>
                </a:p>
              </p:txBody>
            </p:sp>
          </mc:Fallback>
        </mc:AlternateContent>
      </p:grpSp>
      <p:cxnSp>
        <p:nvCxnSpPr>
          <p:cNvPr id="36" name="Straight Arrow Connector 35">
            <a:extLst>
              <a:ext uri="{FF2B5EF4-FFF2-40B4-BE49-F238E27FC236}">
                <a16:creationId xmlns:a16="http://schemas.microsoft.com/office/drawing/2014/main" id="{38902B01-74AC-02DC-2295-B7A5E6906632}"/>
              </a:ext>
            </a:extLst>
          </p:cNvPr>
          <p:cNvCxnSpPr>
            <a:endCxn id="4" idx="2"/>
          </p:cNvCxnSpPr>
          <p:nvPr/>
        </p:nvCxnSpPr>
        <p:spPr>
          <a:xfrm flipH="1">
            <a:off x="1455420" y="1996440"/>
            <a:ext cx="1935480" cy="658832"/>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A2A5295B-5087-2085-A595-5E6E3BCC47C6}"/>
              </a:ext>
            </a:extLst>
          </p:cNvPr>
          <p:cNvCxnSpPr>
            <a:cxnSpLocks/>
            <a:endCxn id="33" idx="2"/>
          </p:cNvCxnSpPr>
          <p:nvPr/>
        </p:nvCxnSpPr>
        <p:spPr>
          <a:xfrm>
            <a:off x="5196502" y="1970004"/>
            <a:ext cx="2072640" cy="685268"/>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F4DF3AB7-A870-9F9D-D050-DC3D602A06DA}"/>
              </a:ext>
            </a:extLst>
          </p:cNvPr>
          <p:cNvCxnSpPr>
            <a:cxnSpLocks/>
            <a:stCxn id="24" idx="2"/>
            <a:endCxn id="8" idx="2"/>
          </p:cNvCxnSpPr>
          <p:nvPr/>
        </p:nvCxnSpPr>
        <p:spPr>
          <a:xfrm flipH="1">
            <a:off x="4381500" y="2103226"/>
            <a:ext cx="33151" cy="553113"/>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45" name="Arc 44">
            <a:extLst>
              <a:ext uri="{FF2B5EF4-FFF2-40B4-BE49-F238E27FC236}">
                <a16:creationId xmlns:a16="http://schemas.microsoft.com/office/drawing/2014/main" id="{72EEACD8-591E-F1DD-5F9A-027F3F33C9CD}"/>
              </a:ext>
            </a:extLst>
          </p:cNvPr>
          <p:cNvSpPr/>
          <p:nvPr/>
        </p:nvSpPr>
        <p:spPr>
          <a:xfrm rot="5189967">
            <a:off x="3356287" y="1930897"/>
            <a:ext cx="4076700" cy="3889497"/>
          </a:xfrm>
          <a:prstGeom prst="arc">
            <a:avLst>
              <a:gd name="adj1" fmla="val 15673076"/>
              <a:gd name="adj2" fmla="val 507315"/>
            </a:avLst>
          </a:prstGeom>
          <a:ln w="38100">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6" name="Arc 45">
            <a:extLst>
              <a:ext uri="{FF2B5EF4-FFF2-40B4-BE49-F238E27FC236}">
                <a16:creationId xmlns:a16="http://schemas.microsoft.com/office/drawing/2014/main" id="{B39EE8A1-1968-3A81-0982-6BCCEFB31726}"/>
              </a:ext>
            </a:extLst>
          </p:cNvPr>
          <p:cNvSpPr/>
          <p:nvPr/>
        </p:nvSpPr>
        <p:spPr>
          <a:xfrm rot="4477798" flipV="1">
            <a:off x="1665533" y="3205293"/>
            <a:ext cx="2595669" cy="3219102"/>
          </a:xfrm>
          <a:prstGeom prst="arc">
            <a:avLst>
              <a:gd name="adj1" fmla="val 15673076"/>
              <a:gd name="adj2" fmla="val 507315"/>
            </a:avLst>
          </a:prstGeom>
          <a:ln w="38100">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47" name="Straight Arrow Connector 46">
            <a:extLst>
              <a:ext uri="{FF2B5EF4-FFF2-40B4-BE49-F238E27FC236}">
                <a16:creationId xmlns:a16="http://schemas.microsoft.com/office/drawing/2014/main" id="{16DF1FA4-DC60-CE25-BC02-84FFB621D946}"/>
              </a:ext>
            </a:extLst>
          </p:cNvPr>
          <p:cNvCxnSpPr>
            <a:cxnSpLocks/>
          </p:cNvCxnSpPr>
          <p:nvPr/>
        </p:nvCxnSpPr>
        <p:spPr>
          <a:xfrm>
            <a:off x="4369049" y="4814844"/>
            <a:ext cx="0" cy="801613"/>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CD240CD1-72FF-3BEF-DD93-300442249C39}"/>
                  </a:ext>
                </a:extLst>
              </p:cNvPr>
              <p:cNvSpPr txBox="1"/>
              <p:nvPr/>
            </p:nvSpPr>
            <p:spPr>
              <a:xfrm>
                <a:off x="2436881" y="4267960"/>
                <a:ext cx="53713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𝑇</m:t>
                          </m:r>
                        </m:e>
                        <m:sub>
                          <m:r>
                            <a:rPr lang="en-US" sz="2400" i="1" dirty="0" smtClean="0">
                              <a:latin typeface="Cambria Math" panose="02040503050406030204" pitchFamily="18" charset="0"/>
                            </a:rPr>
                            <m:t>1</m:t>
                          </m:r>
                        </m:sub>
                      </m:sSub>
                    </m:oMath>
                  </m:oMathPara>
                </a14:m>
                <a:endParaRPr/>
              </a:p>
            </p:txBody>
          </p:sp>
        </mc:Choice>
        <mc:Fallback xmlns="">
          <p:sp>
            <p:nvSpPr>
              <p:cNvPr id="49" name="TextBox 48">
                <a:extLst>
                  <a:ext uri="{FF2B5EF4-FFF2-40B4-BE49-F238E27FC236}">
                    <a16:creationId xmlns:a16="http://schemas.microsoft.com/office/drawing/2014/main" id="{CD240CD1-72FF-3BEF-DD93-300442249C39}"/>
                  </a:ext>
                </a:extLst>
              </p:cNvPr>
              <p:cNvSpPr txBox="1">
                <a:spLocks noRot="1" noChangeAspect="1" noMove="1" noResize="1" noEditPoints="1" noAdjustHandles="1" noChangeArrowheads="1" noChangeShapeType="1" noTextEdit="1"/>
              </p:cNvSpPr>
              <p:nvPr/>
            </p:nvSpPr>
            <p:spPr>
              <a:xfrm>
                <a:off x="2436881" y="4267960"/>
                <a:ext cx="537134" cy="461665"/>
              </a:xfrm>
              <a:prstGeom prst="rect">
                <a:avLst/>
              </a:prstGeom>
              <a:blipFill>
                <a:blip r:embed="rId10"/>
                <a:stretch>
                  <a:fillRect t="-10811" r="-23256" b="-270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DEE9ADB7-2CC3-F1B0-10FB-E40F30B10A92}"/>
                  </a:ext>
                </a:extLst>
              </p:cNvPr>
              <p:cNvSpPr txBox="1"/>
              <p:nvPr/>
            </p:nvSpPr>
            <p:spPr>
              <a:xfrm>
                <a:off x="5471160" y="4261306"/>
                <a:ext cx="54425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𝑇</m:t>
                          </m:r>
                        </m:e>
                        <m:sub>
                          <m:r>
                            <a:rPr lang="en-US" sz="2400" b="0" i="1" dirty="0" smtClean="0">
                              <a:latin typeface="Cambria Math" panose="02040503050406030204" pitchFamily="18" charset="0"/>
                            </a:rPr>
                            <m:t>2</m:t>
                          </m:r>
                        </m:sub>
                      </m:sSub>
                    </m:oMath>
                  </m:oMathPara>
                </a14:m>
                <a:endParaRPr/>
              </a:p>
            </p:txBody>
          </p:sp>
        </mc:Choice>
        <mc:Fallback xmlns="">
          <p:sp>
            <p:nvSpPr>
              <p:cNvPr id="50" name="TextBox 49">
                <a:extLst>
                  <a:ext uri="{FF2B5EF4-FFF2-40B4-BE49-F238E27FC236}">
                    <a16:creationId xmlns:a16="http://schemas.microsoft.com/office/drawing/2014/main" id="{DEE9ADB7-2CC3-F1B0-10FB-E40F30B10A92}"/>
                  </a:ext>
                </a:extLst>
              </p:cNvPr>
              <p:cNvSpPr txBox="1">
                <a:spLocks noRot="1" noChangeAspect="1" noMove="1" noResize="1" noEditPoints="1" noAdjustHandles="1" noChangeArrowheads="1" noChangeShapeType="1" noTextEdit="1"/>
              </p:cNvSpPr>
              <p:nvPr/>
            </p:nvSpPr>
            <p:spPr>
              <a:xfrm>
                <a:off x="5471160" y="4261306"/>
                <a:ext cx="544252" cy="461665"/>
              </a:xfrm>
              <a:prstGeom prst="rect">
                <a:avLst/>
              </a:prstGeom>
              <a:blipFill>
                <a:blip r:embed="rId11"/>
                <a:stretch>
                  <a:fillRect t="-10811" r="-23256" b="-29730"/>
                </a:stretch>
              </a:blipFill>
            </p:spPr>
            <p:txBody>
              <a:bodyPr/>
              <a:lstStyle/>
              <a:p>
                <a:r>
                  <a:rPr lang="en-US">
                    <a:noFill/>
                  </a:rPr>
                  <a:t> </a:t>
                </a:r>
              </a:p>
            </p:txBody>
          </p:sp>
        </mc:Fallback>
      </mc:AlternateContent>
      <p:cxnSp>
        <p:nvCxnSpPr>
          <p:cNvPr id="51" name="Straight Arrow Connector 50">
            <a:extLst>
              <a:ext uri="{FF2B5EF4-FFF2-40B4-BE49-F238E27FC236}">
                <a16:creationId xmlns:a16="http://schemas.microsoft.com/office/drawing/2014/main" id="{485DB12C-E0EF-7DD0-2A13-95A8233B15F9}"/>
              </a:ext>
            </a:extLst>
          </p:cNvPr>
          <p:cNvCxnSpPr>
            <a:cxnSpLocks/>
          </p:cNvCxnSpPr>
          <p:nvPr/>
        </p:nvCxnSpPr>
        <p:spPr>
          <a:xfrm>
            <a:off x="4369049" y="3304673"/>
            <a:ext cx="20071" cy="868598"/>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AF5FAFD5-F669-FBB4-E0D0-0375DA64817E}"/>
              </a:ext>
            </a:extLst>
          </p:cNvPr>
          <p:cNvCxnSpPr>
            <a:cxnSpLocks/>
          </p:cNvCxnSpPr>
          <p:nvPr/>
        </p:nvCxnSpPr>
        <p:spPr>
          <a:xfrm>
            <a:off x="1382009" y="3349799"/>
            <a:ext cx="0" cy="890025"/>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A903EE9D-A086-23A6-E693-CE12B1CFC6B7}"/>
                  </a:ext>
                </a:extLst>
              </p:cNvPr>
              <p:cNvSpPr txBox="1"/>
              <p:nvPr/>
            </p:nvSpPr>
            <p:spPr>
              <a:xfrm>
                <a:off x="455575" y="6031210"/>
                <a:ext cx="208723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smtClean="0">
                              <a:solidFill>
                                <a:srgbClr val="C00000"/>
                              </a:solidFill>
                              <a:latin typeface="Cambria Math" panose="02040503050406030204" pitchFamily="18" charset="0"/>
                            </a:rPr>
                          </m:ctrlPr>
                        </m:sSubPr>
                        <m:e>
                          <m:r>
                            <a:rPr lang="en-US" sz="2400" i="1" dirty="0" smtClean="0">
                              <a:solidFill>
                                <a:srgbClr val="C00000"/>
                              </a:solidFill>
                              <a:latin typeface="Cambria Math" panose="02040503050406030204" pitchFamily="18" charset="0"/>
                            </a:rPr>
                            <m:t>𝑇</m:t>
                          </m:r>
                        </m:e>
                        <m:sub>
                          <m:r>
                            <a:rPr lang="en-US" sz="2400" i="1" dirty="0" smtClean="0">
                              <a:solidFill>
                                <a:srgbClr val="C00000"/>
                              </a:solidFill>
                              <a:latin typeface="Cambria Math" panose="02040503050406030204" pitchFamily="18" charset="0"/>
                            </a:rPr>
                            <m:t>1</m:t>
                          </m:r>
                        </m:sub>
                      </m:sSub>
                      <m:d>
                        <m:dPr>
                          <m:begChr m:val="["/>
                          <m:endChr m:val="]"/>
                          <m:ctrlPr>
                            <a:rPr lang="en-US" sz="2400" b="0" i="1" dirty="0" smtClean="0">
                              <a:solidFill>
                                <a:srgbClr val="C00000"/>
                              </a:solidFill>
                              <a:latin typeface="Cambria Math" panose="02040503050406030204" pitchFamily="18" charset="0"/>
                            </a:rPr>
                          </m:ctrlPr>
                        </m:dPr>
                        <m:e>
                          <m:sSub>
                            <m:sSubPr>
                              <m:ctrlPr>
                                <a:rPr lang="en-US" sz="2400" b="0" i="1" dirty="0" smtClean="0">
                                  <a:solidFill>
                                    <a:srgbClr val="C00000"/>
                                  </a:solidFill>
                                  <a:latin typeface="Cambria Math" panose="02040503050406030204" pitchFamily="18" charset="0"/>
                                </a:rPr>
                              </m:ctrlPr>
                            </m:sSubPr>
                            <m:e>
                              <m:r>
                                <a:rPr lang="en-US" sz="2400" b="0" i="1" dirty="0" smtClean="0">
                                  <a:solidFill>
                                    <a:srgbClr val="C00000"/>
                                  </a:solidFill>
                                  <a:latin typeface="Cambria Math" panose="02040503050406030204" pitchFamily="18" charset="0"/>
                                </a:rPr>
                                <m:t>𝑓</m:t>
                              </m:r>
                            </m:e>
                            <m:sub>
                              <m:r>
                                <a:rPr lang="en-US" sz="2400" b="0" i="1" dirty="0" smtClean="0">
                                  <a:solidFill>
                                    <a:srgbClr val="C00000"/>
                                  </a:solidFill>
                                  <a:latin typeface="Cambria Math" panose="02040503050406030204" pitchFamily="18" charset="0"/>
                                </a:rPr>
                                <m:t>1</m:t>
                              </m:r>
                            </m:sub>
                          </m:sSub>
                          <m:d>
                            <m:dPr>
                              <m:ctrlPr>
                                <a:rPr lang="en-US" sz="2400" b="0" i="1" dirty="0" smtClean="0">
                                  <a:solidFill>
                                    <a:srgbClr val="C00000"/>
                                  </a:solidFill>
                                  <a:latin typeface="Cambria Math" panose="02040503050406030204" pitchFamily="18" charset="0"/>
                                </a:rPr>
                              </m:ctrlPr>
                            </m:dPr>
                            <m:e>
                              <m:r>
                                <a:rPr lang="en-US" sz="2400" b="0" i="1" dirty="0" smtClean="0">
                                  <a:solidFill>
                                    <a:srgbClr val="C00000"/>
                                  </a:solidFill>
                                  <a:latin typeface="Cambria Math" panose="02040503050406030204" pitchFamily="18" charset="0"/>
                                </a:rPr>
                                <m:t>𝑖𝑛𝑝𝑢𝑡</m:t>
                              </m:r>
                            </m:e>
                          </m:d>
                        </m:e>
                      </m:d>
                    </m:oMath>
                  </m:oMathPara>
                </a14:m>
                <a:endParaRPr/>
              </a:p>
            </p:txBody>
          </p:sp>
        </mc:Choice>
        <mc:Fallback xmlns="">
          <p:sp>
            <p:nvSpPr>
              <p:cNvPr id="55" name="TextBox 54">
                <a:extLst>
                  <a:ext uri="{FF2B5EF4-FFF2-40B4-BE49-F238E27FC236}">
                    <a16:creationId xmlns:a16="http://schemas.microsoft.com/office/drawing/2014/main" id="{A903EE9D-A086-23A6-E693-CE12B1CFC6B7}"/>
                  </a:ext>
                </a:extLst>
              </p:cNvPr>
              <p:cNvSpPr txBox="1">
                <a:spLocks noRot="1" noChangeAspect="1" noMove="1" noResize="1" noEditPoints="1" noAdjustHandles="1" noChangeArrowheads="1" noChangeShapeType="1" noTextEdit="1"/>
              </p:cNvSpPr>
              <p:nvPr/>
            </p:nvSpPr>
            <p:spPr>
              <a:xfrm>
                <a:off x="455575" y="6031210"/>
                <a:ext cx="2087238" cy="461665"/>
              </a:xfrm>
              <a:prstGeom prst="rect">
                <a:avLst/>
              </a:prstGeom>
              <a:blipFill>
                <a:blip r:embed="rId12"/>
                <a:stretch>
                  <a:fillRect t="-10526" r="-3636" b="-26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6DBF725-26AF-5793-B9FE-BFF8BBC62C47}"/>
                  </a:ext>
                </a:extLst>
              </p:cNvPr>
              <p:cNvSpPr txBox="1"/>
              <p:nvPr/>
            </p:nvSpPr>
            <p:spPr>
              <a:xfrm>
                <a:off x="2313621" y="5010081"/>
                <a:ext cx="203087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smtClean="0">
                              <a:solidFill>
                                <a:srgbClr val="C00000"/>
                              </a:solidFill>
                              <a:latin typeface="Cambria Math" panose="02040503050406030204" pitchFamily="18" charset="0"/>
                            </a:rPr>
                          </m:ctrlPr>
                        </m:sSubPr>
                        <m:e>
                          <m:r>
                            <a:rPr lang="en-US" sz="2400" i="1" dirty="0" smtClean="0">
                              <a:solidFill>
                                <a:srgbClr val="C00000"/>
                              </a:solidFill>
                              <a:latin typeface="Cambria Math" panose="02040503050406030204" pitchFamily="18" charset="0"/>
                            </a:rPr>
                            <m:t>𝑇</m:t>
                          </m:r>
                        </m:e>
                        <m:sub>
                          <m:r>
                            <a:rPr lang="en-US" sz="2400" b="0" i="1" dirty="0" smtClean="0">
                              <a:solidFill>
                                <a:srgbClr val="C00000"/>
                              </a:solidFill>
                              <a:latin typeface="Cambria Math" panose="02040503050406030204" pitchFamily="18" charset="0"/>
                            </a:rPr>
                            <m:t>2</m:t>
                          </m:r>
                        </m:sub>
                      </m:sSub>
                      <m:d>
                        <m:dPr>
                          <m:begChr m:val="["/>
                          <m:endChr m:val="]"/>
                          <m:ctrlPr>
                            <a:rPr lang="en-US" sz="2400" b="0" i="1" dirty="0" smtClean="0">
                              <a:solidFill>
                                <a:srgbClr val="C00000"/>
                              </a:solidFill>
                              <a:latin typeface="Cambria Math" panose="02040503050406030204" pitchFamily="18" charset="0"/>
                            </a:rPr>
                          </m:ctrlPr>
                        </m:dPr>
                        <m:e>
                          <m:sSub>
                            <m:sSubPr>
                              <m:ctrlPr>
                                <a:rPr lang="en-US" sz="2400" b="0" i="1" dirty="0" smtClean="0">
                                  <a:solidFill>
                                    <a:srgbClr val="C00000"/>
                                  </a:solidFill>
                                  <a:latin typeface="Cambria Math" panose="02040503050406030204" pitchFamily="18" charset="0"/>
                                </a:rPr>
                              </m:ctrlPr>
                            </m:sSubPr>
                            <m:e>
                              <m:r>
                                <a:rPr lang="en-US" sz="2400" b="0" i="1" dirty="0" smtClean="0">
                                  <a:solidFill>
                                    <a:srgbClr val="C00000"/>
                                  </a:solidFill>
                                  <a:latin typeface="Cambria Math" panose="02040503050406030204" pitchFamily="18" charset="0"/>
                                </a:rPr>
                                <m:t>𝑓</m:t>
                              </m:r>
                            </m:e>
                            <m:sub>
                              <m:r>
                                <a:rPr lang="en-US" sz="2400" b="0" i="1" dirty="0" smtClean="0">
                                  <a:solidFill>
                                    <a:srgbClr val="C00000"/>
                                  </a:solidFill>
                                  <a:latin typeface="Cambria Math" panose="02040503050406030204" pitchFamily="18" charset="0"/>
                                </a:rPr>
                                <m:t>2</m:t>
                              </m:r>
                            </m:sub>
                          </m:sSub>
                          <m:d>
                            <m:dPr>
                              <m:ctrlPr>
                                <a:rPr lang="en-US" sz="2400" b="0" i="1" dirty="0" smtClean="0">
                                  <a:solidFill>
                                    <a:srgbClr val="C00000"/>
                                  </a:solidFill>
                                  <a:latin typeface="Cambria Math" panose="02040503050406030204" pitchFamily="18" charset="0"/>
                                </a:rPr>
                              </m:ctrlPr>
                            </m:dPr>
                            <m:e>
                              <m:r>
                                <a:rPr lang="en-US" sz="2400" b="0" i="1" dirty="0" smtClean="0">
                                  <a:solidFill>
                                    <a:srgbClr val="C00000"/>
                                  </a:solidFill>
                                  <a:latin typeface="Cambria Math" panose="02040503050406030204" pitchFamily="18" charset="0"/>
                                </a:rPr>
                                <m:t>𝑖𝑛𝑝𝑢𝑡</m:t>
                              </m:r>
                            </m:e>
                          </m:d>
                        </m:e>
                      </m:d>
                    </m:oMath>
                  </m:oMathPara>
                </a14:m>
                <a:endParaRPr/>
              </a:p>
            </p:txBody>
          </p:sp>
        </mc:Choice>
        <mc:Fallback xmlns="">
          <p:sp>
            <p:nvSpPr>
              <p:cNvPr id="56" name="TextBox 55">
                <a:extLst>
                  <a:ext uri="{FF2B5EF4-FFF2-40B4-BE49-F238E27FC236}">
                    <a16:creationId xmlns:a16="http://schemas.microsoft.com/office/drawing/2014/main" id="{F6DBF725-26AF-5793-B9FE-BFF8BBC62C47}"/>
                  </a:ext>
                </a:extLst>
              </p:cNvPr>
              <p:cNvSpPr txBox="1">
                <a:spLocks noRot="1" noChangeAspect="1" noMove="1" noResize="1" noEditPoints="1" noAdjustHandles="1" noChangeArrowheads="1" noChangeShapeType="1" noTextEdit="1"/>
              </p:cNvSpPr>
              <p:nvPr/>
            </p:nvSpPr>
            <p:spPr>
              <a:xfrm>
                <a:off x="2313621" y="5010081"/>
                <a:ext cx="2030876" cy="461665"/>
              </a:xfrm>
              <a:prstGeom prst="rect">
                <a:avLst/>
              </a:prstGeom>
              <a:blipFill>
                <a:blip r:embed="rId13"/>
                <a:stretch>
                  <a:fillRect t="-10526" r="-5590" b="-236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489E7216-F761-201C-AE15-D60582DE909C}"/>
                  </a:ext>
                </a:extLst>
              </p:cNvPr>
              <p:cNvSpPr txBox="1"/>
              <p:nvPr/>
            </p:nvSpPr>
            <p:spPr>
              <a:xfrm>
                <a:off x="5231957" y="5144114"/>
                <a:ext cx="1451551"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smtClean="0">
                          <a:solidFill>
                            <a:srgbClr val="C00000"/>
                          </a:solidFill>
                          <a:latin typeface="Cambria Math" panose="02040503050406030204" pitchFamily="18" charset="0"/>
                        </a:rPr>
                        <m:t>𝑔</m:t>
                      </m:r>
                      <m:d>
                        <m:dPr>
                          <m:ctrlPr>
                            <a:rPr lang="en-US" sz="2400" b="0" i="1" dirty="0" smtClean="0">
                              <a:solidFill>
                                <a:srgbClr val="C00000"/>
                              </a:solidFill>
                              <a:latin typeface="Cambria Math" panose="02040503050406030204" pitchFamily="18" charset="0"/>
                            </a:rPr>
                          </m:ctrlPr>
                        </m:dPr>
                        <m:e>
                          <m:r>
                            <a:rPr lang="en-US" sz="2400" b="0" i="1" dirty="0" smtClean="0">
                              <a:solidFill>
                                <a:srgbClr val="C00000"/>
                              </a:solidFill>
                              <a:latin typeface="Cambria Math" panose="02040503050406030204" pitchFamily="18" charset="0"/>
                            </a:rPr>
                            <m:t>𝑖𝑛𝑝𝑢𝑡</m:t>
                          </m:r>
                        </m:e>
                      </m:d>
                    </m:oMath>
                  </m:oMathPara>
                </a14:m>
                <a:endParaRPr/>
              </a:p>
            </p:txBody>
          </p:sp>
        </mc:Choice>
        <mc:Fallback xmlns="">
          <p:sp>
            <p:nvSpPr>
              <p:cNvPr id="57" name="TextBox 56">
                <a:extLst>
                  <a:ext uri="{FF2B5EF4-FFF2-40B4-BE49-F238E27FC236}">
                    <a16:creationId xmlns:a16="http://schemas.microsoft.com/office/drawing/2014/main" id="{489E7216-F761-201C-AE15-D60582DE909C}"/>
                  </a:ext>
                </a:extLst>
              </p:cNvPr>
              <p:cNvSpPr txBox="1">
                <a:spLocks noRot="1" noChangeAspect="1" noMove="1" noResize="1" noEditPoints="1" noAdjustHandles="1" noChangeArrowheads="1" noChangeShapeType="1" noTextEdit="1"/>
              </p:cNvSpPr>
              <p:nvPr/>
            </p:nvSpPr>
            <p:spPr>
              <a:xfrm>
                <a:off x="5231957" y="5144114"/>
                <a:ext cx="1451551" cy="461665"/>
              </a:xfrm>
              <a:prstGeom prst="rect">
                <a:avLst/>
              </a:prstGeom>
              <a:blipFill>
                <a:blip r:embed="rId14"/>
                <a:stretch>
                  <a:fillRect t="-10811" r="-7759" b="-270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96F674E1-CF19-AAFE-6092-CFB08BC787E9}"/>
                  </a:ext>
                </a:extLst>
              </p:cNvPr>
              <p:cNvSpPr txBox="1"/>
              <p:nvPr/>
            </p:nvSpPr>
            <p:spPr>
              <a:xfrm>
                <a:off x="7864779" y="1561368"/>
                <a:ext cx="3923361" cy="1736646"/>
              </a:xfrm>
              <a:prstGeom prst="roundRect">
                <a:avLst/>
              </a:prstGeom>
              <a:solidFill>
                <a:schemeClr val="tx2">
                  <a:lumMod val="10000"/>
                  <a:lumOff val="90000"/>
                </a:schemeClr>
              </a:solidFill>
            </p:spPr>
            <p:txBody>
              <a:bodyPr wrap="square" rtlCol="0">
                <a:spAutoFit/>
              </a:bodyPr>
              <a:lstStyle/>
              <a:p>
                <a14:m>
                  <m:oMath xmlns:m="http://schemas.openxmlformats.org/officeDocument/2006/math">
                    <m:sSub>
                      <m:sSubPr>
                        <m:ctrlPr>
                          <a:rPr lang="en-US" sz="2400" i="1" dirty="0" smtClean="0">
                            <a:solidFill>
                              <a:srgbClr val="C00000"/>
                            </a:solidFill>
                            <a:latin typeface="Cambria Math" panose="02040503050406030204" pitchFamily="18" charset="0"/>
                          </a:rPr>
                        </m:ctrlPr>
                      </m:sSubPr>
                      <m:e>
                        <m:r>
                          <a:rPr lang="en-US" sz="2400" i="1" dirty="0" smtClean="0">
                            <a:solidFill>
                              <a:srgbClr val="C00000"/>
                            </a:solidFill>
                            <a:latin typeface="Cambria Math" panose="02040503050406030204" pitchFamily="18" charset="0"/>
                          </a:rPr>
                          <m:t>𝑓</m:t>
                        </m:r>
                      </m:e>
                      <m:sub>
                        <m:r>
                          <a:rPr lang="en-US" sz="2400" i="1" dirty="0" smtClean="0">
                            <a:solidFill>
                              <a:srgbClr val="C00000"/>
                            </a:solidFill>
                            <a:latin typeface="Cambria Math" panose="02040503050406030204" pitchFamily="18" charset="0"/>
                          </a:rPr>
                          <m:t>1</m:t>
                        </m:r>
                      </m:sub>
                    </m:sSub>
                    <m:r>
                      <a:rPr lang="en-US" sz="2400" i="1" dirty="0" smtClean="0">
                        <a:solidFill>
                          <a:srgbClr val="C00000"/>
                        </a:solidFill>
                        <a:latin typeface="Cambria Math" panose="02040503050406030204" pitchFamily="18" charset="0"/>
                      </a:rPr>
                      <m:t>,</m:t>
                    </m:r>
                    <m:sSub>
                      <m:sSubPr>
                        <m:ctrlPr>
                          <a:rPr lang="en-US" sz="2400" i="1" dirty="0" smtClean="0">
                            <a:solidFill>
                              <a:srgbClr val="C00000"/>
                            </a:solidFill>
                            <a:latin typeface="Cambria Math" panose="02040503050406030204" pitchFamily="18" charset="0"/>
                          </a:rPr>
                        </m:ctrlPr>
                      </m:sSubPr>
                      <m:e>
                        <m:r>
                          <a:rPr lang="en-US" sz="2400" i="1" dirty="0" smtClean="0">
                            <a:solidFill>
                              <a:srgbClr val="C00000"/>
                            </a:solidFill>
                            <a:latin typeface="Cambria Math" panose="02040503050406030204" pitchFamily="18" charset="0"/>
                          </a:rPr>
                          <m:t>𝑓</m:t>
                        </m:r>
                      </m:e>
                      <m:sub>
                        <m:r>
                          <a:rPr lang="en-US" sz="2400" i="1" dirty="0" smtClean="0">
                            <a:solidFill>
                              <a:srgbClr val="C00000"/>
                            </a:solidFill>
                            <a:latin typeface="Cambria Math" panose="02040503050406030204" pitchFamily="18" charset="0"/>
                          </a:rPr>
                          <m:t>2</m:t>
                        </m:r>
                      </m:sub>
                    </m:sSub>
                    <m:r>
                      <a:rPr lang="en-US" sz="2400" i="1" dirty="0" smtClean="0">
                        <a:solidFill>
                          <a:srgbClr val="C00000"/>
                        </a:solidFill>
                        <a:latin typeface="Cambria Math" panose="02040503050406030204" pitchFamily="18" charset="0"/>
                      </a:rPr>
                      <m:t>,</m:t>
                    </m:r>
                    <m:r>
                      <a:rPr lang="en-US" sz="2400" i="1" dirty="0" smtClean="0">
                        <a:solidFill>
                          <a:srgbClr val="C00000"/>
                        </a:solidFill>
                        <a:latin typeface="Cambria Math" panose="02040503050406030204" pitchFamily="18" charset="0"/>
                      </a:rPr>
                      <m:t>𝑔</m:t>
                    </m:r>
                    <m:r>
                      <a:rPr lang="en-US" sz="2400" i="1" dirty="0" smtClean="0">
                        <a:solidFill>
                          <a:srgbClr val="C00000"/>
                        </a:solidFill>
                        <a:latin typeface="Cambria Math" panose="02040503050406030204" pitchFamily="18" charset="0"/>
                      </a:rPr>
                      <m:t>:</m:t>
                    </m:r>
                  </m:oMath>
                </a14:m>
                <a:r>
                  <a:rPr lang="en-US" sz="2400" i="1" dirty="0">
                    <a:solidFill>
                      <a:srgbClr val="C00000"/>
                    </a:solidFill>
                    <a:latin typeface="Cambria Math" panose="02040503050406030204" pitchFamily="18" charset="0"/>
                  </a:rPr>
                  <a:t> </a:t>
                </a:r>
                <a14:m>
                  <m:oMath xmlns:m="http://schemas.openxmlformats.org/officeDocument/2006/math">
                    <m:r>
                      <m:rPr>
                        <m:sty m:val="p"/>
                      </m:rPr>
                      <a:rPr lang="en-US" sz="2400" b="0" i="1" dirty="0" smtClean="0">
                        <a:solidFill>
                          <a:srgbClr val="C00000"/>
                        </a:solidFill>
                        <a:latin typeface="Cambria Math" panose="02040503050406030204" pitchFamily="18" charset="0"/>
                      </a:rPr>
                      <m:t>Θ</m:t>
                    </m:r>
                    <m:r>
                      <a:rPr lang="en-US" sz="2400" b="0" i="1" dirty="0" smtClean="0">
                        <a:solidFill>
                          <a:srgbClr val="C00000"/>
                        </a:solidFill>
                        <a:latin typeface="Cambria Math" panose="02040503050406030204" pitchFamily="18" charset="0"/>
                      </a:rPr>
                      <m:t>(</m:t>
                    </m:r>
                    <m:r>
                      <m:rPr>
                        <m:sty m:val="p"/>
                      </m:rPr>
                      <a:rPr lang="en-US" sz="2400" b="0" i="1" dirty="0" smtClean="0">
                        <a:solidFill>
                          <a:srgbClr val="C00000"/>
                        </a:solidFill>
                        <a:latin typeface="Cambria Math" panose="02040503050406030204" pitchFamily="18" charset="0"/>
                      </a:rPr>
                      <m:t>λ</m:t>
                    </m:r>
                    <m:r>
                      <a:rPr lang="en-US" sz="2400" b="0" i="0" dirty="0" smtClean="0">
                        <a:solidFill>
                          <a:srgbClr val="C00000"/>
                        </a:solidFill>
                        <a:latin typeface="Cambria Math" panose="02040503050406030204" pitchFamily="18" charset="0"/>
                      </a:rPr>
                      <m:t>)</m:t>
                    </m:r>
                  </m:oMath>
                </a14:m>
                <a:r>
                  <a:rPr lang="en-US" sz="2400" dirty="0">
                    <a:solidFill>
                      <a:srgbClr val="C00000"/>
                    </a:solidFill>
                    <a:latin typeface="Candara" panose="020E0502030303020204" pitchFamily="34" charset="0"/>
                  </a:rPr>
                  <a:t>-degree polynomials</a:t>
                </a:r>
              </a:p>
              <a:p>
                <a14:m>
                  <m:oMath xmlns:m="http://schemas.openxmlformats.org/officeDocument/2006/math">
                    <m:sSub>
                      <m:sSubPr>
                        <m:ctrlPr>
                          <a:rPr lang="en-US" sz="2400" i="1" dirty="0" smtClean="0">
                            <a:solidFill>
                              <a:srgbClr val="C00000"/>
                            </a:solidFill>
                            <a:latin typeface="Cambria Math" panose="02040503050406030204" pitchFamily="18" charset="0"/>
                          </a:rPr>
                        </m:ctrlPr>
                      </m:sSubPr>
                      <m:e>
                        <m:r>
                          <a:rPr lang="en-US" sz="2400" i="1" dirty="0" smtClean="0">
                            <a:solidFill>
                              <a:srgbClr val="C00000"/>
                            </a:solidFill>
                            <a:latin typeface="Cambria Math" panose="02040503050406030204" pitchFamily="18" charset="0"/>
                          </a:rPr>
                          <m:t>𝑇</m:t>
                        </m:r>
                      </m:e>
                      <m:sub>
                        <m:r>
                          <a:rPr lang="en-US" sz="2400" i="1" dirty="0" smtClean="0">
                            <a:solidFill>
                              <a:srgbClr val="C00000"/>
                            </a:solidFill>
                            <a:latin typeface="Cambria Math" panose="02040503050406030204" pitchFamily="18" charset="0"/>
                          </a:rPr>
                          <m:t>1</m:t>
                        </m:r>
                      </m:sub>
                    </m:sSub>
                    <m:r>
                      <a:rPr lang="en-US" sz="2400" i="1" dirty="0" smtClean="0">
                        <a:solidFill>
                          <a:srgbClr val="C00000"/>
                        </a:solidFill>
                        <a:latin typeface="Cambria Math" panose="02040503050406030204" pitchFamily="18" charset="0"/>
                      </a:rPr>
                      <m:t>,</m:t>
                    </m:r>
                    <m:sSub>
                      <m:sSubPr>
                        <m:ctrlPr>
                          <a:rPr lang="en-US" sz="2400" i="1" dirty="0" smtClean="0">
                            <a:solidFill>
                              <a:srgbClr val="C00000"/>
                            </a:solidFill>
                            <a:latin typeface="Cambria Math" panose="02040503050406030204" pitchFamily="18" charset="0"/>
                          </a:rPr>
                        </m:ctrlPr>
                      </m:sSubPr>
                      <m:e>
                        <m:r>
                          <a:rPr lang="en-US" sz="2400" i="1" dirty="0" smtClean="0">
                            <a:solidFill>
                              <a:srgbClr val="C00000"/>
                            </a:solidFill>
                            <a:latin typeface="Cambria Math" panose="02040503050406030204" pitchFamily="18" charset="0"/>
                          </a:rPr>
                          <m:t>𝑇</m:t>
                        </m:r>
                      </m:e>
                      <m:sub>
                        <m:r>
                          <a:rPr lang="en-US" sz="2400" i="1" dirty="0">
                            <a:solidFill>
                              <a:srgbClr val="C00000"/>
                            </a:solidFill>
                            <a:latin typeface="Cambria Math" panose="02040503050406030204" pitchFamily="18" charset="0"/>
                          </a:rPr>
                          <m:t>2</m:t>
                        </m:r>
                      </m:sub>
                    </m:sSub>
                    <m:r>
                      <a:rPr lang="en-US" sz="2400" b="0" i="1" dirty="0" smtClean="0">
                        <a:solidFill>
                          <a:srgbClr val="C00000"/>
                        </a:solidFill>
                        <a:latin typeface="Cambria Math" panose="02040503050406030204" pitchFamily="18" charset="0"/>
                      </a:rPr>
                      <m:t>:</m:t>
                    </m:r>
                  </m:oMath>
                </a14:m>
                <a:r>
                  <a:rPr lang="en-US" sz="2400" b="0" dirty="0">
                    <a:solidFill>
                      <a:srgbClr val="C00000"/>
                    </a:solidFill>
                    <a:latin typeface="Cambria Math" panose="02040503050406030204" pitchFamily="18" charset="0"/>
                  </a:rPr>
                  <a:t> </a:t>
                </a:r>
                <a:r>
                  <a:rPr lang="en-US" sz="2400" b="0" dirty="0">
                    <a:solidFill>
                      <a:srgbClr val="C00000"/>
                    </a:solidFill>
                    <a:latin typeface="Candara" panose="020E0502030303020204" pitchFamily="34" charset="0"/>
                  </a:rPr>
                  <a:t>Random tables with entries in </a:t>
                </a:r>
                <a14:m>
                  <m:oMath xmlns:m="http://schemas.openxmlformats.org/officeDocument/2006/math">
                    <m:r>
                      <a:rPr lang="en-US" sz="2400" i="1" dirty="0">
                        <a:solidFill>
                          <a:srgbClr val="C00000"/>
                        </a:solidFill>
                        <a:latin typeface="Cambria Math" panose="02040503050406030204" pitchFamily="18" charset="0"/>
                        <a:ea typeface="Cambria Math" panose="02040503050406030204" pitchFamily="18" charset="0"/>
                      </a:rPr>
                      <m:t>ℛ</m:t>
                    </m:r>
                  </m:oMath>
                </a14:m>
                <a:r>
                  <a:rPr lang="en-US" sz="2400" b="0" dirty="0">
                    <a:solidFill>
                      <a:srgbClr val="C00000"/>
                    </a:solidFill>
                    <a:latin typeface="Candara" panose="020E0502030303020204" pitchFamily="34" charset="0"/>
                  </a:rPr>
                  <a:t> of size</a:t>
                </a:r>
                <a:r>
                  <a:rPr lang="en-US" sz="2400" b="0" i="1" dirty="0">
                    <a:solidFill>
                      <a:srgbClr val="C00000"/>
                    </a:solidFill>
                    <a:latin typeface="Candara" panose="020E0502030303020204" pitchFamily="34" charset="0"/>
                  </a:rPr>
                  <a:t> </a:t>
                </a:r>
                <a14:m>
                  <m:oMath xmlns:m="http://schemas.openxmlformats.org/officeDocument/2006/math">
                    <m:r>
                      <m:rPr>
                        <m:sty m:val="p"/>
                      </m:rPr>
                      <a:rPr lang="en-US" sz="2400" i="1" dirty="0">
                        <a:solidFill>
                          <a:srgbClr val="C00000"/>
                        </a:solidFill>
                        <a:latin typeface="Cambria Math" panose="02040503050406030204" pitchFamily="18" charset="0"/>
                      </a:rPr>
                      <m:t>Θ</m:t>
                    </m:r>
                    <m:r>
                      <a:rPr lang="en-US" sz="2400" i="1" dirty="0">
                        <a:solidFill>
                          <a:srgbClr val="C00000"/>
                        </a:solidFill>
                        <a:latin typeface="Cambria Math" panose="02040503050406030204" pitchFamily="18" charset="0"/>
                      </a:rPr>
                      <m:t>(</m:t>
                    </m:r>
                    <m:r>
                      <a:rPr lang="en-US" sz="2400" b="0" i="0" dirty="0" smtClean="0">
                        <a:solidFill>
                          <a:srgbClr val="C00000"/>
                        </a:solidFill>
                        <a:latin typeface="Cambria Math" panose="02040503050406030204" pitchFamily="18" charset="0"/>
                      </a:rPr>
                      <m:t>𝑘</m:t>
                    </m:r>
                    <m:r>
                      <a:rPr lang="en-US" sz="2400" dirty="0">
                        <a:solidFill>
                          <a:srgbClr val="C00000"/>
                        </a:solidFill>
                        <a:latin typeface="Cambria Math" panose="02040503050406030204" pitchFamily="18" charset="0"/>
                      </a:rPr>
                      <m:t>)</m:t>
                    </m:r>
                  </m:oMath>
                </a14:m>
                <a:endParaRPr lang="en-US" sz="2400" i="1" dirty="0">
                  <a:solidFill>
                    <a:srgbClr val="C00000"/>
                  </a:solidFill>
                  <a:latin typeface="Candara" panose="020E0502030303020204" pitchFamily="34" charset="0"/>
                </a:endParaRPr>
              </a:p>
            </p:txBody>
          </p:sp>
        </mc:Choice>
        <mc:Fallback xmlns="">
          <p:sp>
            <p:nvSpPr>
              <p:cNvPr id="58" name="TextBox 57">
                <a:extLst>
                  <a:ext uri="{FF2B5EF4-FFF2-40B4-BE49-F238E27FC236}">
                    <a16:creationId xmlns:a16="http://schemas.microsoft.com/office/drawing/2014/main" id="{96F674E1-CF19-AAFE-6092-CFB08BC787E9}"/>
                  </a:ext>
                </a:extLst>
              </p:cNvPr>
              <p:cNvSpPr txBox="1">
                <a:spLocks noRot="1" noChangeAspect="1" noMove="1" noResize="1" noEditPoints="1" noAdjustHandles="1" noChangeArrowheads="1" noChangeShapeType="1" noTextEdit="1"/>
              </p:cNvSpPr>
              <p:nvPr/>
            </p:nvSpPr>
            <p:spPr>
              <a:xfrm>
                <a:off x="7864779" y="1561368"/>
                <a:ext cx="3923361" cy="1736646"/>
              </a:xfrm>
              <a:prstGeom prst="roundRect">
                <a:avLst/>
              </a:prstGeom>
              <a:blipFill>
                <a:blip r:embed="rId15"/>
                <a:stretch>
                  <a:fillRect l="-323" b="-289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Rounded Rectangle 59">
                <a:extLst>
                  <a:ext uri="{FF2B5EF4-FFF2-40B4-BE49-F238E27FC236}">
                    <a16:creationId xmlns:a16="http://schemas.microsoft.com/office/drawing/2014/main" id="{747D793D-36E5-23F0-6CB5-A12844090304}"/>
                  </a:ext>
                </a:extLst>
              </p:cNvPr>
              <p:cNvSpPr/>
              <p:nvPr/>
            </p:nvSpPr>
            <p:spPr>
              <a:xfrm>
                <a:off x="6732984" y="4990203"/>
                <a:ext cx="5105302" cy="1616389"/>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dirty="0" err="1">
                    <a:solidFill>
                      <a:srgbClr val="C00000"/>
                    </a:solidFill>
                  </a:rPr>
                  <a:t>Thm</a:t>
                </a:r>
                <a:r>
                  <a:rPr lang="en-US" sz="2400" b="1" dirty="0">
                    <a:solidFill>
                      <a:srgbClr val="C00000"/>
                    </a:solidFill>
                  </a:rPr>
                  <a:t> [PP’08,</a:t>
                </a:r>
                <a:r>
                  <a:rPr lang="en-US" sz="2400" b="1" dirty="0">
                    <a:solidFill>
                      <a:srgbClr val="C00000"/>
                    </a:solidFill>
                    <a:latin typeface="Candara" panose="020E0502030303020204" pitchFamily="34" charset="0"/>
                  </a:rPr>
                  <a:t> BHNK’18</a:t>
                </a:r>
                <a:r>
                  <a:rPr lang="en-US" sz="2400" b="1" dirty="0">
                    <a:solidFill>
                      <a:srgbClr val="C00000"/>
                    </a:solidFill>
                  </a:rPr>
                  <a:t>].</a:t>
                </a:r>
                <a:r>
                  <a:rPr lang="en-US" sz="2400" dirty="0">
                    <a:solidFill>
                      <a:srgbClr val="C00000"/>
                    </a:solidFill>
                  </a:rPr>
                  <a:t> </a:t>
                </a:r>
                <a:r>
                  <a:rPr lang="en-US" sz="2400" dirty="0" err="1">
                    <a:solidFill>
                      <a:srgbClr val="C00000"/>
                    </a:solidFill>
                  </a:rPr>
                  <a:t>Pseudorandomness</a:t>
                </a:r>
                <a:r>
                  <a:rPr lang="en-US" sz="2400" dirty="0">
                    <a:solidFill>
                      <a:srgbClr val="C00000"/>
                    </a:solidFill>
                  </a:rPr>
                  <a:t> against </a:t>
                </a:r>
                <a:r>
                  <a:rPr lang="en-US" sz="2400" u="sng" dirty="0">
                    <a:solidFill>
                      <a:srgbClr val="C00000"/>
                    </a:solidFill>
                  </a:rPr>
                  <a:t>unbounded adversaries</a:t>
                </a:r>
                <a:r>
                  <a:rPr lang="en-US" sz="2400" dirty="0">
                    <a:solidFill>
                      <a:srgbClr val="C00000"/>
                    </a:solidFill>
                  </a:rPr>
                  <a:t> with </a:t>
                </a:r>
                <a14:m>
                  <m:oMath xmlns:m="http://schemas.openxmlformats.org/officeDocument/2006/math">
                    <m:r>
                      <a:rPr lang="en-US" sz="2400" b="0" i="1" dirty="0" smtClean="0">
                        <a:solidFill>
                          <a:srgbClr val="C00000"/>
                        </a:solidFill>
                        <a:latin typeface="Cambria Math" panose="02040503050406030204" pitchFamily="18" charset="0"/>
                      </a:rPr>
                      <m:t>≤</m:t>
                    </m:r>
                    <m:r>
                      <a:rPr lang="en-US" sz="2400" dirty="0">
                        <a:solidFill>
                          <a:srgbClr val="C00000"/>
                        </a:solidFill>
                        <a:latin typeface="Cambria Math" panose="02040503050406030204" pitchFamily="18" charset="0"/>
                      </a:rPr>
                      <m:t>𝑘</m:t>
                    </m:r>
                  </m:oMath>
                </a14:m>
                <a:r>
                  <a:rPr lang="en-US" sz="2400" dirty="0">
                    <a:solidFill>
                      <a:srgbClr val="C00000"/>
                    </a:solidFill>
                  </a:rPr>
                  <a:t> </a:t>
                </a:r>
                <a:r>
                  <a:rPr lang="en-US" sz="2400" u="sng" dirty="0">
                    <a:solidFill>
                      <a:srgbClr val="C00000"/>
                    </a:solidFill>
                  </a:rPr>
                  <a:t>adaptive</a:t>
                </a:r>
                <a:r>
                  <a:rPr lang="en-US" sz="2400" dirty="0">
                    <a:solidFill>
                      <a:srgbClr val="C00000"/>
                    </a:solidFill>
                  </a:rPr>
                  <a:t> queries</a:t>
                </a:r>
              </a:p>
            </p:txBody>
          </p:sp>
        </mc:Choice>
        <mc:Fallback xmlns="">
          <p:sp>
            <p:nvSpPr>
              <p:cNvPr id="60" name="Rounded Rectangle 59">
                <a:extLst>
                  <a:ext uri="{FF2B5EF4-FFF2-40B4-BE49-F238E27FC236}">
                    <a16:creationId xmlns:a16="http://schemas.microsoft.com/office/drawing/2014/main" id="{747D793D-36E5-23F0-6CB5-A12844090304}"/>
                  </a:ext>
                </a:extLst>
              </p:cNvPr>
              <p:cNvSpPr>
                <a:spLocks noRot="1" noChangeAspect="1" noMove="1" noResize="1" noEditPoints="1" noAdjustHandles="1" noChangeArrowheads="1" noChangeShapeType="1" noTextEdit="1"/>
              </p:cNvSpPr>
              <p:nvPr/>
            </p:nvSpPr>
            <p:spPr>
              <a:xfrm>
                <a:off x="6732984" y="4990203"/>
                <a:ext cx="5105302" cy="1616389"/>
              </a:xfrm>
              <a:prstGeom prst="roundRect">
                <a:avLst/>
              </a:prstGeom>
              <a:blipFill>
                <a:blip r:embed="rId16"/>
                <a:stretch>
                  <a:fillRect l="-248" t="-1563" b="-6250"/>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ounded Rectangle 2">
                <a:extLst>
                  <a:ext uri="{FF2B5EF4-FFF2-40B4-BE49-F238E27FC236}">
                    <a16:creationId xmlns:a16="http://schemas.microsoft.com/office/drawing/2014/main" id="{FFCB52B8-5DE1-96FD-EB83-1DFCB2F69BB0}"/>
                  </a:ext>
                </a:extLst>
              </p:cNvPr>
              <p:cNvSpPr/>
              <p:nvPr/>
            </p:nvSpPr>
            <p:spPr>
              <a:xfrm>
                <a:off x="7104449" y="3654835"/>
                <a:ext cx="4684308" cy="1258722"/>
              </a:xfrm>
              <a:prstGeom prst="roundRect">
                <a:avLst/>
              </a:prstGeom>
              <a:solidFill>
                <a:srgbClr val="F3E7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rgbClr val="C00000"/>
                    </a:solidFill>
                  </a:rPr>
                  <a:t>Assuming RAM Model: </a:t>
                </a:r>
                <a:br>
                  <a:rPr lang="en-US" sz="2400" dirty="0">
                    <a:solidFill>
                      <a:srgbClr val="C00000"/>
                    </a:solidFill>
                  </a:rPr>
                </a:br>
                <a:r>
                  <a:rPr lang="en-US" sz="2400" dirty="0">
                    <a:solidFill>
                      <a:srgbClr val="C00000"/>
                    </a:solidFill>
                  </a:rPr>
                  <a:t>(1) </a:t>
                </a:r>
                <a14:m>
                  <m:oMath xmlns:m="http://schemas.openxmlformats.org/officeDocument/2006/math">
                    <m:sSub>
                      <m:sSubPr>
                        <m:ctrlPr>
                          <a:rPr lang="en-US" sz="2400" i="1" dirty="0">
                            <a:solidFill>
                              <a:srgbClr val="C00000"/>
                            </a:solidFill>
                            <a:latin typeface="Cambria Math" panose="02040503050406030204" pitchFamily="18" charset="0"/>
                          </a:rPr>
                        </m:ctrlPr>
                      </m:sSubPr>
                      <m:e>
                        <m:r>
                          <a:rPr lang="en-US" sz="2400" i="1" dirty="0">
                            <a:solidFill>
                              <a:srgbClr val="C00000"/>
                            </a:solidFill>
                            <a:latin typeface="Cambria Math" panose="02040503050406030204" pitchFamily="18" charset="0"/>
                          </a:rPr>
                          <m:t>𝑓</m:t>
                        </m:r>
                      </m:e>
                      <m:sub>
                        <m:r>
                          <a:rPr lang="en-US" sz="2400" i="1" dirty="0">
                            <a:solidFill>
                              <a:srgbClr val="C00000"/>
                            </a:solidFill>
                            <a:latin typeface="Cambria Math" panose="02040503050406030204" pitchFamily="18" charset="0"/>
                          </a:rPr>
                          <m:t>1</m:t>
                        </m:r>
                      </m:sub>
                    </m:sSub>
                    <m:r>
                      <a:rPr lang="en-US" sz="2400" i="1" dirty="0">
                        <a:solidFill>
                          <a:srgbClr val="C00000"/>
                        </a:solidFill>
                        <a:latin typeface="Cambria Math" panose="02040503050406030204" pitchFamily="18" charset="0"/>
                      </a:rPr>
                      <m:t>,</m:t>
                    </m:r>
                    <m:sSub>
                      <m:sSubPr>
                        <m:ctrlPr>
                          <a:rPr lang="en-US" sz="2400" i="1" dirty="0">
                            <a:solidFill>
                              <a:srgbClr val="C00000"/>
                            </a:solidFill>
                            <a:latin typeface="Cambria Math" panose="02040503050406030204" pitchFamily="18" charset="0"/>
                          </a:rPr>
                        </m:ctrlPr>
                      </m:sSubPr>
                      <m:e>
                        <m:r>
                          <a:rPr lang="en-US" sz="2400" i="1" dirty="0">
                            <a:solidFill>
                              <a:srgbClr val="C00000"/>
                            </a:solidFill>
                            <a:latin typeface="Cambria Math" panose="02040503050406030204" pitchFamily="18" charset="0"/>
                          </a:rPr>
                          <m:t>𝑓</m:t>
                        </m:r>
                      </m:e>
                      <m:sub>
                        <m:r>
                          <a:rPr lang="en-US" sz="2400" i="1" dirty="0">
                            <a:solidFill>
                              <a:srgbClr val="C00000"/>
                            </a:solidFill>
                            <a:latin typeface="Cambria Math" panose="02040503050406030204" pitchFamily="18" charset="0"/>
                          </a:rPr>
                          <m:t>2</m:t>
                        </m:r>
                      </m:sub>
                    </m:sSub>
                    <m:r>
                      <a:rPr lang="en-US" sz="2400" i="1" dirty="0">
                        <a:solidFill>
                          <a:srgbClr val="C00000"/>
                        </a:solidFill>
                        <a:latin typeface="Cambria Math" panose="02040503050406030204" pitchFamily="18" charset="0"/>
                      </a:rPr>
                      <m:t>,</m:t>
                    </m:r>
                    <m:r>
                      <a:rPr lang="en-US" sz="2400" i="1" dirty="0">
                        <a:solidFill>
                          <a:srgbClr val="C00000"/>
                        </a:solidFill>
                        <a:latin typeface="Cambria Math" panose="02040503050406030204" pitchFamily="18" charset="0"/>
                      </a:rPr>
                      <m:t>𝑔</m:t>
                    </m:r>
                  </m:oMath>
                </a14:m>
                <a:r>
                  <a:rPr lang="en-US" sz="2400" dirty="0">
                    <a:solidFill>
                      <a:srgbClr val="C00000"/>
                    </a:solidFill>
                  </a:rPr>
                  <a:t> low-deg =&gt; </a:t>
                </a:r>
                <a14:m>
                  <m:oMath xmlns:m="http://schemas.openxmlformats.org/officeDocument/2006/math">
                    <m:r>
                      <m:rPr>
                        <m:sty m:val="p"/>
                      </m:rPr>
                      <a:rPr lang="en-US" sz="2400" i="1" dirty="0">
                        <a:solidFill>
                          <a:srgbClr val="C00000"/>
                        </a:solidFill>
                        <a:latin typeface="Cambria Math" panose="02040503050406030204" pitchFamily="18" charset="0"/>
                      </a:rPr>
                      <m:t>Θ</m:t>
                    </m:r>
                    <m:r>
                      <a:rPr lang="en-US" sz="2400" i="1" dirty="0">
                        <a:solidFill>
                          <a:srgbClr val="C00000"/>
                        </a:solidFill>
                        <a:latin typeface="Cambria Math" panose="02040503050406030204" pitchFamily="18" charset="0"/>
                      </a:rPr>
                      <m:t>(</m:t>
                    </m:r>
                    <m:r>
                      <m:rPr>
                        <m:sty m:val="p"/>
                      </m:rPr>
                      <a:rPr lang="en-US" sz="2400" i="1" dirty="0">
                        <a:solidFill>
                          <a:srgbClr val="C00000"/>
                        </a:solidFill>
                        <a:latin typeface="Cambria Math" panose="02040503050406030204" pitchFamily="18" charset="0"/>
                      </a:rPr>
                      <m:t>λ</m:t>
                    </m:r>
                    <m:r>
                      <a:rPr lang="en-US" sz="2400" dirty="0">
                        <a:solidFill>
                          <a:srgbClr val="C00000"/>
                        </a:solidFill>
                        <a:latin typeface="Cambria Math" panose="02040503050406030204" pitchFamily="18" charset="0"/>
                      </a:rPr>
                      <m:t>)</m:t>
                    </m:r>
                  </m:oMath>
                </a14:m>
                <a:r>
                  <a:rPr lang="en-US" sz="2400" dirty="0">
                    <a:solidFill>
                      <a:srgbClr val="C00000"/>
                    </a:solidFill>
                  </a:rPr>
                  <a:t> time</a:t>
                </a:r>
                <a:br>
                  <a:rPr lang="en-US" sz="2400" dirty="0">
                    <a:solidFill>
                      <a:srgbClr val="C00000"/>
                    </a:solidFill>
                  </a:rPr>
                </a:br>
                <a:r>
                  <a:rPr lang="en-US" sz="2400" dirty="0">
                    <a:solidFill>
                      <a:srgbClr val="C00000"/>
                    </a:solidFill>
                  </a:rPr>
                  <a:t>(2) look-up is </a:t>
                </a:r>
                <a14:m>
                  <m:oMath xmlns:m="http://schemas.openxmlformats.org/officeDocument/2006/math">
                    <m:r>
                      <m:rPr>
                        <m:sty m:val="p"/>
                      </m:rPr>
                      <a:rPr lang="en-US" sz="2400" i="1" dirty="0">
                        <a:solidFill>
                          <a:srgbClr val="C00000"/>
                        </a:solidFill>
                        <a:latin typeface="Cambria Math" panose="02040503050406030204" pitchFamily="18" charset="0"/>
                      </a:rPr>
                      <m:t>Θ</m:t>
                    </m:r>
                    <m:r>
                      <a:rPr lang="en-US" sz="2400" i="1" dirty="0">
                        <a:solidFill>
                          <a:srgbClr val="C00000"/>
                        </a:solidFill>
                        <a:latin typeface="Cambria Math" panose="02040503050406030204" pitchFamily="18" charset="0"/>
                      </a:rPr>
                      <m:t>(</m:t>
                    </m:r>
                    <m:r>
                      <a:rPr lang="en-US" sz="2400" b="0" i="0" dirty="0" smtClean="0">
                        <a:solidFill>
                          <a:srgbClr val="C00000"/>
                        </a:solidFill>
                        <a:latin typeface="Cambria Math" panose="02040503050406030204" pitchFamily="18" charset="0"/>
                      </a:rPr>
                      <m:t>1</m:t>
                    </m:r>
                    <m:r>
                      <a:rPr lang="en-US" sz="2400" dirty="0">
                        <a:solidFill>
                          <a:srgbClr val="C00000"/>
                        </a:solidFill>
                        <a:latin typeface="Cambria Math" panose="02040503050406030204" pitchFamily="18" charset="0"/>
                      </a:rPr>
                      <m:t>)</m:t>
                    </m:r>
                  </m:oMath>
                </a14:m>
                <a:endParaRPr lang="en-US" sz="2400" dirty="0">
                  <a:solidFill>
                    <a:srgbClr val="C00000"/>
                  </a:solidFill>
                </a:endParaRPr>
              </a:p>
            </p:txBody>
          </p:sp>
        </mc:Choice>
        <mc:Fallback xmlns="">
          <p:sp>
            <p:nvSpPr>
              <p:cNvPr id="3" name="Rounded Rectangle 2">
                <a:extLst>
                  <a:ext uri="{FF2B5EF4-FFF2-40B4-BE49-F238E27FC236}">
                    <a16:creationId xmlns:a16="http://schemas.microsoft.com/office/drawing/2014/main" id="{FFCB52B8-5DE1-96FD-EB83-1DFCB2F69BB0}"/>
                  </a:ext>
                </a:extLst>
              </p:cNvPr>
              <p:cNvSpPr>
                <a:spLocks noRot="1" noChangeAspect="1" noMove="1" noResize="1" noEditPoints="1" noAdjustHandles="1" noChangeArrowheads="1" noChangeShapeType="1" noTextEdit="1"/>
              </p:cNvSpPr>
              <p:nvPr/>
            </p:nvSpPr>
            <p:spPr>
              <a:xfrm>
                <a:off x="7104449" y="3654835"/>
                <a:ext cx="4684308" cy="1258722"/>
              </a:xfrm>
              <a:prstGeom prst="roundRect">
                <a:avLst/>
              </a:prstGeom>
              <a:blipFill>
                <a:blip r:embed="rId17"/>
                <a:stretch>
                  <a:fillRect l="-811" t="-2020" b="-9091"/>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834090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5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45" grpId="0" animBg="1"/>
      <p:bldP spid="46" grpId="0" animBg="1"/>
      <p:bldP spid="49" grpId="0"/>
      <p:bldP spid="50" grpId="0"/>
      <p:bldP spid="55" grpId="0"/>
      <p:bldP spid="56" grpId="0"/>
      <p:bldP spid="57" grpId="0"/>
      <p:bldP spid="58" grpId="0" animBg="1"/>
      <p:bldP spid="60" grpId="0" animBg="1"/>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23323-0E4B-4234-FF68-1305575CB9AF}"/>
            </a:ext>
          </a:extLst>
        </p:cNvPr>
        <p:cNvGrpSpPr/>
        <p:nvPr/>
      </p:nvGrpSpPr>
      <p:grpSpPr>
        <a:xfrm>
          <a:off x="0" y="0"/>
          <a:ext cx="0" cy="0"/>
          <a:chOff x="0" y="0"/>
          <a:chExt cx="0" cy="0"/>
        </a:xfrm>
      </p:grpSpPr>
      <p:sp>
        <p:nvSpPr>
          <p:cNvPr id="77" name="Rounded Rectangle 76">
            <a:extLst>
              <a:ext uri="{FF2B5EF4-FFF2-40B4-BE49-F238E27FC236}">
                <a16:creationId xmlns:a16="http://schemas.microsoft.com/office/drawing/2014/main" id="{77AED4B3-C0A0-D0B3-B604-F38DA5A50FBA}"/>
              </a:ext>
            </a:extLst>
          </p:cNvPr>
          <p:cNvSpPr/>
          <p:nvPr/>
        </p:nvSpPr>
        <p:spPr>
          <a:xfrm>
            <a:off x="897437" y="3219554"/>
            <a:ext cx="3835209" cy="959310"/>
          </a:xfrm>
          <a:prstGeom prst="roundRect">
            <a:avLst/>
          </a:prstGeom>
          <a:solidFill>
            <a:srgbClr val="F3E7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A1FA8B-2D86-8F31-23FE-3A0A768505A9}"/>
              </a:ext>
            </a:extLst>
          </p:cNvPr>
          <p:cNvSpPr>
            <a:spLocks noGrp="1"/>
          </p:cNvSpPr>
          <p:nvPr>
            <p:ph type="title"/>
          </p:nvPr>
        </p:nvSpPr>
        <p:spPr>
          <a:xfrm>
            <a:off x="812642" y="197312"/>
            <a:ext cx="7237664" cy="1325563"/>
          </a:xfrm>
        </p:spPr>
        <p:txBody>
          <a:bodyPr>
            <a:normAutofit/>
          </a:bodyPr>
          <a:lstStyle/>
          <a:p>
            <a:r>
              <a:rPr lang="en-US" sz="4000" dirty="0">
                <a:latin typeface="Candara" panose="020E0502030303020204" pitchFamily="34" charset="0"/>
              </a:rPr>
              <a:t>Modifications amenable to group-based techniques</a:t>
            </a:r>
            <a:endParaRPr lang="en-US" sz="4000" dirty="0">
              <a:solidFill>
                <a:srgbClr val="C00000"/>
              </a:solidFill>
              <a:latin typeface="Candara" panose="020E0502030303020204" pitchFamily="34" charset="0"/>
            </a:endParaRPr>
          </a:p>
        </p:txBody>
      </p:sp>
      <p:grpSp>
        <p:nvGrpSpPr>
          <p:cNvPr id="18" name="Group 17">
            <a:extLst>
              <a:ext uri="{FF2B5EF4-FFF2-40B4-BE49-F238E27FC236}">
                <a16:creationId xmlns:a16="http://schemas.microsoft.com/office/drawing/2014/main" id="{561DB07D-9D15-FB11-F028-4486FED37F81}"/>
              </a:ext>
            </a:extLst>
          </p:cNvPr>
          <p:cNvGrpSpPr/>
          <p:nvPr/>
        </p:nvGrpSpPr>
        <p:grpSpPr>
          <a:xfrm>
            <a:off x="281940" y="4284196"/>
            <a:ext cx="2080260" cy="472440"/>
            <a:chOff x="381000" y="4480560"/>
            <a:chExt cx="2080260" cy="472440"/>
          </a:xfrm>
        </p:grpSpPr>
        <p:sp>
          <p:nvSpPr>
            <p:cNvPr id="13" name="Rectangle 12">
              <a:extLst>
                <a:ext uri="{FF2B5EF4-FFF2-40B4-BE49-F238E27FC236}">
                  <a16:creationId xmlns:a16="http://schemas.microsoft.com/office/drawing/2014/main" id="{DEF89D09-956D-0B9C-8DAA-2063C53A722D}"/>
                </a:ext>
              </a:extLst>
            </p:cNvPr>
            <p:cNvSpPr/>
            <p:nvPr/>
          </p:nvSpPr>
          <p:spPr>
            <a:xfrm>
              <a:off x="381000" y="4480560"/>
              <a:ext cx="472440" cy="47244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B996557-DD07-A14D-3E00-0202B4260957}"/>
                </a:ext>
              </a:extLst>
            </p:cNvPr>
            <p:cNvSpPr/>
            <p:nvPr/>
          </p:nvSpPr>
          <p:spPr>
            <a:xfrm>
              <a:off x="906780" y="4480560"/>
              <a:ext cx="472440" cy="47244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ECA0B39-F91A-6F12-68C9-F15D1B22ACE4}"/>
                </a:ext>
              </a:extLst>
            </p:cNvPr>
            <p:cNvSpPr/>
            <p:nvPr/>
          </p:nvSpPr>
          <p:spPr>
            <a:xfrm>
              <a:off x="1447800" y="4480560"/>
              <a:ext cx="472440" cy="47244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5222A4D-F248-B392-2458-71538C1E0ED8}"/>
                </a:ext>
              </a:extLst>
            </p:cNvPr>
            <p:cNvSpPr/>
            <p:nvPr/>
          </p:nvSpPr>
          <p:spPr>
            <a:xfrm>
              <a:off x="1988820" y="4480560"/>
              <a:ext cx="472440" cy="47244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63FD0877-1098-6E00-9598-086251CA79CF}"/>
              </a:ext>
            </a:extLst>
          </p:cNvPr>
          <p:cNvGrpSpPr/>
          <p:nvPr/>
        </p:nvGrpSpPr>
        <p:grpSpPr>
          <a:xfrm>
            <a:off x="3390900" y="4284196"/>
            <a:ext cx="2080260" cy="472440"/>
            <a:chOff x="381000" y="4480560"/>
            <a:chExt cx="2080260" cy="472440"/>
          </a:xfrm>
        </p:grpSpPr>
        <p:sp>
          <p:nvSpPr>
            <p:cNvPr id="20" name="Rectangle 19">
              <a:extLst>
                <a:ext uri="{FF2B5EF4-FFF2-40B4-BE49-F238E27FC236}">
                  <a16:creationId xmlns:a16="http://schemas.microsoft.com/office/drawing/2014/main" id="{42CB0BA6-4CCC-9CB0-DFA0-E5A9BDFDDCE6}"/>
                </a:ext>
              </a:extLst>
            </p:cNvPr>
            <p:cNvSpPr/>
            <p:nvPr/>
          </p:nvSpPr>
          <p:spPr>
            <a:xfrm>
              <a:off x="381000" y="4480560"/>
              <a:ext cx="472440" cy="47244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1362304-9D14-B868-F355-6FD52ACCBC6E}"/>
                </a:ext>
              </a:extLst>
            </p:cNvPr>
            <p:cNvSpPr/>
            <p:nvPr/>
          </p:nvSpPr>
          <p:spPr>
            <a:xfrm>
              <a:off x="906780" y="4480560"/>
              <a:ext cx="472440" cy="47244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65F7C78-111E-8E0E-1B8D-2B48AF5975B0}"/>
                </a:ext>
              </a:extLst>
            </p:cNvPr>
            <p:cNvSpPr/>
            <p:nvPr/>
          </p:nvSpPr>
          <p:spPr>
            <a:xfrm>
              <a:off x="1447800" y="4480560"/>
              <a:ext cx="472440" cy="47244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DEFC516-3D3C-0389-93C9-EA973CDDC873}"/>
                </a:ext>
              </a:extLst>
            </p:cNvPr>
            <p:cNvSpPr/>
            <p:nvPr/>
          </p:nvSpPr>
          <p:spPr>
            <a:xfrm>
              <a:off x="1988820" y="4480560"/>
              <a:ext cx="472440" cy="47244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CD21B355-0A35-C418-1D63-149C0E539E0F}"/>
                  </a:ext>
                </a:extLst>
              </p:cNvPr>
              <p:cNvSpPr txBox="1"/>
              <p:nvPr/>
            </p:nvSpPr>
            <p:spPr>
              <a:xfrm>
                <a:off x="3615201" y="1641561"/>
                <a:ext cx="1709122" cy="4901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𝑖𝑛𝑝𝑢𝑡</m:t>
                      </m:r>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ea typeface="Cambria Math" panose="02040503050406030204" pitchFamily="18" charset="0"/>
                            </a:rPr>
                          </m:ctrlPr>
                        </m:sSubPr>
                        <m:e>
                          <m:r>
                            <a:rPr lang="en-US" sz="2400" b="0" i="1" dirty="0" smtClean="0">
                              <a:latin typeface="Cambria Math" panose="02040503050406030204" pitchFamily="18" charset="0"/>
                              <a:ea typeface="Cambria Math" panose="02040503050406030204" pitchFamily="18" charset="0"/>
                            </a:rPr>
                            <m:t>ℤ</m:t>
                          </m:r>
                        </m:e>
                        <m:sub>
                          <m:r>
                            <a:rPr lang="en-US" sz="2400" b="0" i="1" dirty="0" smtClean="0">
                              <a:latin typeface="Cambria Math" panose="02040503050406030204" pitchFamily="18" charset="0"/>
                              <a:ea typeface="Cambria Math" panose="02040503050406030204" pitchFamily="18" charset="0"/>
                            </a:rPr>
                            <m:t>𝑝</m:t>
                          </m:r>
                        </m:sub>
                      </m:sSub>
                    </m:oMath>
                  </m:oMathPara>
                </a14:m>
                <a:endParaRPr lang="en-US" sz="2400" dirty="0"/>
              </a:p>
            </p:txBody>
          </p:sp>
        </mc:Choice>
        <mc:Fallback xmlns="">
          <p:sp>
            <p:nvSpPr>
              <p:cNvPr id="24" name="TextBox 23">
                <a:extLst>
                  <a:ext uri="{FF2B5EF4-FFF2-40B4-BE49-F238E27FC236}">
                    <a16:creationId xmlns:a16="http://schemas.microsoft.com/office/drawing/2014/main" id="{CD21B355-0A35-C418-1D63-149C0E539E0F}"/>
                  </a:ext>
                </a:extLst>
              </p:cNvPr>
              <p:cNvSpPr txBox="1">
                <a:spLocks noRot="1" noChangeAspect="1" noMove="1" noResize="1" noEditPoints="1" noAdjustHandles="1" noChangeArrowheads="1" noChangeShapeType="1" noTextEdit="1"/>
              </p:cNvSpPr>
              <p:nvPr/>
            </p:nvSpPr>
            <p:spPr>
              <a:xfrm>
                <a:off x="3615201" y="1641561"/>
                <a:ext cx="1709122" cy="490199"/>
              </a:xfrm>
              <a:prstGeom prst="rect">
                <a:avLst/>
              </a:prstGeom>
              <a:blipFill>
                <a:blip r:embed="rId3"/>
                <a:stretch>
                  <a:fillRect b="-102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A4735608-5BF9-EDB5-31BF-43CEFA641086}"/>
                  </a:ext>
                </a:extLst>
              </p:cNvPr>
              <p:cNvSpPr txBox="1"/>
              <p:nvPr/>
            </p:nvSpPr>
            <p:spPr>
              <a:xfrm>
                <a:off x="3477294" y="6302785"/>
                <a:ext cx="1896673" cy="4901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𝑜𝑢𝑡𝑝𝑢𝑡</m:t>
                      </m:r>
                      <m:r>
                        <a:rPr lang="en-US" sz="2400" b="0" i="1" dirty="0" smtClean="0">
                          <a:latin typeface="Cambria Math" panose="02040503050406030204" pitchFamily="18" charset="0"/>
                        </a:rPr>
                        <m:t>∈</m:t>
                      </m:r>
                      <m:sSub>
                        <m:sSubPr>
                          <m:ctrlPr>
                            <a:rPr lang="en-US" sz="2400" i="1" dirty="0">
                              <a:latin typeface="Cambria Math" panose="02040503050406030204" pitchFamily="18" charset="0"/>
                              <a:ea typeface="Cambria Math" panose="02040503050406030204" pitchFamily="18" charset="0"/>
                            </a:rPr>
                          </m:ctrlPr>
                        </m:sSubPr>
                        <m:e>
                          <m:r>
                            <a:rPr lang="en-US" sz="2400" i="1" dirty="0">
                              <a:latin typeface="Cambria Math" panose="02040503050406030204" pitchFamily="18" charset="0"/>
                              <a:ea typeface="Cambria Math" panose="02040503050406030204" pitchFamily="18" charset="0"/>
                            </a:rPr>
                            <m:t>ℤ</m:t>
                          </m:r>
                        </m:e>
                        <m:sub>
                          <m:r>
                            <a:rPr lang="en-US" sz="2400" i="1" dirty="0">
                              <a:latin typeface="Cambria Math" panose="02040503050406030204" pitchFamily="18" charset="0"/>
                              <a:ea typeface="Cambria Math" panose="02040503050406030204" pitchFamily="18" charset="0"/>
                            </a:rPr>
                            <m:t>𝑝</m:t>
                          </m:r>
                        </m:sub>
                      </m:sSub>
                    </m:oMath>
                  </m:oMathPara>
                </a14:m>
                <a:endParaRPr lang="en-US" sz="2400" dirty="0"/>
              </a:p>
            </p:txBody>
          </p:sp>
        </mc:Choice>
        <mc:Fallback xmlns="">
          <p:sp>
            <p:nvSpPr>
              <p:cNvPr id="25" name="TextBox 24">
                <a:extLst>
                  <a:ext uri="{FF2B5EF4-FFF2-40B4-BE49-F238E27FC236}">
                    <a16:creationId xmlns:a16="http://schemas.microsoft.com/office/drawing/2014/main" id="{A4735608-5BF9-EDB5-31BF-43CEFA641086}"/>
                  </a:ext>
                </a:extLst>
              </p:cNvPr>
              <p:cNvSpPr txBox="1">
                <a:spLocks noRot="1" noChangeAspect="1" noMove="1" noResize="1" noEditPoints="1" noAdjustHandles="1" noChangeArrowheads="1" noChangeShapeType="1" noTextEdit="1"/>
              </p:cNvSpPr>
              <p:nvPr/>
            </p:nvSpPr>
            <p:spPr>
              <a:xfrm>
                <a:off x="3477294" y="6302785"/>
                <a:ext cx="1896673" cy="490199"/>
              </a:xfrm>
              <a:prstGeom prst="rect">
                <a:avLst/>
              </a:prstGeom>
              <a:blipFill>
                <a:blip r:embed="rId4"/>
                <a:stretch>
                  <a:fillRect b="-7692"/>
                </a:stretch>
              </a:blipFill>
            </p:spPr>
            <p:txBody>
              <a:bodyPr/>
              <a:lstStyle/>
              <a:p>
                <a:r>
                  <a:rPr lang="en-US">
                    <a:noFill/>
                  </a:rPr>
                  <a:t> </a:t>
                </a:r>
              </a:p>
            </p:txBody>
          </p:sp>
        </mc:Fallback>
      </mc:AlternateContent>
      <p:pic>
        <p:nvPicPr>
          <p:cNvPr id="27" name="Graphic 26" descr="Badge Follow with solid fill">
            <a:extLst>
              <a:ext uri="{FF2B5EF4-FFF2-40B4-BE49-F238E27FC236}">
                <a16:creationId xmlns:a16="http://schemas.microsoft.com/office/drawing/2014/main" id="{BC174EC7-8E59-EA64-1B90-6F31CCF1D40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005423" y="5630826"/>
            <a:ext cx="727252" cy="727252"/>
          </a:xfrm>
          <a:prstGeom prst="rect">
            <a:avLst/>
          </a:prstGeom>
        </p:spPr>
      </p:pic>
      <p:grpSp>
        <p:nvGrpSpPr>
          <p:cNvPr id="30" name="Group 29">
            <a:extLst>
              <a:ext uri="{FF2B5EF4-FFF2-40B4-BE49-F238E27FC236}">
                <a16:creationId xmlns:a16="http://schemas.microsoft.com/office/drawing/2014/main" id="{E45A0A40-77BC-8655-2FEC-729D6B4E5DE8}"/>
              </a:ext>
            </a:extLst>
          </p:cNvPr>
          <p:cNvGrpSpPr/>
          <p:nvPr/>
        </p:nvGrpSpPr>
        <p:grpSpPr>
          <a:xfrm>
            <a:off x="3947160" y="2656339"/>
            <a:ext cx="868680" cy="642742"/>
            <a:chOff x="3947160" y="2656339"/>
            <a:chExt cx="868680" cy="642742"/>
          </a:xfrm>
        </p:grpSpPr>
        <p:sp>
          <p:nvSpPr>
            <p:cNvPr id="8" name="Trapezoid 7">
              <a:extLst>
                <a:ext uri="{FF2B5EF4-FFF2-40B4-BE49-F238E27FC236}">
                  <a16:creationId xmlns:a16="http://schemas.microsoft.com/office/drawing/2014/main" id="{9F36380C-D8F7-7AF9-32E8-6574B26937A8}"/>
                </a:ext>
              </a:extLst>
            </p:cNvPr>
            <p:cNvSpPr/>
            <p:nvPr/>
          </p:nvSpPr>
          <p:spPr>
            <a:xfrm flipV="1">
              <a:off x="3947160" y="2656339"/>
              <a:ext cx="868680" cy="642742"/>
            </a:xfrm>
            <a:prstGeom prst="trapezoid">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BE609014-71BF-8E7C-9B1F-F1BDE3AB53D4}"/>
                    </a:ext>
                  </a:extLst>
                </p:cNvPr>
                <p:cNvSpPr txBox="1"/>
                <p:nvPr/>
              </p:nvSpPr>
              <p:spPr>
                <a:xfrm>
                  <a:off x="4152900" y="2782458"/>
                  <a:ext cx="516423"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𝑓</m:t>
                            </m:r>
                          </m:e>
                          <m:sub>
                            <m:r>
                              <a:rPr lang="en-US" sz="2400" b="0" i="1" dirty="0" smtClean="0">
                                <a:latin typeface="Cambria Math" panose="02040503050406030204" pitchFamily="18" charset="0"/>
                              </a:rPr>
                              <m:t>2</m:t>
                            </m:r>
                          </m:sub>
                        </m:sSub>
                      </m:oMath>
                    </m:oMathPara>
                  </a14:m>
                  <a:endParaRPr lang="en-US" sz="2400" dirty="0"/>
                </a:p>
              </p:txBody>
            </p:sp>
          </mc:Choice>
          <mc:Fallback xmlns="">
            <p:sp>
              <p:nvSpPr>
                <p:cNvPr id="28" name="TextBox 27">
                  <a:extLst>
                    <a:ext uri="{FF2B5EF4-FFF2-40B4-BE49-F238E27FC236}">
                      <a16:creationId xmlns:a16="http://schemas.microsoft.com/office/drawing/2014/main" id="{BE609014-71BF-8E7C-9B1F-F1BDE3AB53D4}"/>
                    </a:ext>
                  </a:extLst>
                </p:cNvPr>
                <p:cNvSpPr txBox="1">
                  <a:spLocks noRot="1" noChangeAspect="1" noMove="1" noResize="1" noEditPoints="1" noAdjustHandles="1" noChangeArrowheads="1" noChangeShapeType="1" noTextEdit="1"/>
                </p:cNvSpPr>
                <p:nvPr/>
              </p:nvSpPr>
              <p:spPr>
                <a:xfrm>
                  <a:off x="4152900" y="2782458"/>
                  <a:ext cx="516423" cy="461665"/>
                </a:xfrm>
                <a:prstGeom prst="rect">
                  <a:avLst/>
                </a:prstGeom>
                <a:blipFill>
                  <a:blip r:embed="rId7"/>
                  <a:stretch>
                    <a:fillRect l="-2381" b="-18421"/>
                  </a:stretch>
                </a:blipFill>
              </p:spPr>
              <p:txBody>
                <a:bodyPr/>
                <a:lstStyle/>
                <a:p>
                  <a:r>
                    <a:rPr lang="en-US">
                      <a:noFill/>
                    </a:rPr>
                    <a:t> </a:t>
                  </a:r>
                </a:p>
              </p:txBody>
            </p:sp>
          </mc:Fallback>
        </mc:AlternateContent>
      </p:grpSp>
      <p:grpSp>
        <p:nvGrpSpPr>
          <p:cNvPr id="31" name="Group 30">
            <a:extLst>
              <a:ext uri="{FF2B5EF4-FFF2-40B4-BE49-F238E27FC236}">
                <a16:creationId xmlns:a16="http://schemas.microsoft.com/office/drawing/2014/main" id="{A92F1D42-7E38-572E-7478-67DC3E9C8C0C}"/>
              </a:ext>
            </a:extLst>
          </p:cNvPr>
          <p:cNvGrpSpPr/>
          <p:nvPr/>
        </p:nvGrpSpPr>
        <p:grpSpPr>
          <a:xfrm>
            <a:off x="1021080" y="2655272"/>
            <a:ext cx="868680" cy="642742"/>
            <a:chOff x="1021080" y="2655272"/>
            <a:chExt cx="868680" cy="642742"/>
          </a:xfrm>
        </p:grpSpPr>
        <p:sp>
          <p:nvSpPr>
            <p:cNvPr id="4" name="Trapezoid 3">
              <a:extLst>
                <a:ext uri="{FF2B5EF4-FFF2-40B4-BE49-F238E27FC236}">
                  <a16:creationId xmlns:a16="http://schemas.microsoft.com/office/drawing/2014/main" id="{EAAEAB64-068E-739C-2788-D97CD3A40808}"/>
                </a:ext>
              </a:extLst>
            </p:cNvPr>
            <p:cNvSpPr/>
            <p:nvPr/>
          </p:nvSpPr>
          <p:spPr>
            <a:xfrm flipV="1">
              <a:off x="1021080" y="2655272"/>
              <a:ext cx="868680" cy="642742"/>
            </a:xfrm>
            <a:prstGeom prst="trapezoid">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4DE3FA56-1603-34BA-CFAD-7C04E4F92FC5}"/>
                    </a:ext>
                  </a:extLst>
                </p:cNvPr>
                <p:cNvSpPr txBox="1"/>
                <p:nvPr/>
              </p:nvSpPr>
              <p:spPr>
                <a:xfrm>
                  <a:off x="1249170" y="2791977"/>
                  <a:ext cx="50930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𝑓</m:t>
                            </m:r>
                          </m:e>
                          <m:sub>
                            <m:r>
                              <a:rPr lang="en-US" sz="2400" i="1" dirty="0">
                                <a:latin typeface="Cambria Math" panose="02040503050406030204" pitchFamily="18" charset="0"/>
                              </a:rPr>
                              <m:t>1</m:t>
                            </m:r>
                          </m:sub>
                        </m:sSub>
                      </m:oMath>
                    </m:oMathPara>
                  </a14:m>
                  <a:endParaRPr lang="en-US" sz="2400" dirty="0"/>
                </a:p>
              </p:txBody>
            </p:sp>
          </mc:Choice>
          <mc:Fallback xmlns="">
            <p:sp>
              <p:nvSpPr>
                <p:cNvPr id="29" name="TextBox 28">
                  <a:extLst>
                    <a:ext uri="{FF2B5EF4-FFF2-40B4-BE49-F238E27FC236}">
                      <a16:creationId xmlns:a16="http://schemas.microsoft.com/office/drawing/2014/main" id="{4DE3FA56-1603-34BA-CFAD-7C04E4F92FC5}"/>
                    </a:ext>
                  </a:extLst>
                </p:cNvPr>
                <p:cNvSpPr txBox="1">
                  <a:spLocks noRot="1" noChangeAspect="1" noMove="1" noResize="1" noEditPoints="1" noAdjustHandles="1" noChangeArrowheads="1" noChangeShapeType="1" noTextEdit="1"/>
                </p:cNvSpPr>
                <p:nvPr/>
              </p:nvSpPr>
              <p:spPr>
                <a:xfrm>
                  <a:off x="1249170" y="2791977"/>
                  <a:ext cx="509306" cy="461665"/>
                </a:xfrm>
                <a:prstGeom prst="rect">
                  <a:avLst/>
                </a:prstGeom>
                <a:blipFill>
                  <a:blip r:embed="rId8"/>
                  <a:stretch>
                    <a:fillRect l="-4878" b="-15789"/>
                  </a:stretch>
                </a:blipFill>
              </p:spPr>
              <p:txBody>
                <a:bodyPr/>
                <a:lstStyle/>
                <a:p>
                  <a:r>
                    <a:rPr lang="en-US">
                      <a:noFill/>
                    </a:rPr>
                    <a:t> </a:t>
                  </a:r>
                </a:p>
              </p:txBody>
            </p:sp>
          </mc:Fallback>
        </mc:AlternateContent>
      </p:grpSp>
      <p:grpSp>
        <p:nvGrpSpPr>
          <p:cNvPr id="32" name="Group 31">
            <a:extLst>
              <a:ext uri="{FF2B5EF4-FFF2-40B4-BE49-F238E27FC236}">
                <a16:creationId xmlns:a16="http://schemas.microsoft.com/office/drawing/2014/main" id="{0FFC7172-49C7-C6C6-FEDD-933C1AC722B3}"/>
              </a:ext>
            </a:extLst>
          </p:cNvPr>
          <p:cNvGrpSpPr/>
          <p:nvPr/>
        </p:nvGrpSpPr>
        <p:grpSpPr>
          <a:xfrm>
            <a:off x="6873240" y="2645753"/>
            <a:ext cx="868680" cy="642742"/>
            <a:chOff x="1021080" y="2655272"/>
            <a:chExt cx="868680" cy="642742"/>
          </a:xfrm>
        </p:grpSpPr>
        <p:sp>
          <p:nvSpPr>
            <p:cNvPr id="33" name="Trapezoid 32">
              <a:extLst>
                <a:ext uri="{FF2B5EF4-FFF2-40B4-BE49-F238E27FC236}">
                  <a16:creationId xmlns:a16="http://schemas.microsoft.com/office/drawing/2014/main" id="{237337A1-E73F-E461-3CA2-253773230352}"/>
                </a:ext>
              </a:extLst>
            </p:cNvPr>
            <p:cNvSpPr/>
            <p:nvPr/>
          </p:nvSpPr>
          <p:spPr>
            <a:xfrm flipV="1">
              <a:off x="1021080" y="2655272"/>
              <a:ext cx="868680" cy="642742"/>
            </a:xfrm>
            <a:prstGeom prst="trapezoid">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70E2767B-42F2-222A-B02E-BDB3CECF07FB}"/>
                    </a:ext>
                  </a:extLst>
                </p:cNvPr>
                <p:cNvSpPr txBox="1"/>
                <p:nvPr/>
              </p:nvSpPr>
              <p:spPr>
                <a:xfrm>
                  <a:off x="1249170" y="2791977"/>
                  <a:ext cx="444801"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𝑔</m:t>
                        </m:r>
                      </m:oMath>
                    </m:oMathPara>
                  </a14:m>
                  <a:endParaRPr lang="en-US" sz="2400" dirty="0"/>
                </a:p>
              </p:txBody>
            </p:sp>
          </mc:Choice>
          <mc:Fallback xmlns="">
            <p:sp>
              <p:nvSpPr>
                <p:cNvPr id="34" name="TextBox 33">
                  <a:extLst>
                    <a:ext uri="{FF2B5EF4-FFF2-40B4-BE49-F238E27FC236}">
                      <a16:creationId xmlns:a16="http://schemas.microsoft.com/office/drawing/2014/main" id="{70E2767B-42F2-222A-B02E-BDB3CECF07FB}"/>
                    </a:ext>
                  </a:extLst>
                </p:cNvPr>
                <p:cNvSpPr txBox="1">
                  <a:spLocks noRot="1" noChangeAspect="1" noMove="1" noResize="1" noEditPoints="1" noAdjustHandles="1" noChangeArrowheads="1" noChangeShapeType="1" noTextEdit="1"/>
                </p:cNvSpPr>
                <p:nvPr/>
              </p:nvSpPr>
              <p:spPr>
                <a:xfrm>
                  <a:off x="1249170" y="2791977"/>
                  <a:ext cx="444801" cy="461665"/>
                </a:xfrm>
                <a:prstGeom prst="rect">
                  <a:avLst/>
                </a:prstGeom>
                <a:blipFill>
                  <a:blip r:embed="rId9"/>
                  <a:stretch>
                    <a:fillRect b="-7895"/>
                  </a:stretch>
                </a:blipFill>
              </p:spPr>
              <p:txBody>
                <a:bodyPr/>
                <a:lstStyle/>
                <a:p>
                  <a:r>
                    <a:rPr lang="en-US">
                      <a:noFill/>
                    </a:rPr>
                    <a:t> </a:t>
                  </a:r>
                </a:p>
              </p:txBody>
            </p:sp>
          </mc:Fallback>
        </mc:AlternateContent>
      </p:grpSp>
      <p:cxnSp>
        <p:nvCxnSpPr>
          <p:cNvPr id="36" name="Straight Arrow Connector 35">
            <a:extLst>
              <a:ext uri="{FF2B5EF4-FFF2-40B4-BE49-F238E27FC236}">
                <a16:creationId xmlns:a16="http://schemas.microsoft.com/office/drawing/2014/main" id="{8351C9DD-64E5-8CB6-2F55-AF186A450233}"/>
              </a:ext>
            </a:extLst>
          </p:cNvPr>
          <p:cNvCxnSpPr>
            <a:endCxn id="4" idx="2"/>
          </p:cNvCxnSpPr>
          <p:nvPr/>
        </p:nvCxnSpPr>
        <p:spPr>
          <a:xfrm flipH="1">
            <a:off x="1455420" y="1996440"/>
            <a:ext cx="1935480" cy="658832"/>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958119FB-DD0F-8765-15C0-3D2BDC8D4062}"/>
              </a:ext>
            </a:extLst>
          </p:cNvPr>
          <p:cNvCxnSpPr>
            <a:cxnSpLocks/>
            <a:endCxn id="33" idx="2"/>
          </p:cNvCxnSpPr>
          <p:nvPr/>
        </p:nvCxnSpPr>
        <p:spPr>
          <a:xfrm>
            <a:off x="5234940" y="1960485"/>
            <a:ext cx="2072640" cy="685268"/>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90D988A9-F5BE-EAA3-F705-44892E8E0110}"/>
              </a:ext>
            </a:extLst>
          </p:cNvPr>
          <p:cNvCxnSpPr>
            <a:cxnSpLocks/>
            <a:stCxn id="24" idx="2"/>
            <a:endCxn id="8" idx="2"/>
          </p:cNvCxnSpPr>
          <p:nvPr/>
        </p:nvCxnSpPr>
        <p:spPr>
          <a:xfrm flipH="1">
            <a:off x="4381500" y="2131760"/>
            <a:ext cx="88262" cy="524579"/>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45" name="Arc 44">
            <a:extLst>
              <a:ext uri="{FF2B5EF4-FFF2-40B4-BE49-F238E27FC236}">
                <a16:creationId xmlns:a16="http://schemas.microsoft.com/office/drawing/2014/main" id="{B6E6EDAE-4849-40E6-EE52-ACC9270880DC}"/>
              </a:ext>
            </a:extLst>
          </p:cNvPr>
          <p:cNvSpPr/>
          <p:nvPr/>
        </p:nvSpPr>
        <p:spPr>
          <a:xfrm rot="5189967">
            <a:off x="3356287" y="1930897"/>
            <a:ext cx="4076700" cy="3889497"/>
          </a:xfrm>
          <a:prstGeom prst="arc">
            <a:avLst>
              <a:gd name="adj1" fmla="val 15673076"/>
              <a:gd name="adj2" fmla="val 507315"/>
            </a:avLst>
          </a:prstGeom>
          <a:ln w="38100">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6" name="Arc 45">
            <a:extLst>
              <a:ext uri="{FF2B5EF4-FFF2-40B4-BE49-F238E27FC236}">
                <a16:creationId xmlns:a16="http://schemas.microsoft.com/office/drawing/2014/main" id="{37F16C6A-5442-0091-3F10-0B888A625D8A}"/>
              </a:ext>
            </a:extLst>
          </p:cNvPr>
          <p:cNvSpPr/>
          <p:nvPr/>
        </p:nvSpPr>
        <p:spPr>
          <a:xfrm rot="4477798" flipV="1">
            <a:off x="1665533" y="3205293"/>
            <a:ext cx="2595669" cy="3219102"/>
          </a:xfrm>
          <a:prstGeom prst="arc">
            <a:avLst>
              <a:gd name="adj1" fmla="val 15673076"/>
              <a:gd name="adj2" fmla="val 507315"/>
            </a:avLst>
          </a:prstGeom>
          <a:ln w="38100">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47" name="Straight Arrow Connector 46">
            <a:extLst>
              <a:ext uri="{FF2B5EF4-FFF2-40B4-BE49-F238E27FC236}">
                <a16:creationId xmlns:a16="http://schemas.microsoft.com/office/drawing/2014/main" id="{AE6E35EE-3DA7-8095-1D61-7EF69C9C48FE}"/>
              </a:ext>
            </a:extLst>
          </p:cNvPr>
          <p:cNvCxnSpPr>
            <a:cxnSpLocks/>
          </p:cNvCxnSpPr>
          <p:nvPr/>
        </p:nvCxnSpPr>
        <p:spPr>
          <a:xfrm>
            <a:off x="4369049" y="4814844"/>
            <a:ext cx="0" cy="801613"/>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168435A2-427D-66A1-A4AF-2CC73682AB4B}"/>
                  </a:ext>
                </a:extLst>
              </p:cNvPr>
              <p:cNvSpPr txBox="1"/>
              <p:nvPr/>
            </p:nvSpPr>
            <p:spPr>
              <a:xfrm>
                <a:off x="2436881" y="4267960"/>
                <a:ext cx="53713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𝑇</m:t>
                          </m:r>
                        </m:e>
                        <m:sub>
                          <m:r>
                            <a:rPr lang="en-US" sz="2400" i="1" dirty="0" smtClean="0">
                              <a:latin typeface="Cambria Math" panose="02040503050406030204" pitchFamily="18" charset="0"/>
                            </a:rPr>
                            <m:t>1</m:t>
                          </m:r>
                        </m:sub>
                      </m:sSub>
                    </m:oMath>
                  </m:oMathPara>
                </a14:m>
                <a:endParaRPr/>
              </a:p>
            </p:txBody>
          </p:sp>
        </mc:Choice>
        <mc:Fallback xmlns="">
          <p:sp>
            <p:nvSpPr>
              <p:cNvPr id="49" name="TextBox 48">
                <a:extLst>
                  <a:ext uri="{FF2B5EF4-FFF2-40B4-BE49-F238E27FC236}">
                    <a16:creationId xmlns:a16="http://schemas.microsoft.com/office/drawing/2014/main" id="{168435A2-427D-66A1-A4AF-2CC73682AB4B}"/>
                  </a:ext>
                </a:extLst>
              </p:cNvPr>
              <p:cNvSpPr txBox="1">
                <a:spLocks noRot="1" noChangeAspect="1" noMove="1" noResize="1" noEditPoints="1" noAdjustHandles="1" noChangeArrowheads="1" noChangeShapeType="1" noTextEdit="1"/>
              </p:cNvSpPr>
              <p:nvPr/>
            </p:nvSpPr>
            <p:spPr>
              <a:xfrm>
                <a:off x="2436881" y="4267960"/>
                <a:ext cx="537134" cy="461665"/>
              </a:xfrm>
              <a:prstGeom prst="rect">
                <a:avLst/>
              </a:prstGeom>
              <a:blipFill>
                <a:blip r:embed="rId10"/>
                <a:stretch>
                  <a:fillRect t="-10811" r="-23256" b="-270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17C3816E-0932-E00E-4E00-77ECF008084E}"/>
                  </a:ext>
                </a:extLst>
              </p:cNvPr>
              <p:cNvSpPr txBox="1"/>
              <p:nvPr/>
            </p:nvSpPr>
            <p:spPr>
              <a:xfrm>
                <a:off x="5471160" y="4261306"/>
                <a:ext cx="54425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𝑇</m:t>
                          </m:r>
                        </m:e>
                        <m:sub>
                          <m:r>
                            <a:rPr lang="en-US" sz="2400" b="0" i="1" dirty="0" smtClean="0">
                              <a:latin typeface="Cambria Math" panose="02040503050406030204" pitchFamily="18" charset="0"/>
                            </a:rPr>
                            <m:t>2</m:t>
                          </m:r>
                        </m:sub>
                      </m:sSub>
                    </m:oMath>
                  </m:oMathPara>
                </a14:m>
                <a:endParaRPr/>
              </a:p>
            </p:txBody>
          </p:sp>
        </mc:Choice>
        <mc:Fallback xmlns="">
          <p:sp>
            <p:nvSpPr>
              <p:cNvPr id="50" name="TextBox 49">
                <a:extLst>
                  <a:ext uri="{FF2B5EF4-FFF2-40B4-BE49-F238E27FC236}">
                    <a16:creationId xmlns:a16="http://schemas.microsoft.com/office/drawing/2014/main" id="{17C3816E-0932-E00E-4E00-77ECF008084E}"/>
                  </a:ext>
                </a:extLst>
              </p:cNvPr>
              <p:cNvSpPr txBox="1">
                <a:spLocks noRot="1" noChangeAspect="1" noMove="1" noResize="1" noEditPoints="1" noAdjustHandles="1" noChangeArrowheads="1" noChangeShapeType="1" noTextEdit="1"/>
              </p:cNvSpPr>
              <p:nvPr/>
            </p:nvSpPr>
            <p:spPr>
              <a:xfrm>
                <a:off x="5471160" y="4261306"/>
                <a:ext cx="544252" cy="461665"/>
              </a:xfrm>
              <a:prstGeom prst="rect">
                <a:avLst/>
              </a:prstGeom>
              <a:blipFill>
                <a:blip r:embed="rId11"/>
                <a:stretch>
                  <a:fillRect t="-10811" r="-23256" b="-29730"/>
                </a:stretch>
              </a:blipFill>
            </p:spPr>
            <p:txBody>
              <a:bodyPr/>
              <a:lstStyle/>
              <a:p>
                <a:r>
                  <a:rPr lang="en-US">
                    <a:noFill/>
                  </a:rPr>
                  <a:t> </a:t>
                </a:r>
              </a:p>
            </p:txBody>
          </p:sp>
        </mc:Fallback>
      </mc:AlternateContent>
      <p:cxnSp>
        <p:nvCxnSpPr>
          <p:cNvPr id="51" name="Straight Arrow Connector 50">
            <a:extLst>
              <a:ext uri="{FF2B5EF4-FFF2-40B4-BE49-F238E27FC236}">
                <a16:creationId xmlns:a16="http://schemas.microsoft.com/office/drawing/2014/main" id="{F5592F5E-D282-3373-26B9-03A096C13183}"/>
              </a:ext>
            </a:extLst>
          </p:cNvPr>
          <p:cNvCxnSpPr>
            <a:cxnSpLocks/>
          </p:cNvCxnSpPr>
          <p:nvPr/>
        </p:nvCxnSpPr>
        <p:spPr>
          <a:xfrm>
            <a:off x="4369049" y="3304673"/>
            <a:ext cx="20071" cy="868598"/>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05A9DC37-75FD-700E-7F58-FA3ED0913B82}"/>
              </a:ext>
            </a:extLst>
          </p:cNvPr>
          <p:cNvCxnSpPr>
            <a:cxnSpLocks/>
          </p:cNvCxnSpPr>
          <p:nvPr/>
        </p:nvCxnSpPr>
        <p:spPr>
          <a:xfrm>
            <a:off x="1382009" y="3349799"/>
            <a:ext cx="0" cy="890025"/>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3CF67166-9A64-D1AC-18D1-67A81FFC443F}"/>
                  </a:ext>
                </a:extLst>
              </p:cNvPr>
              <p:cNvSpPr txBox="1"/>
              <p:nvPr/>
            </p:nvSpPr>
            <p:spPr>
              <a:xfrm>
                <a:off x="200451" y="6141228"/>
                <a:ext cx="2999283"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smtClean="0">
                              <a:solidFill>
                                <a:srgbClr val="C00000"/>
                              </a:solidFill>
                              <a:latin typeface="Cambria Math" panose="02040503050406030204" pitchFamily="18" charset="0"/>
                            </a:rPr>
                          </m:ctrlPr>
                        </m:sSubPr>
                        <m:e>
                          <m:r>
                            <a:rPr lang="en-US" sz="2400" i="1" dirty="0" smtClean="0">
                              <a:solidFill>
                                <a:srgbClr val="C00000"/>
                              </a:solidFill>
                              <a:latin typeface="Cambria Math" panose="02040503050406030204" pitchFamily="18" charset="0"/>
                            </a:rPr>
                            <m:t>𝑇</m:t>
                          </m:r>
                        </m:e>
                        <m:sub>
                          <m:r>
                            <a:rPr lang="en-US" sz="2400" i="1" dirty="0" smtClean="0">
                              <a:solidFill>
                                <a:srgbClr val="C00000"/>
                              </a:solidFill>
                              <a:latin typeface="Cambria Math" panose="02040503050406030204" pitchFamily="18" charset="0"/>
                            </a:rPr>
                            <m:t>1</m:t>
                          </m:r>
                        </m:sub>
                      </m:sSub>
                      <m:d>
                        <m:dPr>
                          <m:begChr m:val="["/>
                          <m:endChr m:val="]"/>
                          <m:ctrlPr>
                            <a:rPr lang="en-US" sz="2400" b="0" i="1" dirty="0" smtClean="0">
                              <a:solidFill>
                                <a:srgbClr val="C00000"/>
                              </a:solidFill>
                              <a:latin typeface="Cambria Math" panose="02040503050406030204" pitchFamily="18" charset="0"/>
                            </a:rPr>
                          </m:ctrlPr>
                        </m:dPr>
                        <m:e>
                          <m:sSub>
                            <m:sSubPr>
                              <m:ctrlPr>
                                <a:rPr lang="en-US" sz="2400" b="0" i="1" dirty="0" smtClean="0">
                                  <a:solidFill>
                                    <a:srgbClr val="C00000"/>
                                  </a:solidFill>
                                  <a:latin typeface="Cambria Math" panose="02040503050406030204" pitchFamily="18" charset="0"/>
                                </a:rPr>
                              </m:ctrlPr>
                            </m:sSubPr>
                            <m:e>
                              <m:r>
                                <a:rPr lang="en-US" sz="2400" b="0" i="1" dirty="0" smtClean="0">
                                  <a:solidFill>
                                    <a:srgbClr val="C00000"/>
                                  </a:solidFill>
                                  <a:latin typeface="Cambria Math" panose="02040503050406030204" pitchFamily="18" charset="0"/>
                                </a:rPr>
                                <m:t>𝑓</m:t>
                              </m:r>
                            </m:e>
                            <m:sub>
                              <m:r>
                                <a:rPr lang="en-US" sz="2400" b="0" i="1" dirty="0" smtClean="0">
                                  <a:solidFill>
                                    <a:srgbClr val="C00000"/>
                                  </a:solidFill>
                                  <a:latin typeface="Cambria Math" panose="02040503050406030204" pitchFamily="18" charset="0"/>
                                </a:rPr>
                                <m:t>1</m:t>
                              </m:r>
                            </m:sub>
                          </m:sSub>
                          <m:d>
                            <m:dPr>
                              <m:ctrlPr>
                                <a:rPr lang="en-US" sz="2400" b="0" i="1" dirty="0" smtClean="0">
                                  <a:solidFill>
                                    <a:srgbClr val="C00000"/>
                                  </a:solidFill>
                                  <a:latin typeface="Cambria Math" panose="02040503050406030204" pitchFamily="18" charset="0"/>
                                </a:rPr>
                              </m:ctrlPr>
                            </m:dPr>
                            <m:e>
                              <m:r>
                                <a:rPr lang="en-US" sz="2400" b="0" i="1" dirty="0" smtClean="0">
                                  <a:solidFill>
                                    <a:srgbClr val="C00000"/>
                                  </a:solidFill>
                                  <a:latin typeface="Cambria Math" panose="02040503050406030204" pitchFamily="18" charset="0"/>
                                </a:rPr>
                                <m:t>𝑖𝑛𝑝𝑢𝑡</m:t>
                              </m:r>
                            </m:e>
                          </m:d>
                          <m:r>
                            <a:rPr lang="en-US" sz="2400" b="0" i="1" dirty="0" smtClean="0">
                              <a:solidFill>
                                <a:srgbClr val="C00000"/>
                              </a:solidFill>
                              <a:latin typeface="Cambria Math" panose="02040503050406030204" pitchFamily="18" charset="0"/>
                            </a:rPr>
                            <m:t> </m:t>
                          </m:r>
                          <m:r>
                            <m:rPr>
                              <m:sty m:val="p"/>
                            </m:rPr>
                            <a:rPr lang="en-US" sz="2400" b="0" i="1" dirty="0" smtClean="0">
                              <a:solidFill>
                                <a:srgbClr val="C00000"/>
                              </a:solidFill>
                              <a:latin typeface="Cambria Math" panose="02040503050406030204" pitchFamily="18" charset="0"/>
                            </a:rPr>
                            <m:t>mod</m:t>
                          </m:r>
                          <m:r>
                            <a:rPr lang="en-US" sz="2400" b="0" i="1" dirty="0" smtClean="0">
                              <a:solidFill>
                                <a:srgbClr val="C00000"/>
                              </a:solidFill>
                              <a:latin typeface="Cambria Math" panose="02040503050406030204" pitchFamily="18" charset="0"/>
                            </a:rPr>
                            <m:t> </m:t>
                          </m:r>
                          <m:r>
                            <a:rPr lang="en-US" sz="2400" b="0" i="1" dirty="0" smtClean="0">
                              <a:solidFill>
                                <a:srgbClr val="C00000"/>
                              </a:solidFill>
                              <a:latin typeface="Cambria Math" panose="02040503050406030204" pitchFamily="18" charset="0"/>
                            </a:rPr>
                            <m:t>𝑚</m:t>
                          </m:r>
                        </m:e>
                      </m:d>
                    </m:oMath>
                  </m:oMathPara>
                </a14:m>
                <a:endParaRPr/>
              </a:p>
            </p:txBody>
          </p:sp>
        </mc:Choice>
        <mc:Fallback xmlns="">
          <p:sp>
            <p:nvSpPr>
              <p:cNvPr id="55" name="TextBox 54">
                <a:extLst>
                  <a:ext uri="{FF2B5EF4-FFF2-40B4-BE49-F238E27FC236}">
                    <a16:creationId xmlns:a16="http://schemas.microsoft.com/office/drawing/2014/main" id="{3CF67166-9A64-D1AC-18D1-67A81FFC443F}"/>
                  </a:ext>
                </a:extLst>
              </p:cNvPr>
              <p:cNvSpPr txBox="1">
                <a:spLocks noRot="1" noChangeAspect="1" noMove="1" noResize="1" noEditPoints="1" noAdjustHandles="1" noChangeArrowheads="1" noChangeShapeType="1" noTextEdit="1"/>
              </p:cNvSpPr>
              <p:nvPr/>
            </p:nvSpPr>
            <p:spPr>
              <a:xfrm>
                <a:off x="200451" y="6141228"/>
                <a:ext cx="2999283" cy="461665"/>
              </a:xfrm>
              <a:prstGeom prst="rect">
                <a:avLst/>
              </a:prstGeom>
              <a:blipFill>
                <a:blip r:embed="rId12"/>
                <a:stretch>
                  <a:fillRect t="-10811" r="-3782" b="-270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5385441C-A7DF-4999-02F8-08F053FFA640}"/>
                  </a:ext>
                </a:extLst>
              </p:cNvPr>
              <p:cNvSpPr txBox="1"/>
              <p:nvPr/>
            </p:nvSpPr>
            <p:spPr>
              <a:xfrm>
                <a:off x="1491928" y="4935887"/>
                <a:ext cx="302037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smtClean="0">
                              <a:solidFill>
                                <a:srgbClr val="C00000"/>
                              </a:solidFill>
                              <a:latin typeface="Cambria Math" panose="02040503050406030204" pitchFamily="18" charset="0"/>
                            </a:rPr>
                          </m:ctrlPr>
                        </m:sSubPr>
                        <m:e>
                          <m:r>
                            <a:rPr lang="en-US" sz="2400" i="1" dirty="0" smtClean="0">
                              <a:solidFill>
                                <a:srgbClr val="C00000"/>
                              </a:solidFill>
                              <a:latin typeface="Cambria Math" panose="02040503050406030204" pitchFamily="18" charset="0"/>
                            </a:rPr>
                            <m:t>𝑇</m:t>
                          </m:r>
                        </m:e>
                        <m:sub>
                          <m:r>
                            <a:rPr lang="en-US" sz="2400" b="0" i="1" dirty="0" smtClean="0">
                              <a:solidFill>
                                <a:srgbClr val="C00000"/>
                              </a:solidFill>
                              <a:latin typeface="Cambria Math" panose="02040503050406030204" pitchFamily="18" charset="0"/>
                            </a:rPr>
                            <m:t>2</m:t>
                          </m:r>
                        </m:sub>
                      </m:sSub>
                      <m:d>
                        <m:dPr>
                          <m:begChr m:val="["/>
                          <m:endChr m:val="]"/>
                          <m:ctrlPr>
                            <a:rPr lang="en-US" sz="2400" b="0" i="1" dirty="0" smtClean="0">
                              <a:solidFill>
                                <a:srgbClr val="C00000"/>
                              </a:solidFill>
                              <a:latin typeface="Cambria Math" panose="02040503050406030204" pitchFamily="18" charset="0"/>
                            </a:rPr>
                          </m:ctrlPr>
                        </m:dPr>
                        <m:e>
                          <m:sSub>
                            <m:sSubPr>
                              <m:ctrlPr>
                                <a:rPr lang="en-US" sz="2400" b="0" i="1" dirty="0" smtClean="0">
                                  <a:solidFill>
                                    <a:srgbClr val="C00000"/>
                                  </a:solidFill>
                                  <a:latin typeface="Cambria Math" panose="02040503050406030204" pitchFamily="18" charset="0"/>
                                </a:rPr>
                              </m:ctrlPr>
                            </m:sSubPr>
                            <m:e>
                              <m:r>
                                <a:rPr lang="en-US" sz="2400" b="0" i="1" dirty="0" smtClean="0">
                                  <a:solidFill>
                                    <a:srgbClr val="C00000"/>
                                  </a:solidFill>
                                  <a:latin typeface="Cambria Math" panose="02040503050406030204" pitchFamily="18" charset="0"/>
                                </a:rPr>
                                <m:t>𝑓</m:t>
                              </m:r>
                            </m:e>
                            <m:sub>
                              <m:r>
                                <a:rPr lang="en-US" sz="2400" b="0" i="1" dirty="0" smtClean="0">
                                  <a:solidFill>
                                    <a:srgbClr val="C00000"/>
                                  </a:solidFill>
                                  <a:latin typeface="Cambria Math" panose="02040503050406030204" pitchFamily="18" charset="0"/>
                                </a:rPr>
                                <m:t>2</m:t>
                              </m:r>
                            </m:sub>
                          </m:sSub>
                          <m:d>
                            <m:dPr>
                              <m:ctrlPr>
                                <a:rPr lang="en-US" sz="2400" b="0" i="1" dirty="0" smtClean="0">
                                  <a:solidFill>
                                    <a:srgbClr val="C00000"/>
                                  </a:solidFill>
                                  <a:latin typeface="Cambria Math" panose="02040503050406030204" pitchFamily="18" charset="0"/>
                                </a:rPr>
                              </m:ctrlPr>
                            </m:dPr>
                            <m:e>
                              <m:r>
                                <a:rPr lang="en-US" sz="2400" b="0" i="1" dirty="0" smtClean="0">
                                  <a:solidFill>
                                    <a:srgbClr val="C00000"/>
                                  </a:solidFill>
                                  <a:latin typeface="Cambria Math" panose="02040503050406030204" pitchFamily="18" charset="0"/>
                                </a:rPr>
                                <m:t>𝑖𝑛𝑝𝑢𝑡</m:t>
                              </m:r>
                            </m:e>
                          </m:d>
                          <m:r>
                            <a:rPr lang="en-US" sz="2400" b="0" i="1" dirty="0" smtClean="0">
                              <a:solidFill>
                                <a:srgbClr val="C00000"/>
                              </a:solidFill>
                              <a:latin typeface="Cambria Math" panose="02040503050406030204" pitchFamily="18" charset="0"/>
                            </a:rPr>
                            <m:t> </m:t>
                          </m:r>
                          <m:r>
                            <m:rPr>
                              <m:sty m:val="p"/>
                            </m:rPr>
                            <a:rPr lang="en-US" sz="2400" i="1" dirty="0">
                              <a:solidFill>
                                <a:srgbClr val="C00000"/>
                              </a:solidFill>
                              <a:latin typeface="Cambria Math" panose="02040503050406030204" pitchFamily="18" charset="0"/>
                            </a:rPr>
                            <m:t>mod</m:t>
                          </m:r>
                          <m:r>
                            <a:rPr lang="en-US" sz="2400" i="1" dirty="0">
                              <a:solidFill>
                                <a:srgbClr val="C00000"/>
                              </a:solidFill>
                              <a:latin typeface="Cambria Math" panose="02040503050406030204" pitchFamily="18" charset="0"/>
                            </a:rPr>
                            <m:t> </m:t>
                          </m:r>
                          <m:r>
                            <a:rPr lang="en-US" sz="2400" i="1" dirty="0">
                              <a:solidFill>
                                <a:srgbClr val="C00000"/>
                              </a:solidFill>
                              <a:latin typeface="Cambria Math" panose="02040503050406030204" pitchFamily="18" charset="0"/>
                            </a:rPr>
                            <m:t>𝑚</m:t>
                          </m:r>
                        </m:e>
                      </m:d>
                    </m:oMath>
                  </m:oMathPara>
                </a14:m>
                <a:endParaRPr/>
              </a:p>
            </p:txBody>
          </p:sp>
        </mc:Choice>
        <mc:Fallback xmlns="">
          <p:sp>
            <p:nvSpPr>
              <p:cNvPr id="56" name="TextBox 55">
                <a:extLst>
                  <a:ext uri="{FF2B5EF4-FFF2-40B4-BE49-F238E27FC236}">
                    <a16:creationId xmlns:a16="http://schemas.microsoft.com/office/drawing/2014/main" id="{5385441C-A7DF-4999-02F8-08F053FFA640}"/>
                  </a:ext>
                </a:extLst>
              </p:cNvPr>
              <p:cNvSpPr txBox="1">
                <a:spLocks noRot="1" noChangeAspect="1" noMove="1" noResize="1" noEditPoints="1" noAdjustHandles="1" noChangeArrowheads="1" noChangeShapeType="1" noTextEdit="1"/>
              </p:cNvSpPr>
              <p:nvPr/>
            </p:nvSpPr>
            <p:spPr>
              <a:xfrm>
                <a:off x="1491928" y="4935887"/>
                <a:ext cx="3020379" cy="461665"/>
              </a:xfrm>
              <a:prstGeom prst="rect">
                <a:avLst/>
              </a:prstGeom>
              <a:blipFill>
                <a:blip r:embed="rId13"/>
                <a:stretch>
                  <a:fillRect t="-10811" r="-3766" b="-270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0F615DC4-072C-00FC-EFA1-D0F655ABB7FE}"/>
                  </a:ext>
                </a:extLst>
              </p:cNvPr>
              <p:cNvSpPr txBox="1"/>
              <p:nvPr/>
            </p:nvSpPr>
            <p:spPr>
              <a:xfrm>
                <a:off x="5231957" y="5144114"/>
                <a:ext cx="1451551"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smtClean="0">
                          <a:solidFill>
                            <a:srgbClr val="C00000"/>
                          </a:solidFill>
                          <a:latin typeface="Cambria Math" panose="02040503050406030204" pitchFamily="18" charset="0"/>
                        </a:rPr>
                        <m:t>𝑔</m:t>
                      </m:r>
                      <m:d>
                        <m:dPr>
                          <m:ctrlPr>
                            <a:rPr lang="en-US" sz="2400" b="0" i="1" dirty="0" smtClean="0">
                              <a:solidFill>
                                <a:srgbClr val="C00000"/>
                              </a:solidFill>
                              <a:latin typeface="Cambria Math" panose="02040503050406030204" pitchFamily="18" charset="0"/>
                            </a:rPr>
                          </m:ctrlPr>
                        </m:dPr>
                        <m:e>
                          <m:r>
                            <a:rPr lang="en-US" sz="2400" b="0" i="1" dirty="0" smtClean="0">
                              <a:solidFill>
                                <a:srgbClr val="C00000"/>
                              </a:solidFill>
                              <a:latin typeface="Cambria Math" panose="02040503050406030204" pitchFamily="18" charset="0"/>
                            </a:rPr>
                            <m:t>𝑖𝑛𝑝𝑢𝑡</m:t>
                          </m:r>
                        </m:e>
                      </m:d>
                    </m:oMath>
                  </m:oMathPara>
                </a14:m>
                <a:endParaRPr/>
              </a:p>
            </p:txBody>
          </p:sp>
        </mc:Choice>
        <mc:Fallback xmlns="">
          <p:sp>
            <p:nvSpPr>
              <p:cNvPr id="57" name="TextBox 56">
                <a:extLst>
                  <a:ext uri="{FF2B5EF4-FFF2-40B4-BE49-F238E27FC236}">
                    <a16:creationId xmlns:a16="http://schemas.microsoft.com/office/drawing/2014/main" id="{0F615DC4-072C-00FC-EFA1-D0F655ABB7FE}"/>
                  </a:ext>
                </a:extLst>
              </p:cNvPr>
              <p:cNvSpPr txBox="1">
                <a:spLocks noRot="1" noChangeAspect="1" noMove="1" noResize="1" noEditPoints="1" noAdjustHandles="1" noChangeArrowheads="1" noChangeShapeType="1" noTextEdit="1"/>
              </p:cNvSpPr>
              <p:nvPr/>
            </p:nvSpPr>
            <p:spPr>
              <a:xfrm>
                <a:off x="5231957" y="5144114"/>
                <a:ext cx="1451551" cy="461665"/>
              </a:xfrm>
              <a:prstGeom prst="rect">
                <a:avLst/>
              </a:prstGeom>
              <a:blipFill>
                <a:blip r:embed="rId14"/>
                <a:stretch>
                  <a:fillRect t="-10811" r="-7759" b="-270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740D8FE7-C75E-791E-1DA9-9A65DD3DDCB7}"/>
                  </a:ext>
                </a:extLst>
              </p:cNvPr>
              <p:cNvSpPr txBox="1"/>
              <p:nvPr/>
            </p:nvSpPr>
            <p:spPr>
              <a:xfrm>
                <a:off x="6500365" y="4138296"/>
                <a:ext cx="5409695" cy="2013175"/>
              </a:xfrm>
              <a:prstGeom prst="wedgeRoundRectCallout">
                <a:avLst>
                  <a:gd name="adj1" fmla="val -59893"/>
                  <a:gd name="adj2" fmla="val -31797"/>
                  <a:gd name="adj3" fmla="val 16667"/>
                </a:avLst>
              </a:prstGeom>
              <a:solidFill>
                <a:schemeClr val="accent6">
                  <a:lumMod val="20000"/>
                  <a:lumOff val="80000"/>
                </a:schemeClr>
              </a:solidFill>
            </p:spPr>
            <p:txBody>
              <a:bodyPr wrap="square" rtlCol="0">
                <a:spAutoFit/>
              </a:bodyPr>
              <a:lstStyle/>
              <a:p>
                <a14:m>
                  <m:oMath xmlns:m="http://schemas.openxmlformats.org/officeDocument/2006/math">
                    <m:sSub>
                      <m:sSubPr>
                        <m:ctrlPr>
                          <a:rPr lang="en-US" sz="2200" i="1" dirty="0" smtClean="0">
                            <a:solidFill>
                              <a:srgbClr val="C00000"/>
                            </a:solidFill>
                            <a:latin typeface="Cambria Math" panose="02040503050406030204" pitchFamily="18" charset="0"/>
                          </a:rPr>
                        </m:ctrlPr>
                      </m:sSubPr>
                      <m:e>
                        <m:r>
                          <a:rPr lang="en-US" sz="2200" i="1" dirty="0" smtClean="0">
                            <a:solidFill>
                              <a:srgbClr val="C00000"/>
                            </a:solidFill>
                            <a:latin typeface="Cambria Math" panose="02040503050406030204" pitchFamily="18" charset="0"/>
                          </a:rPr>
                          <m:t>𝑇</m:t>
                        </m:r>
                      </m:e>
                      <m:sub>
                        <m:r>
                          <a:rPr lang="en-US" sz="2200" i="1" dirty="0" smtClean="0">
                            <a:solidFill>
                              <a:srgbClr val="C00000"/>
                            </a:solidFill>
                            <a:latin typeface="Cambria Math" panose="02040503050406030204" pitchFamily="18" charset="0"/>
                          </a:rPr>
                          <m:t>1</m:t>
                        </m:r>
                      </m:sub>
                    </m:sSub>
                    <m:r>
                      <a:rPr lang="en-US" sz="2200" i="1" dirty="0" smtClean="0">
                        <a:solidFill>
                          <a:srgbClr val="C00000"/>
                        </a:solidFill>
                        <a:latin typeface="Cambria Math" panose="02040503050406030204" pitchFamily="18" charset="0"/>
                      </a:rPr>
                      <m:t>,</m:t>
                    </m:r>
                    <m:sSub>
                      <m:sSubPr>
                        <m:ctrlPr>
                          <a:rPr lang="en-US" sz="2200" i="1" dirty="0" smtClean="0">
                            <a:solidFill>
                              <a:srgbClr val="C00000"/>
                            </a:solidFill>
                            <a:latin typeface="Cambria Math" panose="02040503050406030204" pitchFamily="18" charset="0"/>
                          </a:rPr>
                        </m:ctrlPr>
                      </m:sSubPr>
                      <m:e>
                        <m:r>
                          <a:rPr lang="en-US" sz="2200" i="1" dirty="0" smtClean="0">
                            <a:solidFill>
                              <a:srgbClr val="C00000"/>
                            </a:solidFill>
                            <a:latin typeface="Cambria Math" panose="02040503050406030204" pitchFamily="18" charset="0"/>
                          </a:rPr>
                          <m:t>𝑇</m:t>
                        </m:r>
                      </m:e>
                      <m:sub>
                        <m:r>
                          <a:rPr lang="en-US" sz="2200" i="1" dirty="0">
                            <a:solidFill>
                              <a:srgbClr val="C00000"/>
                            </a:solidFill>
                            <a:latin typeface="Cambria Math" panose="02040503050406030204" pitchFamily="18" charset="0"/>
                          </a:rPr>
                          <m:t>2</m:t>
                        </m:r>
                      </m:sub>
                    </m:sSub>
                    <m:r>
                      <a:rPr lang="en-US" sz="2200" b="0" i="1" dirty="0" smtClean="0">
                        <a:solidFill>
                          <a:srgbClr val="C00000"/>
                        </a:solidFill>
                        <a:latin typeface="Cambria Math" panose="02040503050406030204" pitchFamily="18" charset="0"/>
                      </a:rPr>
                      <m:t>:</m:t>
                    </m:r>
                  </m:oMath>
                </a14:m>
                <a:r>
                  <a:rPr lang="en-US" sz="2200" b="0" dirty="0">
                    <a:solidFill>
                      <a:srgbClr val="C00000"/>
                    </a:solidFill>
                    <a:latin typeface="Cambria Math" panose="02040503050406030204" pitchFamily="18" charset="0"/>
                  </a:rPr>
                  <a:t> Random tables </a:t>
                </a:r>
                <a14:m>
                  <m:oMath xmlns:m="http://schemas.openxmlformats.org/officeDocument/2006/math">
                    <m:sSubSup>
                      <m:sSubSupPr>
                        <m:ctrlPr>
                          <a:rPr lang="en-US" sz="2200" i="1" dirty="0">
                            <a:solidFill>
                              <a:srgbClr val="C00000"/>
                            </a:solidFill>
                            <a:latin typeface="Cambria Math" panose="02040503050406030204" pitchFamily="18" charset="0"/>
                          </a:rPr>
                        </m:ctrlPr>
                      </m:sSubSupPr>
                      <m:e>
                        <m:r>
                          <a:rPr lang="en-US" sz="2200" i="1" dirty="0">
                            <a:solidFill>
                              <a:srgbClr val="C00000"/>
                            </a:solidFill>
                            <a:latin typeface="Cambria Math" panose="02040503050406030204" pitchFamily="18" charset="0"/>
                            <a:ea typeface="Cambria Math" panose="02040503050406030204" pitchFamily="18" charset="0"/>
                          </a:rPr>
                          <m:t>ℤ</m:t>
                        </m:r>
                      </m:e>
                      <m:sub>
                        <m:r>
                          <a:rPr lang="en-US" sz="2200" i="1" dirty="0">
                            <a:solidFill>
                              <a:srgbClr val="C00000"/>
                            </a:solidFill>
                            <a:latin typeface="Cambria Math" panose="02040503050406030204" pitchFamily="18" charset="0"/>
                          </a:rPr>
                          <m:t>𝑝</m:t>
                        </m:r>
                      </m:sub>
                      <m:sup>
                        <m:r>
                          <a:rPr lang="en-US" sz="2200" i="1" dirty="0">
                            <a:solidFill>
                              <a:srgbClr val="C00000"/>
                            </a:solidFill>
                            <a:latin typeface="Cambria Math" panose="02040503050406030204" pitchFamily="18" charset="0"/>
                          </a:rPr>
                          <m:t>𝑚</m:t>
                        </m:r>
                      </m:sup>
                    </m:sSubSup>
                  </m:oMath>
                </a14:m>
                <a:r>
                  <a:rPr lang="en-US" sz="2200" b="0" dirty="0">
                    <a:solidFill>
                      <a:srgbClr val="C00000"/>
                    </a:solidFill>
                    <a:latin typeface="Cambria Math" panose="02040503050406030204" pitchFamily="18" charset="0"/>
                  </a:rPr>
                  <a:t> </a:t>
                </a:r>
                <a:r>
                  <a:rPr lang="en-US" sz="2200" b="0" dirty="0">
                    <a:solidFill>
                      <a:srgbClr val="C00000"/>
                    </a:solidFill>
                    <a:latin typeface="Candara" panose="020E0502030303020204" pitchFamily="34" charset="0"/>
                  </a:rPr>
                  <a:t>with </a:t>
                </a:r>
                <a14:m>
                  <m:oMath xmlns:m="http://schemas.openxmlformats.org/officeDocument/2006/math">
                    <m:r>
                      <a:rPr lang="en-US" sz="2200" i="1" dirty="0">
                        <a:solidFill>
                          <a:srgbClr val="C00000"/>
                        </a:solidFill>
                        <a:latin typeface="Cambria Math" panose="02040503050406030204" pitchFamily="18" charset="0"/>
                      </a:rPr>
                      <m:t>𝑚</m:t>
                    </m:r>
                    <m:r>
                      <a:rPr lang="en-US" sz="2200" b="0" i="1" dirty="0" smtClean="0">
                        <a:solidFill>
                          <a:srgbClr val="C00000"/>
                        </a:solidFill>
                        <a:latin typeface="Cambria Math" panose="02040503050406030204" pitchFamily="18" charset="0"/>
                      </a:rPr>
                      <m:t>=</m:t>
                    </m:r>
                    <m:r>
                      <m:rPr>
                        <m:sty m:val="p"/>
                      </m:rPr>
                      <a:rPr lang="en-US" sz="2200" i="1" dirty="0">
                        <a:solidFill>
                          <a:srgbClr val="C00000"/>
                        </a:solidFill>
                        <a:latin typeface="Cambria Math" panose="02040503050406030204" pitchFamily="18" charset="0"/>
                      </a:rPr>
                      <m:t>Θ</m:t>
                    </m:r>
                    <m:r>
                      <a:rPr lang="en-US" sz="2200" i="1" dirty="0">
                        <a:solidFill>
                          <a:srgbClr val="C00000"/>
                        </a:solidFill>
                        <a:latin typeface="Cambria Math" panose="02040503050406030204" pitchFamily="18" charset="0"/>
                      </a:rPr>
                      <m:t>(</m:t>
                    </m:r>
                    <m:r>
                      <a:rPr lang="en-US" sz="2200" b="0" i="0" dirty="0" smtClean="0">
                        <a:solidFill>
                          <a:srgbClr val="C00000"/>
                        </a:solidFill>
                        <a:latin typeface="Cambria Math" panose="02040503050406030204" pitchFamily="18" charset="0"/>
                      </a:rPr>
                      <m:t>𝑘</m:t>
                    </m:r>
                    <m:r>
                      <a:rPr lang="en-US" sz="2200" dirty="0">
                        <a:solidFill>
                          <a:srgbClr val="C00000"/>
                        </a:solidFill>
                        <a:latin typeface="Cambria Math" panose="02040503050406030204" pitchFamily="18" charset="0"/>
                      </a:rPr>
                      <m:t>)</m:t>
                    </m:r>
                  </m:oMath>
                </a14:m>
                <a:r>
                  <a:rPr lang="en-US" sz="2200" i="1" dirty="0">
                    <a:solidFill>
                      <a:srgbClr val="C00000"/>
                    </a:solidFill>
                    <a:latin typeface="Cambria Math" panose="02040503050406030204" pitchFamily="18" charset="0"/>
                  </a:rPr>
                  <a:t>. </a:t>
                </a:r>
              </a:p>
              <a:p>
                <a:pPr marL="342900" indent="-342900">
                  <a:buFont typeface="Arial" panose="020B0604020202020204" pitchFamily="34" charset="0"/>
                  <a:buChar char="•"/>
                </a:pPr>
                <a:r>
                  <a:rPr lang="en-US" sz="2200" dirty="0">
                    <a:solidFill>
                      <a:srgbClr val="C00000"/>
                    </a:solidFill>
                    <a:latin typeface="Candara" panose="020E0502030303020204" pitchFamily="34" charset="0"/>
                  </a:rPr>
                  <a:t>KZG commit to polynomial </a:t>
                </a:r>
                <a14:m>
                  <m:oMath xmlns:m="http://schemas.openxmlformats.org/officeDocument/2006/math">
                    <m:sSub>
                      <m:sSubPr>
                        <m:ctrlPr>
                          <a:rPr lang="en-US" sz="2200" b="0" i="1" smtClean="0">
                            <a:solidFill>
                              <a:srgbClr val="C00000"/>
                            </a:solidFill>
                            <a:latin typeface="Cambria Math" panose="02040503050406030204" pitchFamily="18" charset="0"/>
                          </a:rPr>
                        </m:ctrlPr>
                      </m:sSubPr>
                      <m:e>
                        <m:r>
                          <a:rPr lang="en-US" sz="2200" b="0" i="1" smtClean="0">
                            <a:solidFill>
                              <a:srgbClr val="C00000"/>
                            </a:solidFill>
                            <a:latin typeface="Cambria Math" panose="02040503050406030204" pitchFamily="18" charset="0"/>
                          </a:rPr>
                          <m:t>𝑡</m:t>
                        </m:r>
                      </m:e>
                      <m:sub>
                        <m:r>
                          <a:rPr lang="en-US" sz="2200" b="0" i="1" smtClean="0">
                            <a:solidFill>
                              <a:srgbClr val="C00000"/>
                            </a:solidFill>
                            <a:latin typeface="Cambria Math" panose="02040503050406030204" pitchFamily="18" charset="0"/>
                          </a:rPr>
                          <m:t>𝑖</m:t>
                        </m:r>
                      </m:sub>
                    </m:sSub>
                    <m:d>
                      <m:dPr>
                        <m:ctrlPr>
                          <a:rPr lang="en-US" sz="2200" b="0" i="1" smtClean="0">
                            <a:solidFill>
                              <a:srgbClr val="C00000"/>
                            </a:solidFill>
                            <a:latin typeface="Cambria Math" panose="02040503050406030204" pitchFamily="18" charset="0"/>
                          </a:rPr>
                        </m:ctrlPr>
                      </m:dPr>
                      <m:e>
                        <m:r>
                          <a:rPr lang="en-US" sz="2200" b="0" i="1" smtClean="0">
                            <a:solidFill>
                              <a:srgbClr val="C00000"/>
                            </a:solidFill>
                            <a:latin typeface="Cambria Math" panose="02040503050406030204" pitchFamily="18" charset="0"/>
                          </a:rPr>
                          <m:t>𝑗</m:t>
                        </m:r>
                      </m:e>
                    </m:d>
                    <m:r>
                      <a:rPr lang="en-US" sz="2200" b="0" i="1" smtClean="0">
                        <a:solidFill>
                          <a:srgbClr val="C00000"/>
                        </a:solidFill>
                        <a:latin typeface="Cambria Math" panose="02040503050406030204" pitchFamily="18" charset="0"/>
                      </a:rPr>
                      <m:t>=</m:t>
                    </m:r>
                    <m:sSub>
                      <m:sSubPr>
                        <m:ctrlPr>
                          <a:rPr lang="en-US" sz="2200" b="0" i="1" smtClean="0">
                            <a:solidFill>
                              <a:srgbClr val="C00000"/>
                            </a:solidFill>
                            <a:latin typeface="Cambria Math" panose="02040503050406030204" pitchFamily="18" charset="0"/>
                          </a:rPr>
                        </m:ctrlPr>
                      </m:sSubPr>
                      <m:e>
                        <m:r>
                          <a:rPr lang="en-US" sz="2200" b="0" i="1" smtClean="0">
                            <a:solidFill>
                              <a:srgbClr val="C00000"/>
                            </a:solidFill>
                            <a:latin typeface="Cambria Math" panose="02040503050406030204" pitchFamily="18" charset="0"/>
                          </a:rPr>
                          <m:t>𝑇</m:t>
                        </m:r>
                      </m:e>
                      <m:sub>
                        <m:r>
                          <a:rPr lang="en-US" sz="2200" b="0" i="1" smtClean="0">
                            <a:solidFill>
                              <a:srgbClr val="C00000"/>
                            </a:solidFill>
                            <a:latin typeface="Cambria Math" panose="02040503050406030204" pitchFamily="18" charset="0"/>
                          </a:rPr>
                          <m:t>𝑖</m:t>
                        </m:r>
                      </m:sub>
                    </m:sSub>
                    <m:d>
                      <m:dPr>
                        <m:begChr m:val="["/>
                        <m:endChr m:val="]"/>
                        <m:ctrlPr>
                          <a:rPr lang="en-US" sz="2200" b="0" i="1" smtClean="0">
                            <a:solidFill>
                              <a:srgbClr val="C00000"/>
                            </a:solidFill>
                            <a:latin typeface="Cambria Math" panose="02040503050406030204" pitchFamily="18" charset="0"/>
                          </a:rPr>
                        </m:ctrlPr>
                      </m:dPr>
                      <m:e>
                        <m:r>
                          <a:rPr lang="en-US" sz="2200" b="0" i="1" smtClean="0">
                            <a:solidFill>
                              <a:srgbClr val="C00000"/>
                            </a:solidFill>
                            <a:latin typeface="Cambria Math" panose="02040503050406030204" pitchFamily="18" charset="0"/>
                          </a:rPr>
                          <m:t>𝑗</m:t>
                        </m:r>
                      </m:e>
                    </m:d>
                  </m:oMath>
                </a14:m>
                <a:r>
                  <a:rPr lang="en-US" sz="2200" dirty="0">
                    <a:solidFill>
                      <a:srgbClr val="C00000"/>
                    </a:solidFill>
                    <a:latin typeface="Candara" panose="020E0502030303020204" pitchFamily="34" charset="0"/>
                  </a:rPr>
                  <a:t> for </a:t>
                </a:r>
                <a14:m>
                  <m:oMath xmlns:m="http://schemas.openxmlformats.org/officeDocument/2006/math">
                    <m:r>
                      <a:rPr lang="en-US" sz="2200" b="0" i="1" smtClean="0">
                        <a:solidFill>
                          <a:srgbClr val="C00000"/>
                        </a:solidFill>
                        <a:latin typeface="Cambria Math" panose="02040503050406030204" pitchFamily="18" charset="0"/>
                      </a:rPr>
                      <m:t>𝑗</m:t>
                    </m:r>
                    <m:r>
                      <a:rPr lang="en-US" sz="2200" b="0" i="1" smtClean="0">
                        <a:solidFill>
                          <a:srgbClr val="C00000"/>
                        </a:solidFill>
                        <a:latin typeface="Cambria Math" panose="02040503050406030204" pitchFamily="18" charset="0"/>
                      </a:rPr>
                      <m:t>∈</m:t>
                    </m:r>
                    <m:d>
                      <m:dPr>
                        <m:begChr m:val="["/>
                        <m:endChr m:val="]"/>
                        <m:ctrlPr>
                          <a:rPr lang="en-US" sz="2200" b="0" i="1" smtClean="0">
                            <a:solidFill>
                              <a:srgbClr val="C00000"/>
                            </a:solidFill>
                            <a:latin typeface="Cambria Math" panose="02040503050406030204" pitchFamily="18" charset="0"/>
                          </a:rPr>
                        </m:ctrlPr>
                      </m:dPr>
                      <m:e>
                        <m:r>
                          <a:rPr lang="en-US" sz="2200" b="0" i="1" smtClean="0">
                            <a:solidFill>
                              <a:srgbClr val="C00000"/>
                            </a:solidFill>
                            <a:latin typeface="Cambria Math" panose="02040503050406030204" pitchFamily="18" charset="0"/>
                          </a:rPr>
                          <m:t>𝑚</m:t>
                        </m:r>
                      </m:e>
                    </m:d>
                    <m:r>
                      <a:rPr lang="en-US" sz="2200" b="0" i="1" smtClean="0">
                        <a:solidFill>
                          <a:srgbClr val="C00000"/>
                        </a:solidFill>
                        <a:latin typeface="Cambria Math" panose="02040503050406030204" pitchFamily="18" charset="0"/>
                      </a:rPr>
                      <m:t>, </m:t>
                    </m:r>
                    <m:r>
                      <a:rPr lang="en-US" sz="2200" b="0" i="1" smtClean="0">
                        <a:solidFill>
                          <a:srgbClr val="C00000"/>
                        </a:solidFill>
                        <a:latin typeface="Cambria Math" panose="02040503050406030204" pitchFamily="18" charset="0"/>
                      </a:rPr>
                      <m:t>𝑖</m:t>
                    </m:r>
                    <m:r>
                      <a:rPr lang="en-US" sz="2200" b="0" i="1" smtClean="0">
                        <a:solidFill>
                          <a:srgbClr val="C00000"/>
                        </a:solidFill>
                        <a:latin typeface="Cambria Math" panose="02040503050406030204" pitchFamily="18" charset="0"/>
                      </a:rPr>
                      <m:t>=1,2</m:t>
                    </m:r>
                  </m:oMath>
                </a14:m>
                <a:r>
                  <a:rPr lang="en-US" sz="2200" dirty="0">
                    <a:solidFill>
                      <a:srgbClr val="C00000"/>
                    </a:solidFill>
                    <a:latin typeface="Candara" panose="020E0502030303020204" pitchFamily="34" charset="0"/>
                  </a:rPr>
                  <a:t>.</a:t>
                </a:r>
              </a:p>
              <a:p>
                <a:pPr marL="342900" indent="-342900">
                  <a:buFont typeface="Arial" panose="020B0604020202020204" pitchFamily="34" charset="0"/>
                  <a:buChar char="•"/>
                </a:pPr>
                <a:r>
                  <a:rPr lang="en-US" sz="2200" dirty="0">
                    <a:solidFill>
                      <a:srgbClr val="C00000"/>
                    </a:solidFill>
                    <a:latin typeface="Candara" panose="020E0502030303020204" pitchFamily="34" charset="0"/>
                  </a:rPr>
                  <a:t>Precompute openings in time </a:t>
                </a:r>
                <a14:m>
                  <m:oMath xmlns:m="http://schemas.openxmlformats.org/officeDocument/2006/math">
                    <m:acc>
                      <m:accPr>
                        <m:chr m:val="̃"/>
                        <m:ctrlPr>
                          <a:rPr lang="en-US" sz="2200" b="0" i="1" smtClean="0">
                            <a:solidFill>
                              <a:srgbClr val="C00000"/>
                            </a:solidFill>
                            <a:latin typeface="Cambria Math" panose="02040503050406030204" pitchFamily="18" charset="0"/>
                          </a:rPr>
                        </m:ctrlPr>
                      </m:accPr>
                      <m:e>
                        <m:r>
                          <a:rPr lang="en-US" sz="2200" b="0" i="0" smtClean="0">
                            <a:solidFill>
                              <a:srgbClr val="C00000"/>
                            </a:solidFill>
                            <a:latin typeface="Cambria Math" panose="02040503050406030204" pitchFamily="18" charset="0"/>
                          </a:rPr>
                          <m:t>𝑂</m:t>
                        </m:r>
                      </m:e>
                    </m:acc>
                    <m:d>
                      <m:dPr>
                        <m:ctrlPr>
                          <a:rPr lang="en-US" sz="2200" b="0" i="1" smtClean="0">
                            <a:solidFill>
                              <a:srgbClr val="C00000"/>
                            </a:solidFill>
                            <a:latin typeface="Cambria Math" panose="02040503050406030204" pitchFamily="18" charset="0"/>
                          </a:rPr>
                        </m:ctrlPr>
                      </m:dPr>
                      <m:e>
                        <m:r>
                          <a:rPr lang="en-US" sz="2200" i="1">
                            <a:solidFill>
                              <a:srgbClr val="C00000"/>
                            </a:solidFill>
                            <a:latin typeface="Cambria Math" panose="02040503050406030204" pitchFamily="18" charset="0"/>
                          </a:rPr>
                          <m:t>𝑚</m:t>
                        </m:r>
                      </m:e>
                    </m:d>
                  </m:oMath>
                </a14:m>
                <a:r>
                  <a:rPr lang="en-US" sz="2200" dirty="0">
                    <a:solidFill>
                      <a:srgbClr val="C00000"/>
                    </a:solidFill>
                    <a:latin typeface="Candara" panose="020E0502030303020204" pitchFamily="34" charset="0"/>
                  </a:rPr>
                  <a:t> [GHO20,FK23]</a:t>
                </a:r>
              </a:p>
            </p:txBody>
          </p:sp>
        </mc:Choice>
        <mc:Fallback xmlns="">
          <p:sp>
            <p:nvSpPr>
              <p:cNvPr id="58" name="TextBox 57">
                <a:extLst>
                  <a:ext uri="{FF2B5EF4-FFF2-40B4-BE49-F238E27FC236}">
                    <a16:creationId xmlns:a16="http://schemas.microsoft.com/office/drawing/2014/main" id="{740D8FE7-C75E-791E-1DA9-9A65DD3DDCB7}"/>
                  </a:ext>
                </a:extLst>
              </p:cNvPr>
              <p:cNvSpPr txBox="1">
                <a:spLocks noRot="1" noChangeAspect="1" noMove="1" noResize="1" noEditPoints="1" noAdjustHandles="1" noChangeArrowheads="1" noChangeShapeType="1" noTextEdit="1"/>
              </p:cNvSpPr>
              <p:nvPr/>
            </p:nvSpPr>
            <p:spPr>
              <a:xfrm>
                <a:off x="6500365" y="4138296"/>
                <a:ext cx="5409695" cy="2013175"/>
              </a:xfrm>
              <a:prstGeom prst="wedgeRoundRectCallout">
                <a:avLst>
                  <a:gd name="adj1" fmla="val -59893"/>
                  <a:gd name="adj2" fmla="val -31797"/>
                  <a:gd name="adj3" fmla="val 16667"/>
                </a:avLst>
              </a:prstGeom>
              <a:blipFill>
                <a:blip r:embed="rId15"/>
                <a:stretch>
                  <a:fillRect b="-6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7038822-4BDB-F258-7564-E87C313B1706}"/>
                  </a:ext>
                </a:extLst>
              </p:cNvPr>
              <p:cNvSpPr txBox="1"/>
              <p:nvPr/>
            </p:nvSpPr>
            <p:spPr>
              <a:xfrm>
                <a:off x="1455132" y="3498561"/>
                <a:ext cx="99920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400" b="0" i="1" dirty="0" smtClean="0">
                          <a:solidFill>
                            <a:srgbClr val="C00000"/>
                          </a:solidFill>
                          <a:latin typeface="Cambria Math" panose="02040503050406030204" pitchFamily="18" charset="0"/>
                        </a:rPr>
                        <m:t>mod</m:t>
                      </m:r>
                      <m:r>
                        <a:rPr lang="en-US" sz="2400" b="0" i="1" dirty="0" smtClean="0">
                          <a:solidFill>
                            <a:srgbClr val="C00000"/>
                          </a:solidFill>
                          <a:latin typeface="Cambria Math" panose="02040503050406030204" pitchFamily="18" charset="0"/>
                        </a:rPr>
                        <m:t> </m:t>
                      </m:r>
                      <m:r>
                        <a:rPr lang="en-US" sz="2400" b="0" i="1" dirty="0" smtClean="0">
                          <a:solidFill>
                            <a:srgbClr val="C00000"/>
                          </a:solidFill>
                          <a:latin typeface="Cambria Math" panose="02040503050406030204" pitchFamily="18" charset="0"/>
                        </a:rPr>
                        <m:t>𝑚</m:t>
                      </m:r>
                    </m:oMath>
                  </m:oMathPara>
                </a14:m>
                <a:endParaRPr lang="en-US" sz="2400" dirty="0"/>
              </a:p>
            </p:txBody>
          </p:sp>
        </mc:Choice>
        <mc:Fallback xmlns="">
          <p:sp>
            <p:nvSpPr>
              <p:cNvPr id="5" name="TextBox 4">
                <a:extLst>
                  <a:ext uri="{FF2B5EF4-FFF2-40B4-BE49-F238E27FC236}">
                    <a16:creationId xmlns:a16="http://schemas.microsoft.com/office/drawing/2014/main" id="{87038822-4BDB-F258-7564-E87C313B1706}"/>
                  </a:ext>
                </a:extLst>
              </p:cNvPr>
              <p:cNvSpPr txBox="1">
                <a:spLocks noRot="1" noChangeAspect="1" noMove="1" noResize="1" noEditPoints="1" noAdjustHandles="1" noChangeArrowheads="1" noChangeShapeType="1" noTextEdit="1"/>
              </p:cNvSpPr>
              <p:nvPr/>
            </p:nvSpPr>
            <p:spPr>
              <a:xfrm>
                <a:off x="1455132" y="3498561"/>
                <a:ext cx="999201" cy="461665"/>
              </a:xfrm>
              <a:prstGeom prst="rect">
                <a:avLst/>
              </a:prstGeom>
              <a:blipFill>
                <a:blip r:embed="rId16"/>
                <a:stretch>
                  <a:fillRect l="-2500" r="-7500" b="-216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463A4FF-6C94-56CE-F0EB-793B67C92632}"/>
                  </a:ext>
                </a:extLst>
              </p:cNvPr>
              <p:cNvSpPr txBox="1"/>
              <p:nvPr/>
            </p:nvSpPr>
            <p:spPr>
              <a:xfrm>
                <a:off x="3215233" y="3498561"/>
                <a:ext cx="99920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400" b="0" i="1" dirty="0" smtClean="0">
                          <a:solidFill>
                            <a:srgbClr val="C00000"/>
                          </a:solidFill>
                          <a:latin typeface="Cambria Math" panose="02040503050406030204" pitchFamily="18" charset="0"/>
                        </a:rPr>
                        <m:t>mod</m:t>
                      </m:r>
                      <m:r>
                        <a:rPr lang="en-US" sz="2400" b="0" i="1" dirty="0" smtClean="0">
                          <a:solidFill>
                            <a:srgbClr val="C00000"/>
                          </a:solidFill>
                          <a:latin typeface="Cambria Math" panose="02040503050406030204" pitchFamily="18" charset="0"/>
                        </a:rPr>
                        <m:t> </m:t>
                      </m:r>
                      <m:r>
                        <a:rPr lang="en-US" sz="2400" b="0" i="1" dirty="0" smtClean="0">
                          <a:solidFill>
                            <a:srgbClr val="C00000"/>
                          </a:solidFill>
                          <a:latin typeface="Cambria Math" panose="02040503050406030204" pitchFamily="18" charset="0"/>
                        </a:rPr>
                        <m:t>𝑚</m:t>
                      </m:r>
                    </m:oMath>
                  </m:oMathPara>
                </a14:m>
                <a:endParaRPr lang="en-US" sz="2400" dirty="0"/>
              </a:p>
            </p:txBody>
          </p:sp>
        </mc:Choice>
        <mc:Fallback xmlns="">
          <p:sp>
            <p:nvSpPr>
              <p:cNvPr id="6" name="TextBox 5">
                <a:extLst>
                  <a:ext uri="{FF2B5EF4-FFF2-40B4-BE49-F238E27FC236}">
                    <a16:creationId xmlns:a16="http://schemas.microsoft.com/office/drawing/2014/main" id="{3463A4FF-6C94-56CE-F0EB-793B67C92632}"/>
                  </a:ext>
                </a:extLst>
              </p:cNvPr>
              <p:cNvSpPr txBox="1">
                <a:spLocks noRot="1" noChangeAspect="1" noMove="1" noResize="1" noEditPoints="1" noAdjustHandles="1" noChangeArrowheads="1" noChangeShapeType="1" noTextEdit="1"/>
              </p:cNvSpPr>
              <p:nvPr/>
            </p:nvSpPr>
            <p:spPr>
              <a:xfrm>
                <a:off x="3215233" y="3498561"/>
                <a:ext cx="999201" cy="461665"/>
              </a:xfrm>
              <a:prstGeom prst="rect">
                <a:avLst/>
              </a:prstGeom>
              <a:blipFill>
                <a:blip r:embed="rId17"/>
                <a:stretch>
                  <a:fillRect l="-1250" r="-7500" b="-216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A223E1C-20C9-86C0-7618-29D0EE37B20D}"/>
                  </a:ext>
                </a:extLst>
              </p:cNvPr>
              <p:cNvSpPr txBox="1"/>
              <p:nvPr/>
            </p:nvSpPr>
            <p:spPr>
              <a:xfrm>
                <a:off x="7460215" y="406090"/>
                <a:ext cx="4479842" cy="1629312"/>
              </a:xfrm>
              <a:prstGeom prst="roundRect">
                <a:avLst/>
              </a:prstGeom>
              <a:solidFill>
                <a:schemeClr val="tx2">
                  <a:lumMod val="10000"/>
                  <a:lumOff val="90000"/>
                </a:schemeClr>
              </a:solidFill>
            </p:spPr>
            <p:txBody>
              <a:bodyPr wrap="square">
                <a:spAutoFit/>
              </a:bodyPr>
              <a:lstStyle/>
              <a:p>
                <a14:m>
                  <m:oMath xmlns:m="http://schemas.openxmlformats.org/officeDocument/2006/math">
                    <m:sSub>
                      <m:sSubPr>
                        <m:ctrlPr>
                          <a:rPr lang="en-US" sz="2200" i="1" dirty="0" smtClean="0">
                            <a:solidFill>
                              <a:srgbClr val="C00000"/>
                            </a:solidFill>
                            <a:latin typeface="Cambria Math" panose="02040503050406030204" pitchFamily="18" charset="0"/>
                          </a:rPr>
                        </m:ctrlPr>
                      </m:sSubPr>
                      <m:e>
                        <m:r>
                          <a:rPr lang="en-US" sz="2200" i="1" dirty="0" smtClean="0">
                            <a:solidFill>
                              <a:srgbClr val="C00000"/>
                            </a:solidFill>
                            <a:latin typeface="Cambria Math" panose="02040503050406030204" pitchFamily="18" charset="0"/>
                          </a:rPr>
                          <m:t>𝑓</m:t>
                        </m:r>
                      </m:e>
                      <m:sub>
                        <m:r>
                          <a:rPr lang="en-US" sz="2200" i="1" dirty="0" smtClean="0">
                            <a:solidFill>
                              <a:srgbClr val="C00000"/>
                            </a:solidFill>
                            <a:latin typeface="Cambria Math" panose="02040503050406030204" pitchFamily="18" charset="0"/>
                          </a:rPr>
                          <m:t>1</m:t>
                        </m:r>
                      </m:sub>
                    </m:sSub>
                    <m:r>
                      <a:rPr lang="en-US" sz="2200" i="1" dirty="0" smtClean="0">
                        <a:solidFill>
                          <a:srgbClr val="C00000"/>
                        </a:solidFill>
                        <a:latin typeface="Cambria Math" panose="02040503050406030204" pitchFamily="18" charset="0"/>
                      </a:rPr>
                      <m:t>,</m:t>
                    </m:r>
                    <m:sSub>
                      <m:sSubPr>
                        <m:ctrlPr>
                          <a:rPr lang="en-US" sz="2200" i="1" dirty="0" smtClean="0">
                            <a:solidFill>
                              <a:srgbClr val="C00000"/>
                            </a:solidFill>
                            <a:latin typeface="Cambria Math" panose="02040503050406030204" pitchFamily="18" charset="0"/>
                          </a:rPr>
                        </m:ctrlPr>
                      </m:sSubPr>
                      <m:e>
                        <m:r>
                          <a:rPr lang="en-US" sz="2200" i="1" dirty="0" smtClean="0">
                            <a:solidFill>
                              <a:srgbClr val="C00000"/>
                            </a:solidFill>
                            <a:latin typeface="Cambria Math" panose="02040503050406030204" pitchFamily="18" charset="0"/>
                          </a:rPr>
                          <m:t>𝑓</m:t>
                        </m:r>
                      </m:e>
                      <m:sub>
                        <m:r>
                          <a:rPr lang="en-US" sz="2200" i="1" dirty="0" smtClean="0">
                            <a:solidFill>
                              <a:srgbClr val="C00000"/>
                            </a:solidFill>
                            <a:latin typeface="Cambria Math" panose="02040503050406030204" pitchFamily="18" charset="0"/>
                          </a:rPr>
                          <m:t>2</m:t>
                        </m:r>
                      </m:sub>
                    </m:sSub>
                    <m:r>
                      <a:rPr lang="en-US" sz="2200" i="1" dirty="0" smtClean="0">
                        <a:solidFill>
                          <a:srgbClr val="C00000"/>
                        </a:solidFill>
                        <a:latin typeface="Cambria Math" panose="02040503050406030204" pitchFamily="18" charset="0"/>
                      </a:rPr>
                      <m:t>,</m:t>
                    </m:r>
                    <m:r>
                      <a:rPr lang="en-US" sz="2200" i="1" dirty="0" smtClean="0">
                        <a:solidFill>
                          <a:srgbClr val="C00000"/>
                        </a:solidFill>
                        <a:latin typeface="Cambria Math" panose="02040503050406030204" pitchFamily="18" charset="0"/>
                      </a:rPr>
                      <m:t>𝑔</m:t>
                    </m:r>
                    <m:r>
                      <a:rPr lang="en-US" sz="2200" i="1" dirty="0" smtClean="0">
                        <a:solidFill>
                          <a:srgbClr val="C00000"/>
                        </a:solidFill>
                        <a:latin typeface="Cambria Math" panose="02040503050406030204" pitchFamily="18" charset="0"/>
                      </a:rPr>
                      <m:t>:</m:t>
                    </m:r>
                  </m:oMath>
                </a14:m>
                <a:r>
                  <a:rPr lang="en-US" sz="2200" i="1" dirty="0">
                    <a:solidFill>
                      <a:srgbClr val="C00000"/>
                    </a:solidFill>
                    <a:latin typeface="Cambria Math" panose="02040503050406030204" pitchFamily="18" charset="0"/>
                  </a:rPr>
                  <a:t> </a:t>
                </a:r>
                <a14:m>
                  <m:oMath xmlns:m="http://schemas.openxmlformats.org/officeDocument/2006/math">
                    <m:r>
                      <m:rPr>
                        <m:sty m:val="p"/>
                      </m:rPr>
                      <a:rPr lang="en-US" sz="2200" b="0" i="1" dirty="0" smtClean="0">
                        <a:solidFill>
                          <a:srgbClr val="C00000"/>
                        </a:solidFill>
                        <a:latin typeface="Cambria Math" panose="02040503050406030204" pitchFamily="18" charset="0"/>
                      </a:rPr>
                      <m:t>Θ</m:t>
                    </m:r>
                    <m:r>
                      <a:rPr lang="en-US" sz="2200" b="0" i="1" dirty="0" smtClean="0">
                        <a:solidFill>
                          <a:srgbClr val="C00000"/>
                        </a:solidFill>
                        <a:latin typeface="Cambria Math" panose="02040503050406030204" pitchFamily="18" charset="0"/>
                      </a:rPr>
                      <m:t>(</m:t>
                    </m:r>
                    <m:r>
                      <m:rPr>
                        <m:sty m:val="p"/>
                      </m:rPr>
                      <a:rPr lang="en-US" sz="2200" b="0" i="1" dirty="0" smtClean="0">
                        <a:solidFill>
                          <a:srgbClr val="C00000"/>
                        </a:solidFill>
                        <a:latin typeface="Cambria Math" panose="02040503050406030204" pitchFamily="18" charset="0"/>
                      </a:rPr>
                      <m:t>λ</m:t>
                    </m:r>
                    <m:r>
                      <a:rPr lang="en-US" sz="2200" b="0" i="0" dirty="0" smtClean="0">
                        <a:solidFill>
                          <a:srgbClr val="C00000"/>
                        </a:solidFill>
                        <a:latin typeface="Cambria Math" panose="02040503050406030204" pitchFamily="18" charset="0"/>
                      </a:rPr>
                      <m:t>)</m:t>
                    </m:r>
                  </m:oMath>
                </a14:m>
                <a:r>
                  <a:rPr lang="en-US" sz="2200" dirty="0">
                    <a:solidFill>
                      <a:srgbClr val="C00000"/>
                    </a:solidFill>
                    <a:latin typeface="Candara" panose="020E0502030303020204" pitchFamily="34" charset="0"/>
                  </a:rPr>
                  <a:t>-degree </a:t>
                </a:r>
                <a14:m>
                  <m:oMath xmlns:m="http://schemas.openxmlformats.org/officeDocument/2006/math">
                    <m:sSub>
                      <m:sSubPr>
                        <m:ctrlPr>
                          <a:rPr lang="en-US" sz="2200" i="1" dirty="0" smtClean="0">
                            <a:solidFill>
                              <a:srgbClr val="C00000"/>
                            </a:solidFill>
                            <a:latin typeface="Cambria Math" panose="02040503050406030204" pitchFamily="18" charset="0"/>
                            <a:ea typeface="Cambria Math" panose="02040503050406030204" pitchFamily="18" charset="0"/>
                          </a:rPr>
                        </m:ctrlPr>
                      </m:sSubPr>
                      <m:e>
                        <m:r>
                          <a:rPr lang="en-US" sz="2200" i="1" dirty="0">
                            <a:solidFill>
                              <a:srgbClr val="C00000"/>
                            </a:solidFill>
                            <a:latin typeface="Cambria Math" panose="02040503050406030204" pitchFamily="18" charset="0"/>
                            <a:ea typeface="Cambria Math" panose="02040503050406030204" pitchFamily="18" charset="0"/>
                          </a:rPr>
                          <m:t>ℤ</m:t>
                        </m:r>
                      </m:e>
                      <m:sub>
                        <m:r>
                          <a:rPr lang="en-US" sz="2200" i="1" dirty="0">
                            <a:solidFill>
                              <a:srgbClr val="C00000"/>
                            </a:solidFill>
                            <a:latin typeface="Cambria Math" panose="02040503050406030204" pitchFamily="18" charset="0"/>
                            <a:ea typeface="Cambria Math" panose="02040503050406030204" pitchFamily="18" charset="0"/>
                          </a:rPr>
                          <m:t>𝑝</m:t>
                        </m:r>
                      </m:sub>
                    </m:sSub>
                  </m:oMath>
                </a14:m>
                <a:r>
                  <a:rPr lang="en-US" sz="2200" dirty="0">
                    <a:solidFill>
                      <a:srgbClr val="C00000"/>
                    </a:solidFill>
                    <a:latin typeface="Candara" panose="020E0502030303020204" pitchFamily="34" charset="0"/>
                  </a:rPr>
                  <a:t>-polynomials. </a:t>
                </a:r>
              </a:p>
              <a:p>
                <a:pPr marL="342900" indent="-342900">
                  <a:buFont typeface="Arial" panose="020B0604020202020204" pitchFamily="34" charset="0"/>
                  <a:buChar char="•"/>
                </a:pPr>
                <a:r>
                  <a:rPr lang="en-US" sz="2200" dirty="0">
                    <a:solidFill>
                      <a:srgbClr val="C00000"/>
                    </a:solidFill>
                    <a:latin typeface="Candara" panose="020E0502030303020204" pitchFamily="34" charset="0"/>
                  </a:rPr>
                  <a:t>Committed to using KZG</a:t>
                </a:r>
              </a:p>
              <a:p>
                <a:pPr marL="342900" indent="-342900">
                  <a:buFont typeface="Arial" panose="020B0604020202020204" pitchFamily="34" charset="0"/>
                  <a:buChar char="•"/>
                </a:pPr>
                <a:r>
                  <a:rPr lang="en-US" sz="2200" dirty="0">
                    <a:solidFill>
                      <a:srgbClr val="C00000"/>
                    </a:solidFill>
                    <a:latin typeface="Candara" panose="020E0502030303020204" pitchFamily="34" charset="0"/>
                  </a:rPr>
                  <a:t>Compute openings in time </a:t>
                </a:r>
                <a14:m>
                  <m:oMath xmlns:m="http://schemas.openxmlformats.org/officeDocument/2006/math">
                    <m:r>
                      <m:rPr>
                        <m:sty m:val="p"/>
                      </m:rPr>
                      <a:rPr lang="en-US" sz="2200" i="1" dirty="0">
                        <a:solidFill>
                          <a:srgbClr val="C00000"/>
                        </a:solidFill>
                        <a:latin typeface="Cambria Math" panose="02040503050406030204" pitchFamily="18" charset="0"/>
                      </a:rPr>
                      <m:t>Θ</m:t>
                    </m:r>
                    <m:r>
                      <a:rPr lang="en-US" sz="2200" i="1" dirty="0">
                        <a:solidFill>
                          <a:srgbClr val="C00000"/>
                        </a:solidFill>
                        <a:latin typeface="Cambria Math" panose="02040503050406030204" pitchFamily="18" charset="0"/>
                      </a:rPr>
                      <m:t>(</m:t>
                    </m:r>
                    <m:r>
                      <m:rPr>
                        <m:sty m:val="p"/>
                      </m:rPr>
                      <a:rPr lang="en-US" sz="2200" i="1" dirty="0">
                        <a:solidFill>
                          <a:srgbClr val="C00000"/>
                        </a:solidFill>
                        <a:latin typeface="Cambria Math" panose="02040503050406030204" pitchFamily="18" charset="0"/>
                      </a:rPr>
                      <m:t>λ</m:t>
                    </m:r>
                    <m:r>
                      <a:rPr lang="en-US" sz="2200" dirty="0">
                        <a:solidFill>
                          <a:srgbClr val="C00000"/>
                        </a:solidFill>
                        <a:latin typeface="Cambria Math" panose="02040503050406030204" pitchFamily="18" charset="0"/>
                      </a:rPr>
                      <m:t>)</m:t>
                    </m:r>
                  </m:oMath>
                </a14:m>
                <a:r>
                  <a:rPr lang="en-US" sz="2200" dirty="0">
                    <a:solidFill>
                      <a:srgbClr val="C00000"/>
                    </a:solidFill>
                    <a:latin typeface="Candara" panose="020E0502030303020204" pitchFamily="34" charset="0"/>
                  </a:rPr>
                  <a:t> </a:t>
                </a:r>
                <a:endParaRPr lang="en-US" sz="2200" dirty="0"/>
              </a:p>
            </p:txBody>
          </p:sp>
        </mc:Choice>
        <mc:Fallback xmlns="">
          <p:sp>
            <p:nvSpPr>
              <p:cNvPr id="10" name="TextBox 9">
                <a:extLst>
                  <a:ext uri="{FF2B5EF4-FFF2-40B4-BE49-F238E27FC236}">
                    <a16:creationId xmlns:a16="http://schemas.microsoft.com/office/drawing/2014/main" id="{2A223E1C-20C9-86C0-7618-29D0EE37B20D}"/>
                  </a:ext>
                </a:extLst>
              </p:cNvPr>
              <p:cNvSpPr txBox="1">
                <a:spLocks noRot="1" noChangeAspect="1" noMove="1" noResize="1" noEditPoints="1" noAdjustHandles="1" noChangeArrowheads="1" noChangeShapeType="1" noTextEdit="1"/>
              </p:cNvSpPr>
              <p:nvPr/>
            </p:nvSpPr>
            <p:spPr>
              <a:xfrm>
                <a:off x="7460215" y="406090"/>
                <a:ext cx="4479842" cy="1629312"/>
              </a:xfrm>
              <a:prstGeom prst="roundRect">
                <a:avLst/>
              </a:prstGeom>
              <a:blipFill>
                <a:blip r:embed="rId18"/>
                <a:stretch>
                  <a:fillRect b="-2326"/>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9C5E5C87-9F85-B4E3-429D-9793FB126032}"/>
              </a:ext>
            </a:extLst>
          </p:cNvPr>
          <p:cNvCxnSpPr>
            <a:cxnSpLocks/>
            <a:stCxn id="4" idx="3"/>
            <a:endCxn id="10" idx="1"/>
          </p:cNvCxnSpPr>
          <p:nvPr/>
        </p:nvCxnSpPr>
        <p:spPr>
          <a:xfrm flipV="1">
            <a:off x="1809417" y="1220746"/>
            <a:ext cx="5650798" cy="1755897"/>
          </a:xfrm>
          <a:prstGeom prst="straightConnector1">
            <a:avLst/>
          </a:prstGeom>
          <a:ln w="3810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C1C45C7D-17A7-6518-F0CB-DA37B3EDD59E}"/>
              </a:ext>
            </a:extLst>
          </p:cNvPr>
          <p:cNvCxnSpPr>
            <a:cxnSpLocks/>
            <a:stCxn id="28" idx="3"/>
            <a:endCxn id="10" idx="1"/>
          </p:cNvCxnSpPr>
          <p:nvPr/>
        </p:nvCxnSpPr>
        <p:spPr>
          <a:xfrm flipV="1">
            <a:off x="4669323" y="1220746"/>
            <a:ext cx="2790892" cy="1792545"/>
          </a:xfrm>
          <a:prstGeom prst="straightConnector1">
            <a:avLst/>
          </a:prstGeom>
          <a:ln w="3810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A413AD6C-2F01-9A91-2242-9F19B6D7F73D}"/>
              </a:ext>
            </a:extLst>
          </p:cNvPr>
          <p:cNvCxnSpPr>
            <a:cxnSpLocks/>
            <a:stCxn id="33" idx="2"/>
            <a:endCxn id="10" idx="1"/>
          </p:cNvCxnSpPr>
          <p:nvPr/>
        </p:nvCxnSpPr>
        <p:spPr>
          <a:xfrm flipV="1">
            <a:off x="7307580" y="1220746"/>
            <a:ext cx="152635" cy="1425007"/>
          </a:xfrm>
          <a:prstGeom prst="straightConnector1">
            <a:avLst/>
          </a:prstGeom>
          <a:ln w="3810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78" name="Rounded Rectangular Callout 77">
            <a:extLst>
              <a:ext uri="{FF2B5EF4-FFF2-40B4-BE49-F238E27FC236}">
                <a16:creationId xmlns:a16="http://schemas.microsoft.com/office/drawing/2014/main" id="{044EF65E-C451-8595-8F69-B1179C58D936}"/>
              </a:ext>
            </a:extLst>
          </p:cNvPr>
          <p:cNvSpPr/>
          <p:nvPr/>
        </p:nvSpPr>
        <p:spPr>
          <a:xfrm>
            <a:off x="7812443" y="2547928"/>
            <a:ext cx="4127614" cy="1177769"/>
          </a:xfrm>
          <a:prstGeom prst="wedgeRoundRectCallout">
            <a:avLst>
              <a:gd name="adj1" fmla="val -119388"/>
              <a:gd name="adj2" fmla="val 45631"/>
              <a:gd name="adj3" fmla="val 16667"/>
            </a:avLst>
          </a:prstGeom>
          <a:solidFill>
            <a:srgbClr val="F3E7E7"/>
          </a:solid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rgbClr val="C00000"/>
                </a:solidFill>
              </a:rPr>
              <a:t>Proved via Inner-Product Argument (e.g., bulletproof)</a:t>
            </a:r>
          </a:p>
        </p:txBody>
      </p:sp>
    </p:spTree>
    <p:extLst>
      <p:ext uri="{BB962C8B-B14F-4D97-AF65-F5344CB8AC3E}">
        <p14:creationId xmlns:p14="http://schemas.microsoft.com/office/powerpoint/2010/main" val="2338511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nimBg="1"/>
      <p:bldP spid="58" grpId="0" animBg="1"/>
      <p:bldP spid="10" grpId="0" animBg="1"/>
      <p:bldP spid="7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07A74-2CFB-B3F6-D803-54837C8BC82F}"/>
              </a:ext>
            </a:extLst>
          </p:cNvPr>
          <p:cNvSpPr>
            <a:spLocks noGrp="1"/>
          </p:cNvSpPr>
          <p:nvPr>
            <p:ph type="title"/>
          </p:nvPr>
        </p:nvSpPr>
        <p:spPr/>
        <p:txBody>
          <a:bodyPr/>
          <a:lstStyle/>
          <a:p>
            <a:r>
              <a:rPr lang="en-US" dirty="0"/>
              <a:t>Summary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8AA0C6F-A311-FEFD-BC73-5975AD94153C}"/>
                  </a:ext>
                </a:extLst>
              </p:cNvPr>
              <p:cNvSpPr>
                <a:spLocks noGrp="1"/>
              </p:cNvSpPr>
              <p:nvPr>
                <p:ph idx="1"/>
              </p:nvPr>
            </p:nvSpPr>
            <p:spPr>
              <a:xfrm>
                <a:off x="838200" y="1690688"/>
                <a:ext cx="10515600" cy="4802187"/>
              </a:xfrm>
            </p:spPr>
            <p:txBody>
              <a:bodyPr>
                <a:normAutofit fontScale="92500" lnSpcReduction="10000"/>
              </a:bodyPr>
              <a:lstStyle/>
              <a:p>
                <a:r>
                  <a:rPr lang="en-US" sz="3200" dirty="0"/>
                  <a:t>Asymptotic efficiencies in </a:t>
                </a:r>
                <a14:m>
                  <m:oMath xmlns:m="http://schemas.openxmlformats.org/officeDocument/2006/math">
                    <m:r>
                      <a:rPr lang="en-US" sz="3200" i="1" dirty="0">
                        <a:latin typeface="Cambria Math" panose="02040503050406030204" pitchFamily="18" charset="0"/>
                      </a:rPr>
                      <m:t>𝑘</m:t>
                    </m:r>
                    <m:r>
                      <a:rPr lang="en-US" sz="3200" i="1" dirty="0">
                        <a:latin typeface="Cambria Math" panose="02040503050406030204" pitchFamily="18" charset="0"/>
                      </a:rPr>
                      <m:t>≫</m:t>
                    </m:r>
                    <m:r>
                      <a:rPr lang="en-US" sz="3200" i="1" dirty="0">
                        <a:latin typeface="Cambria Math" panose="02040503050406030204" pitchFamily="18" charset="0"/>
                      </a:rPr>
                      <m:t>𝑁</m:t>
                    </m:r>
                  </m:oMath>
                </a14:m>
                <a:r>
                  <a:rPr lang="en-US" sz="3200" dirty="0"/>
                  <a:t> (e.g., </a:t>
                </a:r>
                <a14:m>
                  <m:oMath xmlns:m="http://schemas.openxmlformats.org/officeDocument/2006/math">
                    <m:r>
                      <a:rPr lang="en-US" sz="3200" i="1" dirty="0">
                        <a:latin typeface="Cambria Math" panose="02040503050406030204" pitchFamily="18" charset="0"/>
                      </a:rPr>
                      <m:t>𝑘</m:t>
                    </m:r>
                    <m:r>
                      <a:rPr lang="en-US" sz="3200" b="0" i="1" dirty="0" smtClean="0">
                        <a:latin typeface="Cambria Math" panose="02040503050406030204" pitchFamily="18" charset="0"/>
                      </a:rPr>
                      <m:t>=</m:t>
                    </m:r>
                    <m:sSup>
                      <m:sSupPr>
                        <m:ctrlPr>
                          <a:rPr lang="en-US" sz="3200" b="0" i="1" dirty="0" smtClean="0">
                            <a:latin typeface="Cambria Math" panose="02040503050406030204" pitchFamily="18" charset="0"/>
                          </a:rPr>
                        </m:ctrlPr>
                      </m:sSupPr>
                      <m:e>
                        <m:r>
                          <a:rPr lang="en-US" sz="3200" b="0" i="1" dirty="0" smtClean="0">
                            <a:latin typeface="Cambria Math" panose="02040503050406030204" pitchFamily="18" charset="0"/>
                          </a:rPr>
                          <m:t>2</m:t>
                        </m:r>
                      </m:e>
                      <m:sup>
                        <m:r>
                          <a:rPr lang="en-US" sz="3200" b="0" i="1" dirty="0" smtClean="0">
                            <a:latin typeface="Cambria Math" panose="02040503050406030204" pitchFamily="18" charset="0"/>
                          </a:rPr>
                          <m:t>20</m:t>
                        </m:r>
                      </m:sup>
                    </m:sSup>
                    <m:r>
                      <a:rPr lang="en-US" sz="3200" b="0" i="1" dirty="0" smtClean="0">
                        <a:latin typeface="Cambria Math" panose="02040503050406030204" pitchFamily="18" charset="0"/>
                      </a:rPr>
                      <m:t>,</m:t>
                    </m:r>
                  </m:oMath>
                </a14:m>
                <a:r>
                  <a:rPr lang="en-US" sz="3200" dirty="0"/>
                  <a:t> </a:t>
                </a:r>
                <a14:m>
                  <m:oMath xmlns:m="http://schemas.openxmlformats.org/officeDocument/2006/math">
                    <m:r>
                      <a:rPr lang="en-US" sz="3200" i="1" dirty="0">
                        <a:latin typeface="Cambria Math" panose="02040503050406030204" pitchFamily="18" charset="0"/>
                      </a:rPr>
                      <m:t>𝑁</m:t>
                    </m:r>
                    <m:r>
                      <a:rPr lang="en-US" sz="3200" b="0" i="1" dirty="0" smtClean="0">
                        <a:latin typeface="Cambria Math" panose="02040503050406030204" pitchFamily="18" charset="0"/>
                      </a:rPr>
                      <m:t>=</m:t>
                    </m:r>
                    <m:sSup>
                      <m:sSupPr>
                        <m:ctrlPr>
                          <a:rPr lang="en-US" sz="3200" b="0" i="1" dirty="0" smtClean="0">
                            <a:latin typeface="Cambria Math" panose="02040503050406030204" pitchFamily="18" charset="0"/>
                          </a:rPr>
                        </m:ctrlPr>
                      </m:sSupPr>
                      <m:e>
                        <m:r>
                          <a:rPr lang="en-US" sz="3200" b="0" i="1" dirty="0" smtClean="0">
                            <a:latin typeface="Cambria Math" panose="02040503050406030204" pitchFamily="18" charset="0"/>
                          </a:rPr>
                          <m:t>2</m:t>
                        </m:r>
                      </m:e>
                      <m:sup>
                        <m:r>
                          <a:rPr lang="en-US" sz="3200" b="0" i="1" dirty="0" smtClean="0">
                            <a:latin typeface="Cambria Math" panose="02040503050406030204" pitchFamily="18" charset="0"/>
                          </a:rPr>
                          <m:t>10</m:t>
                        </m:r>
                      </m:sup>
                    </m:sSup>
                  </m:oMath>
                </a14:m>
                <a:r>
                  <a:rPr lang="en-US" sz="3200" dirty="0"/>
                  <a:t>)</a:t>
                </a:r>
                <a:br>
                  <a:rPr lang="en-US" sz="3200" dirty="0"/>
                </a:br>
                <a:endParaRPr lang="en-US" sz="3200" dirty="0"/>
              </a:p>
              <a:p>
                <a:endParaRPr lang="en-US" sz="3200" dirty="0"/>
              </a:p>
              <a:p>
                <a:endParaRPr lang="en-US" sz="3200" dirty="0"/>
              </a:p>
              <a:p>
                <a:endParaRPr lang="en-US" sz="3200" dirty="0"/>
              </a:p>
              <a:p>
                <a:endParaRPr lang="en-US" sz="3200" dirty="0"/>
              </a:p>
              <a:p>
                <a:r>
                  <a:rPr lang="en-US" sz="3200" dirty="0"/>
                  <a:t>Omitted properties:</a:t>
                </a:r>
              </a:p>
              <a:p>
                <a:pPr lvl="1"/>
                <a:r>
                  <a:rPr lang="en-US" sz="2800" b="1" dirty="0" err="1">
                    <a:solidFill>
                      <a:srgbClr val="C00000"/>
                    </a:solidFill>
                    <a:latin typeface="Candara" panose="020E0502030303020204" pitchFamily="34" charset="0"/>
                  </a:rPr>
                  <a:t>Linkability</a:t>
                </a:r>
                <a:r>
                  <a:rPr lang="en-US" sz="2800" b="1" dirty="0">
                    <a:solidFill>
                      <a:srgbClr val="C00000"/>
                    </a:solidFill>
                    <a:latin typeface="Candara" panose="020E0502030303020204" pitchFamily="34" charset="0"/>
                  </a:rPr>
                  <a:t>:</a:t>
                </a:r>
                <a:r>
                  <a:rPr lang="en-US" sz="2800" dirty="0">
                    <a:latin typeface="Candara" panose="020E0502030303020204" pitchFamily="34" charset="0"/>
                  </a:rPr>
                  <a:t> Double-spender can be identified</a:t>
                </a:r>
              </a:p>
              <a:p>
                <a:pPr lvl="1"/>
                <a:r>
                  <a:rPr lang="en-US" sz="2800" b="1" dirty="0" err="1">
                    <a:solidFill>
                      <a:srgbClr val="C00000"/>
                    </a:solidFill>
                    <a:latin typeface="Candara" panose="020E0502030303020204" pitchFamily="34" charset="0"/>
                  </a:rPr>
                  <a:t>Exculpability</a:t>
                </a:r>
                <a:r>
                  <a:rPr lang="en-US" sz="2800" b="1" dirty="0">
                    <a:solidFill>
                      <a:srgbClr val="C00000"/>
                    </a:solidFill>
                    <a:latin typeface="Candara" panose="020E0502030303020204" pitchFamily="34" charset="0"/>
                  </a:rPr>
                  <a:t>:</a:t>
                </a:r>
                <a:r>
                  <a:rPr lang="en-US" sz="2800" dirty="0">
                    <a:latin typeface="Candara" panose="020E0502030303020204" pitchFamily="34" charset="0"/>
                  </a:rPr>
                  <a:t> Malicious users (even when colluding with issuer) cannot frame honest users of double spending</a:t>
                </a:r>
              </a:p>
            </p:txBody>
          </p:sp>
        </mc:Choice>
        <mc:Fallback xmlns="">
          <p:sp>
            <p:nvSpPr>
              <p:cNvPr id="3" name="Content Placeholder 2">
                <a:extLst>
                  <a:ext uri="{FF2B5EF4-FFF2-40B4-BE49-F238E27FC236}">
                    <a16:creationId xmlns:a16="http://schemas.microsoft.com/office/drawing/2014/main" id="{78AA0C6F-A311-FEFD-BC73-5975AD94153C}"/>
                  </a:ext>
                </a:extLst>
              </p:cNvPr>
              <p:cNvSpPr>
                <a:spLocks noGrp="1" noRot="1" noChangeAspect="1" noMove="1" noResize="1" noEditPoints="1" noAdjustHandles="1" noChangeArrowheads="1" noChangeShapeType="1" noTextEdit="1"/>
              </p:cNvSpPr>
              <p:nvPr>
                <p:ph idx="1"/>
              </p:nvPr>
            </p:nvSpPr>
            <p:spPr>
              <a:xfrm>
                <a:off x="838200" y="1690688"/>
                <a:ext cx="10515600" cy="4802187"/>
              </a:xfrm>
              <a:blipFill>
                <a:blip r:embed="rId3"/>
                <a:stretch>
                  <a:fillRect l="-1206" t="-28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2DC67F67-0A5E-7794-5459-AC682836470F}"/>
                  </a:ext>
                </a:extLst>
              </p:cNvPr>
              <p:cNvGraphicFramePr>
                <a:graphicFrameLocks noGrp="1"/>
              </p:cNvGraphicFramePr>
              <p:nvPr>
                <p:extLst>
                  <p:ext uri="{D42A27DB-BD31-4B8C-83A1-F6EECF244321}">
                    <p14:modId xmlns:p14="http://schemas.microsoft.com/office/powerpoint/2010/main" val="2945491376"/>
                  </p:ext>
                </p:extLst>
              </p:nvPr>
            </p:nvGraphicFramePr>
            <p:xfrm>
              <a:off x="1098476" y="2491410"/>
              <a:ext cx="9995048" cy="1676400"/>
            </p:xfrm>
            <a:graphic>
              <a:graphicData uri="http://schemas.openxmlformats.org/drawingml/2006/table">
                <a:tbl>
                  <a:tblPr firstRow="1" bandRow="1">
                    <a:tableStyleId>{5C22544A-7EE6-4342-B048-85BDC9FD1C3A}</a:tableStyleId>
                  </a:tblPr>
                  <a:tblGrid>
                    <a:gridCol w="1573006">
                      <a:extLst>
                        <a:ext uri="{9D8B030D-6E8A-4147-A177-3AD203B41FA5}">
                          <a16:colId xmlns:a16="http://schemas.microsoft.com/office/drawing/2014/main" val="3543970758"/>
                        </a:ext>
                      </a:extLst>
                    </a:gridCol>
                    <a:gridCol w="1972236">
                      <a:extLst>
                        <a:ext uri="{9D8B030D-6E8A-4147-A177-3AD203B41FA5}">
                          <a16:colId xmlns:a16="http://schemas.microsoft.com/office/drawing/2014/main" val="1653726759"/>
                        </a:ext>
                      </a:extLst>
                    </a:gridCol>
                    <a:gridCol w="1004047">
                      <a:extLst>
                        <a:ext uri="{9D8B030D-6E8A-4147-A177-3AD203B41FA5}">
                          <a16:colId xmlns:a16="http://schemas.microsoft.com/office/drawing/2014/main" val="1929803119"/>
                        </a:ext>
                      </a:extLst>
                    </a:gridCol>
                    <a:gridCol w="1764432">
                      <a:extLst>
                        <a:ext uri="{9D8B030D-6E8A-4147-A177-3AD203B41FA5}">
                          <a16:colId xmlns:a16="http://schemas.microsoft.com/office/drawing/2014/main" val="747075043"/>
                        </a:ext>
                      </a:extLst>
                    </a:gridCol>
                    <a:gridCol w="1785591">
                      <a:extLst>
                        <a:ext uri="{9D8B030D-6E8A-4147-A177-3AD203B41FA5}">
                          <a16:colId xmlns:a16="http://schemas.microsoft.com/office/drawing/2014/main" val="1928312539"/>
                        </a:ext>
                      </a:extLst>
                    </a:gridCol>
                    <a:gridCol w="1895736">
                      <a:extLst>
                        <a:ext uri="{9D8B030D-6E8A-4147-A177-3AD203B41FA5}">
                          <a16:colId xmlns:a16="http://schemas.microsoft.com/office/drawing/2014/main" val="2343454477"/>
                        </a:ext>
                      </a:extLst>
                    </a:gridCol>
                  </a:tblGrid>
                  <a:tr h="373114">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900" dirty="0"/>
                            <a:t>Construction</a:t>
                          </a:r>
                        </a:p>
                      </a:txBody>
                      <a:tcPr anchor="ct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900" dirty="0"/>
                            <a:t>Runtime</a:t>
                          </a:r>
                        </a:p>
                      </a:txBody>
                      <a:tcPr anchor="ctr"/>
                    </a:tc>
                    <a:tc hMerge="1">
                      <a:txBody>
                        <a:bodyPr/>
                        <a:lstStyle/>
                        <a:p>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tc>
                    <a:tc gridSpan="2">
                      <a:txBody>
                        <a:bodyPr/>
                        <a:lstStyle/>
                        <a:p>
                          <a:pPr algn="ctr"/>
                          <a:r>
                            <a:rPr lang="en-US" sz="1900" dirty="0"/>
                            <a:t>Size (in group elements &amp; scalars)</a:t>
                          </a:r>
                        </a:p>
                      </a:txBody>
                      <a:tcPr anchor="ctr"/>
                    </a:tc>
                    <a:tc hMerge="1">
                      <a:txBody>
                        <a:bodyPr/>
                        <a:lstStyle/>
                        <a:p>
                          <a:endParaRPr lang="en-US" sz="1800" dirty="0"/>
                        </a:p>
                      </a:txBody>
                      <a:tcPr/>
                    </a:tc>
                    <a:extLst>
                      <a:ext uri="{0D108BD9-81ED-4DB2-BD59-A6C34878D82A}">
                        <a16:rowId xmlns:a16="http://schemas.microsoft.com/office/drawing/2014/main" val="1699897538"/>
                      </a:ext>
                    </a:extLst>
                  </a:tr>
                  <a:tr h="373114">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900" dirty="0">
                              <a:solidFill>
                                <a:schemeClr val="bg1"/>
                              </a:solidFill>
                            </a:rPr>
                            <a:t>U @ Issuance</a:t>
                          </a: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900" dirty="0">
                              <a:solidFill>
                                <a:schemeClr val="bg1"/>
                              </a:solidFill>
                            </a:rPr>
                            <a:t>Issuer</a:t>
                          </a: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900" dirty="0">
                              <a:solidFill>
                                <a:schemeClr val="bg1"/>
                              </a:solidFill>
                            </a:rPr>
                            <a:t>User @ Token</a:t>
                          </a:r>
                        </a:p>
                      </a:txBody>
                      <a:tcPr anchor="ctr">
                        <a:solidFill>
                          <a:schemeClr val="accent1"/>
                        </a:solidFill>
                      </a:tcPr>
                    </a:tc>
                    <a:tc>
                      <a:txBody>
                        <a:bodyPr/>
                        <a:lstStyle/>
                        <a:p>
                          <a:pPr algn="ctr"/>
                          <a:r>
                            <a:rPr lang="en-US" sz="1900" dirty="0">
                              <a:solidFill>
                                <a:schemeClr val="bg1"/>
                              </a:solidFill>
                            </a:rPr>
                            <a:t>Dispenser</a:t>
                          </a:r>
                        </a:p>
                      </a:txBody>
                      <a:tcPr anchor="ctr">
                        <a:solidFill>
                          <a:schemeClr val="accent1"/>
                        </a:solidFill>
                      </a:tcPr>
                    </a:tc>
                    <a:tc>
                      <a:txBody>
                        <a:bodyPr/>
                        <a:lstStyle/>
                        <a:p>
                          <a:pPr algn="ctr"/>
                          <a:r>
                            <a:rPr lang="en-US" sz="1900" dirty="0">
                              <a:solidFill>
                                <a:schemeClr val="bg1"/>
                              </a:solidFill>
                            </a:rPr>
                            <a:t>Token</a:t>
                          </a:r>
                        </a:p>
                      </a:txBody>
                      <a:tcPr anchor="ctr">
                        <a:solidFill>
                          <a:schemeClr val="accent1"/>
                        </a:solidFill>
                      </a:tcPr>
                    </a:tc>
                    <a:extLst>
                      <a:ext uri="{0D108BD9-81ED-4DB2-BD59-A6C34878D82A}">
                        <a16:rowId xmlns:a16="http://schemas.microsoft.com/office/drawing/2014/main" val="2711318175"/>
                      </a:ext>
                    </a:extLst>
                  </a:tr>
                  <a:tr h="373114">
                    <a:tc>
                      <a:txBody>
                        <a:bodyPr/>
                        <a:lstStyle/>
                        <a:p>
                          <a:r>
                            <a:rPr lang="en-US" sz="2400" dirty="0"/>
                            <a:t>Strawman</a:t>
                          </a:r>
                        </a:p>
                      </a:txBody>
                      <a:tcPr anchor="ctr"/>
                    </a:tc>
                    <a:tc>
                      <a:txBody>
                        <a:bodyPr/>
                        <a:lstStyle/>
                        <a:p>
                          <a:pPr/>
                          <a14:m>
                            <m:oMathPara xmlns:m="http://schemas.openxmlformats.org/officeDocument/2006/math">
                              <m:oMathParaPr>
                                <m:jc m:val="centerGroup"/>
                              </m:oMathParaPr>
                              <m:oMath xmlns:m="http://schemas.openxmlformats.org/officeDocument/2006/math">
                                <m:r>
                                  <a:rPr lang="en-US" sz="1900" b="0" i="1" smtClean="0">
                                    <a:latin typeface="Cambria Math" panose="02040503050406030204" pitchFamily="18" charset="0"/>
                                  </a:rPr>
                                  <m:t>𝑘</m:t>
                                </m:r>
                                <m:r>
                                  <a:rPr lang="en-US" sz="1900" b="0" i="1" smtClean="0">
                                    <a:latin typeface="Cambria Math" panose="02040503050406030204" pitchFamily="18" charset="0"/>
                                  </a:rPr>
                                  <m:t>⋅</m:t>
                                </m:r>
                                <m:r>
                                  <m:rPr>
                                    <m:sty m:val="p"/>
                                  </m:rPr>
                                  <a:rPr lang="en-US" sz="1900" b="0" i="1" smtClean="0">
                                    <a:latin typeface="Cambria Math" panose="02040503050406030204" pitchFamily="18" charset="0"/>
                                  </a:rPr>
                                  <m:t>poly</m:t>
                                </m:r>
                                <m:d>
                                  <m:dPr>
                                    <m:ctrlPr>
                                      <a:rPr lang="en-US" sz="1900" b="0" i="1" smtClean="0">
                                        <a:latin typeface="Cambria Math" panose="02040503050406030204" pitchFamily="18" charset="0"/>
                                      </a:rPr>
                                    </m:ctrlPr>
                                  </m:dPr>
                                  <m:e>
                                    <m:r>
                                      <a:rPr lang="en-US" sz="1900" b="0" i="1" smtClean="0">
                                        <a:latin typeface="Cambria Math" panose="02040503050406030204" pitchFamily="18" charset="0"/>
                                      </a:rPr>
                                      <m:t>𝜆</m:t>
                                    </m:r>
                                  </m:e>
                                </m:d>
                              </m:oMath>
                            </m:oMathPara>
                          </a14:m>
                          <a:endParaRPr lang="en-US" sz="1900" dirty="0"/>
                        </a:p>
                      </a:txBody>
                      <a:tcPr anchor="ctr"/>
                    </a:tc>
                    <a:tc>
                      <a:txBody>
                        <a:bodyPr/>
                        <a:lstStyle/>
                        <a:p>
                          <a:pPr/>
                          <a14:m>
                            <m:oMathPara xmlns:m="http://schemas.openxmlformats.org/officeDocument/2006/math">
                              <m:oMathParaPr>
                                <m:jc m:val="centerGroup"/>
                              </m:oMathParaPr>
                              <m:oMath xmlns:m="http://schemas.openxmlformats.org/officeDocument/2006/math">
                                <m:r>
                                  <m:rPr>
                                    <m:sty m:val="p"/>
                                  </m:rPr>
                                  <a:rPr lang="en-US" sz="1900" b="0" i="1" smtClean="0">
                                    <a:latin typeface="Cambria Math" panose="02040503050406030204" pitchFamily="18" charset="0"/>
                                  </a:rPr>
                                  <m:t>poly</m:t>
                                </m:r>
                                <m:d>
                                  <m:dPr>
                                    <m:ctrlPr>
                                      <a:rPr lang="en-US" sz="1900" b="0" i="1" smtClean="0">
                                        <a:latin typeface="Cambria Math" panose="02040503050406030204" pitchFamily="18" charset="0"/>
                                      </a:rPr>
                                    </m:ctrlPr>
                                  </m:dPr>
                                  <m:e>
                                    <m:r>
                                      <a:rPr lang="en-US" sz="1900" b="0" i="1" smtClean="0">
                                        <a:latin typeface="Cambria Math" panose="02040503050406030204" pitchFamily="18" charset="0"/>
                                      </a:rPr>
                                      <m:t>𝜆</m:t>
                                    </m:r>
                                  </m:e>
                                </m:d>
                              </m:oMath>
                            </m:oMathPara>
                          </a14:m>
                          <a:endParaRPr lang="en-US" sz="19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900" b="0" i="1" smtClean="0">
                                    <a:latin typeface="Cambria Math" panose="02040503050406030204" pitchFamily="18" charset="0"/>
                                  </a:rPr>
                                  <m:t>𝑘</m:t>
                                </m:r>
                                <m:r>
                                  <a:rPr lang="en-US" sz="1900" b="0" i="1" smtClean="0">
                                    <a:latin typeface="Cambria Math" panose="02040503050406030204" pitchFamily="18" charset="0"/>
                                  </a:rPr>
                                  <m:t>⋅</m:t>
                                </m:r>
                                <m:r>
                                  <m:rPr>
                                    <m:sty m:val="p"/>
                                  </m:rPr>
                                  <a:rPr lang="en-US" sz="1900" b="0" i="1" smtClean="0">
                                    <a:latin typeface="Cambria Math" panose="02040503050406030204" pitchFamily="18" charset="0"/>
                                  </a:rPr>
                                  <m:t>poly</m:t>
                                </m:r>
                                <m:d>
                                  <m:dPr>
                                    <m:ctrlPr>
                                      <a:rPr lang="en-US" sz="1900" b="0" i="1" smtClean="0">
                                        <a:latin typeface="Cambria Math" panose="02040503050406030204" pitchFamily="18" charset="0"/>
                                      </a:rPr>
                                    </m:ctrlPr>
                                  </m:dPr>
                                  <m:e>
                                    <m:r>
                                      <a:rPr lang="en-US" sz="1900" b="0" i="1" smtClean="0">
                                        <a:latin typeface="Cambria Math" panose="02040503050406030204" pitchFamily="18" charset="0"/>
                                      </a:rPr>
                                      <m:t>𝜆</m:t>
                                    </m:r>
                                  </m:e>
                                </m:d>
                              </m:oMath>
                            </m:oMathPara>
                          </a14:m>
                          <a:endParaRPr lang="en-US" sz="1900" dirty="0"/>
                        </a:p>
                      </a:txBody>
                      <a:tcPr anchor="ctr">
                        <a:solidFill>
                          <a:srgbClr val="F3E7E7">
                            <a:alpha val="80000"/>
                          </a:srgbClr>
                        </a:solidFill>
                      </a:tcPr>
                    </a:tc>
                    <a:tc>
                      <a:txBody>
                        <a:bodyPr/>
                        <a:lstStyle/>
                        <a:p>
                          <a:pPr/>
                          <a14:m>
                            <m:oMathPara xmlns:m="http://schemas.openxmlformats.org/officeDocument/2006/math">
                              <m:oMathParaPr>
                                <m:jc m:val="centerGroup"/>
                              </m:oMathParaPr>
                              <m:oMath xmlns:m="http://schemas.openxmlformats.org/officeDocument/2006/math">
                                <m:r>
                                  <a:rPr lang="en-US" sz="1900" b="0" i="1" smtClean="0">
                                    <a:latin typeface="Cambria Math" panose="02040503050406030204" pitchFamily="18" charset="0"/>
                                  </a:rPr>
                                  <m:t>𝑂</m:t>
                                </m:r>
                                <m:d>
                                  <m:dPr>
                                    <m:ctrlPr>
                                      <a:rPr lang="en-US" sz="1900" b="0" i="1" smtClean="0">
                                        <a:latin typeface="Cambria Math" panose="02040503050406030204" pitchFamily="18" charset="0"/>
                                      </a:rPr>
                                    </m:ctrlPr>
                                  </m:dPr>
                                  <m:e>
                                    <m:r>
                                      <a:rPr lang="en-US" sz="1900" b="0" i="1" smtClean="0">
                                        <a:latin typeface="Cambria Math" panose="02040503050406030204" pitchFamily="18" charset="0"/>
                                      </a:rPr>
                                      <m:t>𝑘</m:t>
                                    </m:r>
                                  </m:e>
                                </m:d>
                              </m:oMath>
                            </m:oMathPara>
                          </a14:m>
                          <a:endParaRPr lang="en-US" sz="1900" dirty="0"/>
                        </a:p>
                      </a:txBody>
                      <a:tcPr anchor="ctr"/>
                    </a:tc>
                    <a:tc>
                      <a:txBody>
                        <a:bodyPr/>
                        <a:lstStyle/>
                        <a:p>
                          <a:pPr/>
                          <a14:m>
                            <m:oMathPara xmlns:m="http://schemas.openxmlformats.org/officeDocument/2006/math">
                              <m:oMathParaPr>
                                <m:jc m:val="centerGroup"/>
                              </m:oMathParaPr>
                              <m:oMath xmlns:m="http://schemas.openxmlformats.org/officeDocument/2006/math">
                                <m:r>
                                  <a:rPr lang="en-US" sz="1900" b="0" i="1" smtClean="0">
                                    <a:latin typeface="Cambria Math" panose="02040503050406030204" pitchFamily="18" charset="0"/>
                                  </a:rPr>
                                  <m:t>𝑂</m:t>
                                </m:r>
                                <m:d>
                                  <m:dPr>
                                    <m:ctrlPr>
                                      <a:rPr lang="en-US" sz="1900" b="0" i="1" smtClean="0">
                                        <a:latin typeface="Cambria Math" panose="02040503050406030204" pitchFamily="18" charset="0"/>
                                      </a:rPr>
                                    </m:ctrlPr>
                                  </m:dPr>
                                  <m:e>
                                    <m:func>
                                      <m:funcPr>
                                        <m:ctrlPr>
                                          <a:rPr lang="en-US" sz="1900" b="0" i="1" smtClean="0">
                                            <a:latin typeface="Cambria Math" panose="02040503050406030204" pitchFamily="18" charset="0"/>
                                          </a:rPr>
                                        </m:ctrlPr>
                                      </m:funcPr>
                                      <m:fName>
                                        <m:r>
                                          <m:rPr>
                                            <m:sty m:val="p"/>
                                          </m:rPr>
                                          <a:rPr lang="en-US" sz="1900" b="0" i="0" smtClean="0">
                                            <a:latin typeface="Cambria Math" panose="02040503050406030204" pitchFamily="18" charset="0"/>
                                          </a:rPr>
                                          <m:t>log</m:t>
                                        </m:r>
                                      </m:fName>
                                      <m:e>
                                        <m:func>
                                          <m:funcPr>
                                            <m:ctrlPr>
                                              <a:rPr lang="en-US" sz="1900" b="0" i="1" smtClean="0">
                                                <a:latin typeface="Cambria Math" panose="02040503050406030204" pitchFamily="18" charset="0"/>
                                              </a:rPr>
                                            </m:ctrlPr>
                                          </m:funcPr>
                                          <m:fName>
                                            <m:r>
                                              <m:rPr>
                                                <m:sty m:val="p"/>
                                              </m:rPr>
                                              <a:rPr lang="en-US" sz="1900" b="0" i="0" smtClean="0">
                                                <a:latin typeface="Cambria Math" panose="02040503050406030204" pitchFamily="18" charset="0"/>
                                              </a:rPr>
                                              <m:t>log</m:t>
                                            </m:r>
                                          </m:fName>
                                          <m:e>
                                            <m:r>
                                              <a:rPr lang="en-US" sz="1900" b="0" i="1" smtClean="0">
                                                <a:latin typeface="Cambria Math" panose="02040503050406030204" pitchFamily="18" charset="0"/>
                                              </a:rPr>
                                              <m:t>𝑁</m:t>
                                            </m:r>
                                          </m:e>
                                        </m:func>
                                      </m:e>
                                    </m:func>
                                  </m:e>
                                </m:d>
                              </m:oMath>
                            </m:oMathPara>
                          </a14:m>
                          <a:endParaRPr lang="en-US" sz="1900" dirty="0"/>
                        </a:p>
                      </a:txBody>
                      <a:tcPr anchor="ctr"/>
                    </a:tc>
                    <a:extLst>
                      <a:ext uri="{0D108BD9-81ED-4DB2-BD59-A6C34878D82A}">
                        <a16:rowId xmlns:a16="http://schemas.microsoft.com/office/drawing/2014/main" val="4249803019"/>
                      </a:ext>
                    </a:extLst>
                  </a:tr>
                  <a:tr h="373114">
                    <a:tc>
                      <a:txBody>
                        <a:bodyPr/>
                        <a:lstStyle/>
                        <a:p>
                          <a:r>
                            <a:rPr lang="en-US" sz="2400" b="1" dirty="0">
                              <a:solidFill>
                                <a:srgbClr val="C00000"/>
                              </a:solidFill>
                            </a:rPr>
                            <a:t>Ours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900" b="0" i="1" smtClean="0">
                                    <a:latin typeface="Cambria Math" panose="02040503050406030204" pitchFamily="18" charset="0"/>
                                  </a:rPr>
                                  <m:t>𝑘</m:t>
                                </m:r>
                                <m:func>
                                  <m:funcPr>
                                    <m:ctrlPr>
                                      <a:rPr lang="en-US" sz="1900" b="0" i="1" smtClean="0">
                                        <a:latin typeface="Cambria Math" panose="02040503050406030204" pitchFamily="18" charset="0"/>
                                      </a:rPr>
                                    </m:ctrlPr>
                                  </m:funcPr>
                                  <m:fName>
                                    <m:sSup>
                                      <m:sSupPr>
                                        <m:ctrlPr>
                                          <a:rPr lang="en-US" sz="1900" b="0" i="1" smtClean="0">
                                            <a:latin typeface="Cambria Math" panose="02040503050406030204" pitchFamily="18" charset="0"/>
                                          </a:rPr>
                                        </m:ctrlPr>
                                      </m:sSupPr>
                                      <m:e>
                                        <m:r>
                                          <m:rPr>
                                            <m:sty m:val="p"/>
                                          </m:rPr>
                                          <a:rPr lang="en-US" sz="1900" b="0" i="0" smtClean="0">
                                            <a:latin typeface="Cambria Math" panose="02040503050406030204" pitchFamily="18" charset="0"/>
                                          </a:rPr>
                                          <m:t>log</m:t>
                                        </m:r>
                                      </m:e>
                                      <m:sup>
                                        <m:r>
                                          <a:rPr lang="en-US" sz="1900" b="0" i="1" smtClean="0">
                                            <a:latin typeface="Cambria Math" panose="02040503050406030204" pitchFamily="18" charset="0"/>
                                          </a:rPr>
                                          <m:t>2</m:t>
                                        </m:r>
                                      </m:sup>
                                    </m:sSup>
                                  </m:fName>
                                  <m:e>
                                    <m:r>
                                      <a:rPr lang="en-US" sz="1900" b="0" i="1" smtClean="0">
                                        <a:latin typeface="Cambria Math" panose="02040503050406030204" pitchFamily="18" charset="0"/>
                                      </a:rPr>
                                      <m:t>𝑘</m:t>
                                    </m:r>
                                  </m:e>
                                </m:func>
                                <m:r>
                                  <a:rPr lang="en-US" sz="1900" b="0" i="1" smtClean="0">
                                    <a:latin typeface="Cambria Math" panose="02040503050406030204" pitchFamily="18" charset="0"/>
                                  </a:rPr>
                                  <m:t>⋅</m:t>
                                </m:r>
                                <m:r>
                                  <m:rPr>
                                    <m:sty m:val="p"/>
                                  </m:rPr>
                                  <a:rPr lang="en-US" sz="1900" b="0" i="1" smtClean="0">
                                    <a:latin typeface="Cambria Math" panose="02040503050406030204" pitchFamily="18" charset="0"/>
                                  </a:rPr>
                                  <m:t>poly</m:t>
                                </m:r>
                                <m:d>
                                  <m:dPr>
                                    <m:ctrlPr>
                                      <a:rPr lang="en-US" sz="1900" b="0" i="1" smtClean="0">
                                        <a:latin typeface="Cambria Math" panose="02040503050406030204" pitchFamily="18" charset="0"/>
                                      </a:rPr>
                                    </m:ctrlPr>
                                  </m:dPr>
                                  <m:e>
                                    <m:r>
                                      <a:rPr lang="en-US" sz="1900" b="0" i="1" smtClean="0">
                                        <a:latin typeface="Cambria Math" panose="02040503050406030204" pitchFamily="18" charset="0"/>
                                      </a:rPr>
                                      <m:t>𝜆</m:t>
                                    </m:r>
                                  </m:e>
                                </m:d>
                              </m:oMath>
                            </m:oMathPara>
                          </a14:m>
                          <a:endParaRPr lang="en-US" sz="1900" dirty="0"/>
                        </a:p>
                      </a:txBody>
                      <a:tcPr anchor="ctr">
                        <a:solidFill>
                          <a:schemeClr val="accent2">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m:rPr>
                                    <m:sty m:val="p"/>
                                  </m:rPr>
                                  <a:rPr lang="en-US" sz="1900" b="0" i="1" smtClean="0">
                                    <a:latin typeface="Cambria Math" panose="02040503050406030204" pitchFamily="18" charset="0"/>
                                  </a:rPr>
                                  <m:t>poly</m:t>
                                </m:r>
                                <m:d>
                                  <m:dPr>
                                    <m:ctrlPr>
                                      <a:rPr lang="en-US" sz="1900" b="0" i="1" smtClean="0">
                                        <a:latin typeface="Cambria Math" panose="02040503050406030204" pitchFamily="18" charset="0"/>
                                      </a:rPr>
                                    </m:ctrlPr>
                                  </m:dPr>
                                  <m:e>
                                    <m:r>
                                      <a:rPr lang="en-US" sz="1900" b="0" i="1" smtClean="0">
                                        <a:latin typeface="Cambria Math" panose="02040503050406030204" pitchFamily="18" charset="0"/>
                                      </a:rPr>
                                      <m:t>𝜆</m:t>
                                    </m:r>
                                  </m:e>
                                </m:d>
                              </m:oMath>
                            </m:oMathPara>
                          </a14:m>
                          <a:endParaRPr lang="en-US" sz="1900" dirty="0"/>
                        </a:p>
                      </a:txBody>
                      <a:tcPr anchor="ctr"/>
                    </a:tc>
                    <a:tc>
                      <a:txBody>
                        <a:bodyPr/>
                        <a:lstStyle/>
                        <a:p>
                          <a:pPr/>
                          <a14:m>
                            <m:oMathPara xmlns:m="http://schemas.openxmlformats.org/officeDocument/2006/math">
                              <m:oMathParaPr>
                                <m:jc m:val="centerGroup"/>
                              </m:oMathParaPr>
                              <m:oMath xmlns:m="http://schemas.openxmlformats.org/officeDocument/2006/math">
                                <m:r>
                                  <m:rPr>
                                    <m:sty m:val="p"/>
                                  </m:rPr>
                                  <a:rPr lang="en-US" sz="1900" b="0" i="1" smtClean="0">
                                    <a:latin typeface="Cambria Math" panose="02040503050406030204" pitchFamily="18" charset="0"/>
                                  </a:rPr>
                                  <m:t>log</m:t>
                                </m:r>
                                <m:r>
                                  <a:rPr lang="en-US" sz="1900" b="0" i="1" smtClean="0">
                                    <a:latin typeface="Cambria Math" panose="02040503050406030204" pitchFamily="18" charset="0"/>
                                  </a:rPr>
                                  <m:t>⁡</m:t>
                                </m:r>
                                <m:r>
                                  <a:rPr lang="en-US" sz="1900" b="0" i="1" smtClean="0">
                                    <a:latin typeface="Cambria Math" panose="02040503050406030204" pitchFamily="18" charset="0"/>
                                  </a:rPr>
                                  <m:t>𝑁</m:t>
                                </m:r>
                                <m:r>
                                  <a:rPr lang="en-US" sz="1900" b="0" i="1" smtClean="0">
                                    <a:latin typeface="Cambria Math" panose="02040503050406030204" pitchFamily="18" charset="0"/>
                                  </a:rPr>
                                  <m:t>⋅</m:t>
                                </m:r>
                                <m:r>
                                  <m:rPr>
                                    <m:sty m:val="p"/>
                                  </m:rPr>
                                  <a:rPr lang="en-US" sz="1900" b="0" i="1" smtClean="0">
                                    <a:latin typeface="Cambria Math" panose="02040503050406030204" pitchFamily="18" charset="0"/>
                                  </a:rPr>
                                  <m:t>poly</m:t>
                                </m:r>
                                <m:d>
                                  <m:dPr>
                                    <m:ctrlPr>
                                      <a:rPr lang="en-US" sz="1900" b="0" i="1" smtClean="0">
                                        <a:latin typeface="Cambria Math" panose="02040503050406030204" pitchFamily="18" charset="0"/>
                                      </a:rPr>
                                    </m:ctrlPr>
                                  </m:dPr>
                                  <m:e>
                                    <m:r>
                                      <a:rPr lang="en-US" sz="1900" b="0" i="1" smtClean="0">
                                        <a:latin typeface="Cambria Math" panose="02040503050406030204" pitchFamily="18" charset="0"/>
                                      </a:rPr>
                                      <m:t>𝜆</m:t>
                                    </m:r>
                                  </m:e>
                                </m:d>
                              </m:oMath>
                            </m:oMathPara>
                          </a14:m>
                          <a:endParaRPr lang="en-US" sz="1900" dirty="0"/>
                        </a:p>
                      </a:txBody>
                      <a:tcPr anchor="ctr">
                        <a:solidFill>
                          <a:schemeClr val="accent3">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900" b="0" i="1" smtClean="0">
                                    <a:latin typeface="Cambria Math" panose="02040503050406030204" pitchFamily="18" charset="0"/>
                                  </a:rPr>
                                  <m:t>𝑂</m:t>
                                </m:r>
                                <m:d>
                                  <m:dPr>
                                    <m:ctrlPr>
                                      <a:rPr lang="en-US" sz="1900" b="0" i="1" smtClean="0">
                                        <a:latin typeface="Cambria Math" panose="02040503050406030204" pitchFamily="18" charset="0"/>
                                      </a:rPr>
                                    </m:ctrlPr>
                                  </m:dPr>
                                  <m:e>
                                    <m:r>
                                      <a:rPr lang="en-US" sz="1900" b="0" i="1" smtClean="0">
                                        <a:latin typeface="Cambria Math" panose="02040503050406030204" pitchFamily="18" charset="0"/>
                                      </a:rPr>
                                      <m:t>𝑘</m:t>
                                    </m:r>
                                  </m:e>
                                </m:d>
                              </m:oMath>
                            </m:oMathPara>
                          </a14:m>
                          <a:endParaRPr lang="en-US" sz="19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900" b="0" i="1" smtClean="0">
                                    <a:latin typeface="Cambria Math" panose="02040503050406030204" pitchFamily="18" charset="0"/>
                                  </a:rPr>
                                  <m:t>𝑂</m:t>
                                </m:r>
                                <m:d>
                                  <m:dPr>
                                    <m:ctrlPr>
                                      <a:rPr lang="en-US" sz="1900" b="0" i="1" smtClean="0">
                                        <a:latin typeface="Cambria Math" panose="02040503050406030204" pitchFamily="18" charset="0"/>
                                      </a:rPr>
                                    </m:ctrlPr>
                                  </m:dPr>
                                  <m:e>
                                    <m:func>
                                      <m:funcPr>
                                        <m:ctrlPr>
                                          <a:rPr lang="en-US" sz="1900" b="0" i="1" smtClean="0">
                                            <a:latin typeface="Cambria Math" panose="02040503050406030204" pitchFamily="18" charset="0"/>
                                          </a:rPr>
                                        </m:ctrlPr>
                                      </m:funcPr>
                                      <m:fName>
                                        <m:r>
                                          <m:rPr>
                                            <m:sty m:val="p"/>
                                          </m:rPr>
                                          <a:rPr lang="en-US" sz="1900" b="0" i="0" smtClean="0">
                                            <a:latin typeface="Cambria Math" panose="02040503050406030204" pitchFamily="18" charset="0"/>
                                          </a:rPr>
                                          <m:t>log</m:t>
                                        </m:r>
                                      </m:fName>
                                      <m:e>
                                        <m:r>
                                          <a:rPr lang="en-US" sz="1900" b="0" i="1" smtClean="0">
                                            <a:latin typeface="Cambria Math" panose="02040503050406030204" pitchFamily="18" charset="0"/>
                                          </a:rPr>
                                          <m:t>𝜆</m:t>
                                        </m:r>
                                      </m:e>
                                    </m:func>
                                  </m:e>
                                </m:d>
                              </m:oMath>
                            </m:oMathPara>
                          </a14:m>
                          <a:endParaRPr lang="en-US" sz="1900" dirty="0"/>
                        </a:p>
                      </a:txBody>
                      <a:tcPr anchor="ctr">
                        <a:solidFill>
                          <a:schemeClr val="accent2">
                            <a:lumMod val="20000"/>
                            <a:lumOff val="80000"/>
                          </a:schemeClr>
                        </a:solidFill>
                      </a:tcPr>
                    </a:tc>
                    <a:extLst>
                      <a:ext uri="{0D108BD9-81ED-4DB2-BD59-A6C34878D82A}">
                        <a16:rowId xmlns:a16="http://schemas.microsoft.com/office/drawing/2014/main" val="520163459"/>
                      </a:ext>
                    </a:extLst>
                  </a:tr>
                </a:tbl>
              </a:graphicData>
            </a:graphic>
          </p:graphicFrame>
        </mc:Choice>
        <mc:Fallback xmlns="">
          <p:graphicFrame>
            <p:nvGraphicFramePr>
              <p:cNvPr id="4" name="Table 3">
                <a:extLst>
                  <a:ext uri="{FF2B5EF4-FFF2-40B4-BE49-F238E27FC236}">
                    <a16:creationId xmlns:a16="http://schemas.microsoft.com/office/drawing/2014/main" id="{2DC67F67-0A5E-7794-5459-AC682836470F}"/>
                  </a:ext>
                </a:extLst>
              </p:cNvPr>
              <p:cNvGraphicFramePr>
                <a:graphicFrameLocks noGrp="1"/>
              </p:cNvGraphicFramePr>
              <p:nvPr>
                <p:extLst>
                  <p:ext uri="{D42A27DB-BD31-4B8C-83A1-F6EECF244321}">
                    <p14:modId xmlns:p14="http://schemas.microsoft.com/office/powerpoint/2010/main" val="2945491376"/>
                  </p:ext>
                </p:extLst>
              </p:nvPr>
            </p:nvGraphicFramePr>
            <p:xfrm>
              <a:off x="1098476" y="2491410"/>
              <a:ext cx="9995048" cy="1676400"/>
            </p:xfrm>
            <a:graphic>
              <a:graphicData uri="http://schemas.openxmlformats.org/drawingml/2006/table">
                <a:tbl>
                  <a:tblPr firstRow="1" bandRow="1">
                    <a:tableStyleId>{5C22544A-7EE6-4342-B048-85BDC9FD1C3A}</a:tableStyleId>
                  </a:tblPr>
                  <a:tblGrid>
                    <a:gridCol w="1573006">
                      <a:extLst>
                        <a:ext uri="{9D8B030D-6E8A-4147-A177-3AD203B41FA5}">
                          <a16:colId xmlns:a16="http://schemas.microsoft.com/office/drawing/2014/main" val="3543970758"/>
                        </a:ext>
                      </a:extLst>
                    </a:gridCol>
                    <a:gridCol w="1972236">
                      <a:extLst>
                        <a:ext uri="{9D8B030D-6E8A-4147-A177-3AD203B41FA5}">
                          <a16:colId xmlns:a16="http://schemas.microsoft.com/office/drawing/2014/main" val="1653726759"/>
                        </a:ext>
                      </a:extLst>
                    </a:gridCol>
                    <a:gridCol w="1004047">
                      <a:extLst>
                        <a:ext uri="{9D8B030D-6E8A-4147-A177-3AD203B41FA5}">
                          <a16:colId xmlns:a16="http://schemas.microsoft.com/office/drawing/2014/main" val="1929803119"/>
                        </a:ext>
                      </a:extLst>
                    </a:gridCol>
                    <a:gridCol w="1764432">
                      <a:extLst>
                        <a:ext uri="{9D8B030D-6E8A-4147-A177-3AD203B41FA5}">
                          <a16:colId xmlns:a16="http://schemas.microsoft.com/office/drawing/2014/main" val="747075043"/>
                        </a:ext>
                      </a:extLst>
                    </a:gridCol>
                    <a:gridCol w="1785591">
                      <a:extLst>
                        <a:ext uri="{9D8B030D-6E8A-4147-A177-3AD203B41FA5}">
                          <a16:colId xmlns:a16="http://schemas.microsoft.com/office/drawing/2014/main" val="1928312539"/>
                        </a:ext>
                      </a:extLst>
                    </a:gridCol>
                    <a:gridCol w="1895736">
                      <a:extLst>
                        <a:ext uri="{9D8B030D-6E8A-4147-A177-3AD203B41FA5}">
                          <a16:colId xmlns:a16="http://schemas.microsoft.com/office/drawing/2014/main" val="2343454477"/>
                        </a:ext>
                      </a:extLst>
                    </a:gridCol>
                  </a:tblGrid>
                  <a:tr h="381000">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900" dirty="0"/>
                            <a:t>Construction</a:t>
                          </a:r>
                        </a:p>
                      </a:txBody>
                      <a:tcPr anchor="ct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900" dirty="0"/>
                            <a:t>Runtime</a:t>
                          </a:r>
                        </a:p>
                      </a:txBody>
                      <a:tcPr anchor="ctr"/>
                    </a:tc>
                    <a:tc hMerge="1">
                      <a:txBody>
                        <a:bodyPr/>
                        <a:lstStyle/>
                        <a:p>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tc>
                    <a:tc gridSpan="2">
                      <a:txBody>
                        <a:bodyPr/>
                        <a:lstStyle/>
                        <a:p>
                          <a:pPr algn="ctr"/>
                          <a:r>
                            <a:rPr lang="en-US" sz="1900" dirty="0"/>
                            <a:t>Size (in group elements &amp; scalars)</a:t>
                          </a:r>
                        </a:p>
                      </a:txBody>
                      <a:tcPr anchor="ctr"/>
                    </a:tc>
                    <a:tc hMerge="1">
                      <a:txBody>
                        <a:bodyPr/>
                        <a:lstStyle/>
                        <a:p>
                          <a:endParaRPr lang="en-US" sz="1800" dirty="0"/>
                        </a:p>
                      </a:txBody>
                      <a:tcPr/>
                    </a:tc>
                    <a:extLst>
                      <a:ext uri="{0D108BD9-81ED-4DB2-BD59-A6C34878D82A}">
                        <a16:rowId xmlns:a16="http://schemas.microsoft.com/office/drawing/2014/main" val="1699897538"/>
                      </a:ext>
                    </a:extLst>
                  </a:tr>
                  <a:tr h="38100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900" dirty="0">
                              <a:solidFill>
                                <a:schemeClr val="bg1"/>
                              </a:solidFill>
                            </a:rPr>
                            <a:t>U @ Issuance</a:t>
                          </a: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900" dirty="0">
                              <a:solidFill>
                                <a:schemeClr val="bg1"/>
                              </a:solidFill>
                            </a:rPr>
                            <a:t>Issuer</a:t>
                          </a: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900" dirty="0">
                              <a:solidFill>
                                <a:schemeClr val="bg1"/>
                              </a:solidFill>
                            </a:rPr>
                            <a:t>User @ Token</a:t>
                          </a:r>
                        </a:p>
                      </a:txBody>
                      <a:tcPr anchor="ctr">
                        <a:solidFill>
                          <a:schemeClr val="accent1"/>
                        </a:solidFill>
                      </a:tcPr>
                    </a:tc>
                    <a:tc>
                      <a:txBody>
                        <a:bodyPr/>
                        <a:lstStyle/>
                        <a:p>
                          <a:pPr algn="ctr"/>
                          <a:r>
                            <a:rPr lang="en-US" sz="1900" dirty="0">
                              <a:solidFill>
                                <a:schemeClr val="bg1"/>
                              </a:solidFill>
                            </a:rPr>
                            <a:t>Dispenser</a:t>
                          </a:r>
                        </a:p>
                      </a:txBody>
                      <a:tcPr anchor="ctr">
                        <a:solidFill>
                          <a:schemeClr val="accent1"/>
                        </a:solidFill>
                      </a:tcPr>
                    </a:tc>
                    <a:tc>
                      <a:txBody>
                        <a:bodyPr/>
                        <a:lstStyle/>
                        <a:p>
                          <a:pPr algn="ctr"/>
                          <a:r>
                            <a:rPr lang="en-US" sz="1900" dirty="0">
                              <a:solidFill>
                                <a:schemeClr val="bg1"/>
                              </a:solidFill>
                            </a:rPr>
                            <a:t>Token</a:t>
                          </a:r>
                        </a:p>
                      </a:txBody>
                      <a:tcPr anchor="ctr">
                        <a:solidFill>
                          <a:schemeClr val="accent1"/>
                        </a:solidFill>
                      </a:tcPr>
                    </a:tc>
                    <a:extLst>
                      <a:ext uri="{0D108BD9-81ED-4DB2-BD59-A6C34878D82A}">
                        <a16:rowId xmlns:a16="http://schemas.microsoft.com/office/drawing/2014/main" val="2711318175"/>
                      </a:ext>
                    </a:extLst>
                  </a:tr>
                  <a:tr h="457200">
                    <a:tc>
                      <a:txBody>
                        <a:bodyPr/>
                        <a:lstStyle/>
                        <a:p>
                          <a:r>
                            <a:rPr lang="en-US" sz="2400" dirty="0"/>
                            <a:t>Strawman</a:t>
                          </a:r>
                        </a:p>
                      </a:txBody>
                      <a:tcPr anchor="ctr"/>
                    </a:tc>
                    <a:tc>
                      <a:txBody>
                        <a:bodyPr/>
                        <a:lstStyle/>
                        <a:p>
                          <a:endParaRPr lang="en-US"/>
                        </a:p>
                      </a:txBody>
                      <a:tcPr anchor="ctr">
                        <a:blipFill>
                          <a:blip r:embed="rId4"/>
                          <a:stretch>
                            <a:fillRect l="-80128" t="-170270" r="-326923" b="-124324"/>
                          </a:stretch>
                        </a:blipFill>
                      </a:tcPr>
                    </a:tc>
                    <a:tc>
                      <a:txBody>
                        <a:bodyPr/>
                        <a:lstStyle/>
                        <a:p>
                          <a:endParaRPr lang="en-US"/>
                        </a:p>
                      </a:txBody>
                      <a:tcPr anchor="ctr">
                        <a:blipFill>
                          <a:blip r:embed="rId4"/>
                          <a:stretch>
                            <a:fillRect l="-355696" t="-170270" r="-545570" b="-124324"/>
                          </a:stretch>
                        </a:blipFill>
                      </a:tcPr>
                    </a:tc>
                    <a:tc>
                      <a:txBody>
                        <a:bodyPr/>
                        <a:lstStyle/>
                        <a:p>
                          <a:endParaRPr lang="en-US"/>
                        </a:p>
                      </a:txBody>
                      <a:tcPr anchor="ctr">
                        <a:blipFill>
                          <a:blip r:embed="rId4"/>
                          <a:stretch>
                            <a:fillRect l="-258993" t="-170270" r="-210072" b="-124324"/>
                          </a:stretch>
                        </a:blipFill>
                      </a:tcPr>
                    </a:tc>
                    <a:tc>
                      <a:txBody>
                        <a:bodyPr/>
                        <a:lstStyle/>
                        <a:p>
                          <a:endParaRPr lang="en-US"/>
                        </a:p>
                      </a:txBody>
                      <a:tcPr anchor="ctr">
                        <a:blipFill>
                          <a:blip r:embed="rId4"/>
                          <a:stretch>
                            <a:fillRect l="-353901" t="-170270" r="-107092" b="-124324"/>
                          </a:stretch>
                        </a:blipFill>
                      </a:tcPr>
                    </a:tc>
                    <a:tc>
                      <a:txBody>
                        <a:bodyPr/>
                        <a:lstStyle/>
                        <a:p>
                          <a:endParaRPr lang="en-US"/>
                        </a:p>
                      </a:txBody>
                      <a:tcPr anchor="ctr">
                        <a:blipFill>
                          <a:blip r:embed="rId4"/>
                          <a:stretch>
                            <a:fillRect l="-429530" t="-170270" r="-1342" b="-124324"/>
                          </a:stretch>
                        </a:blipFill>
                      </a:tcPr>
                    </a:tc>
                    <a:extLst>
                      <a:ext uri="{0D108BD9-81ED-4DB2-BD59-A6C34878D82A}">
                        <a16:rowId xmlns:a16="http://schemas.microsoft.com/office/drawing/2014/main" val="4249803019"/>
                      </a:ext>
                    </a:extLst>
                  </a:tr>
                  <a:tr h="457200">
                    <a:tc>
                      <a:txBody>
                        <a:bodyPr/>
                        <a:lstStyle/>
                        <a:p>
                          <a:r>
                            <a:rPr lang="en-US" sz="2400" b="1" dirty="0">
                              <a:solidFill>
                                <a:srgbClr val="C00000"/>
                              </a:solidFill>
                            </a:rPr>
                            <a:t>Ours</a:t>
                          </a:r>
                        </a:p>
                      </a:txBody>
                      <a:tcPr anchor="ctr"/>
                    </a:tc>
                    <a:tc>
                      <a:txBody>
                        <a:bodyPr/>
                        <a:lstStyle/>
                        <a:p>
                          <a:endParaRPr lang="en-US"/>
                        </a:p>
                      </a:txBody>
                      <a:tcPr anchor="ctr">
                        <a:blipFill>
                          <a:blip r:embed="rId4"/>
                          <a:stretch>
                            <a:fillRect l="-80128" t="-277778" r="-326923" b="-27778"/>
                          </a:stretch>
                        </a:blipFill>
                      </a:tcPr>
                    </a:tc>
                    <a:tc>
                      <a:txBody>
                        <a:bodyPr/>
                        <a:lstStyle/>
                        <a:p>
                          <a:endParaRPr lang="en-US"/>
                        </a:p>
                      </a:txBody>
                      <a:tcPr anchor="ctr">
                        <a:blipFill>
                          <a:blip r:embed="rId4"/>
                          <a:stretch>
                            <a:fillRect l="-355696" t="-277778" r="-545570" b="-27778"/>
                          </a:stretch>
                        </a:blipFill>
                      </a:tcPr>
                    </a:tc>
                    <a:tc>
                      <a:txBody>
                        <a:bodyPr/>
                        <a:lstStyle/>
                        <a:p>
                          <a:endParaRPr lang="en-US"/>
                        </a:p>
                      </a:txBody>
                      <a:tcPr anchor="ctr">
                        <a:blipFill>
                          <a:blip r:embed="rId4"/>
                          <a:stretch>
                            <a:fillRect l="-258993" t="-277778" r="-210072" b="-27778"/>
                          </a:stretch>
                        </a:blipFill>
                      </a:tcPr>
                    </a:tc>
                    <a:tc>
                      <a:txBody>
                        <a:bodyPr/>
                        <a:lstStyle/>
                        <a:p>
                          <a:endParaRPr lang="en-US"/>
                        </a:p>
                      </a:txBody>
                      <a:tcPr anchor="ctr">
                        <a:blipFill>
                          <a:blip r:embed="rId4"/>
                          <a:stretch>
                            <a:fillRect l="-353901" t="-277778" r="-107092" b="-27778"/>
                          </a:stretch>
                        </a:blipFill>
                      </a:tcPr>
                    </a:tc>
                    <a:tc>
                      <a:txBody>
                        <a:bodyPr/>
                        <a:lstStyle/>
                        <a:p>
                          <a:endParaRPr lang="en-US"/>
                        </a:p>
                      </a:txBody>
                      <a:tcPr anchor="ctr">
                        <a:blipFill>
                          <a:blip r:embed="rId4"/>
                          <a:stretch>
                            <a:fillRect l="-429530" t="-277778" r="-1342" b="-27778"/>
                          </a:stretch>
                        </a:blipFill>
                      </a:tcPr>
                    </a:tc>
                    <a:extLst>
                      <a:ext uri="{0D108BD9-81ED-4DB2-BD59-A6C34878D82A}">
                        <a16:rowId xmlns:a16="http://schemas.microsoft.com/office/drawing/2014/main" val="520163459"/>
                      </a:ext>
                    </a:extLst>
                  </a:tr>
                </a:tbl>
              </a:graphicData>
            </a:graphic>
          </p:graphicFrame>
        </mc:Fallback>
      </mc:AlternateContent>
      <p:sp>
        <p:nvSpPr>
          <p:cNvPr id="5" name="TextBox 4">
            <a:extLst>
              <a:ext uri="{FF2B5EF4-FFF2-40B4-BE49-F238E27FC236}">
                <a16:creationId xmlns:a16="http://schemas.microsoft.com/office/drawing/2014/main" id="{C8B85B33-E836-3474-9AAA-43E0A6D44973}"/>
              </a:ext>
            </a:extLst>
          </p:cNvPr>
          <p:cNvSpPr txBox="1"/>
          <p:nvPr/>
        </p:nvSpPr>
        <p:spPr>
          <a:xfrm>
            <a:off x="7010400" y="3276602"/>
            <a:ext cx="543739" cy="523220"/>
          </a:xfrm>
          <a:prstGeom prst="rect">
            <a:avLst/>
          </a:prstGeom>
          <a:noFill/>
        </p:spPr>
        <p:txBody>
          <a:bodyPr wrap="none" rtlCol="0">
            <a:spAutoFit/>
          </a:bodyPr>
          <a:lstStyle/>
          <a:p>
            <a:r>
              <a:rPr lang="en-US" sz="2800" dirty="0"/>
              <a:t>❌</a:t>
            </a:r>
          </a:p>
        </p:txBody>
      </p:sp>
      <p:sp>
        <p:nvSpPr>
          <p:cNvPr id="6" name="TextBox 5">
            <a:extLst>
              <a:ext uri="{FF2B5EF4-FFF2-40B4-BE49-F238E27FC236}">
                <a16:creationId xmlns:a16="http://schemas.microsoft.com/office/drawing/2014/main" id="{8644A8A1-2ACC-3479-1EBA-38E197A07196}"/>
              </a:ext>
            </a:extLst>
          </p:cNvPr>
          <p:cNvSpPr txBox="1"/>
          <p:nvPr/>
        </p:nvSpPr>
        <p:spPr>
          <a:xfrm>
            <a:off x="7010400" y="3906200"/>
            <a:ext cx="543739" cy="523220"/>
          </a:xfrm>
          <a:prstGeom prst="rect">
            <a:avLst/>
          </a:prstGeom>
          <a:noFill/>
        </p:spPr>
        <p:txBody>
          <a:bodyPr wrap="none" rtlCol="0">
            <a:spAutoFit/>
          </a:bodyPr>
          <a:lstStyle/>
          <a:p>
            <a:r>
              <a:rPr lang="en-US" sz="2800" dirty="0"/>
              <a:t>✅</a:t>
            </a:r>
          </a:p>
        </p:txBody>
      </p:sp>
    </p:spTree>
    <p:extLst>
      <p:ext uri="{BB962C8B-B14F-4D97-AF65-F5344CB8AC3E}">
        <p14:creationId xmlns:p14="http://schemas.microsoft.com/office/powerpoint/2010/main" val="1808754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846C6-4114-679C-5A66-169009D1253F}"/>
              </a:ext>
            </a:extLst>
          </p:cNvPr>
          <p:cNvSpPr>
            <a:spLocks noGrp="1"/>
          </p:cNvSpPr>
          <p:nvPr>
            <p:ph type="title"/>
          </p:nvPr>
        </p:nvSpPr>
        <p:spPr/>
        <p:txBody>
          <a:bodyPr/>
          <a:lstStyle/>
          <a:p>
            <a:r>
              <a:rPr lang="en-US" dirty="0"/>
              <a:t>Future Directions</a:t>
            </a:r>
            <a:endParaRPr lang="en-US" dirty="0">
              <a:latin typeface="Candara" panose="020E0502030303020204" pitchFamily="34" charset="0"/>
            </a:endParaRPr>
          </a:p>
        </p:txBody>
      </p:sp>
      <p:sp>
        <p:nvSpPr>
          <p:cNvPr id="3" name="Content Placeholder 2">
            <a:extLst>
              <a:ext uri="{FF2B5EF4-FFF2-40B4-BE49-F238E27FC236}">
                <a16:creationId xmlns:a16="http://schemas.microsoft.com/office/drawing/2014/main" id="{9B610531-4A3B-9442-A703-A13CBF9E0AA5}"/>
              </a:ext>
            </a:extLst>
          </p:cNvPr>
          <p:cNvSpPr>
            <a:spLocks noGrp="1"/>
          </p:cNvSpPr>
          <p:nvPr>
            <p:ph idx="1"/>
          </p:nvPr>
        </p:nvSpPr>
        <p:spPr>
          <a:xfrm>
            <a:off x="838200" y="1825625"/>
            <a:ext cx="10515600" cy="3736079"/>
          </a:xfrm>
        </p:spPr>
        <p:txBody>
          <a:bodyPr/>
          <a:lstStyle/>
          <a:p>
            <a:r>
              <a:rPr lang="en-US" dirty="0">
                <a:latin typeface="Candara" panose="020E0502030303020204" pitchFamily="34" charset="0"/>
              </a:rPr>
              <a:t>Can we get a more efficient construction?</a:t>
            </a:r>
          </a:p>
          <a:p>
            <a:pPr lvl="1"/>
            <a:r>
              <a:rPr lang="en-US" dirty="0">
                <a:latin typeface="Candara" panose="020E0502030303020204" pitchFamily="34" charset="0"/>
              </a:rPr>
              <a:t>Using stronger models (AGM or GGM)?</a:t>
            </a:r>
          </a:p>
          <a:p>
            <a:pPr lvl="1"/>
            <a:r>
              <a:rPr lang="en-US" dirty="0">
                <a:latin typeface="Candara" panose="020E0502030303020204" pitchFamily="34" charset="0"/>
              </a:rPr>
              <a:t>Shorter proofs but more computation overhead, e.g., Plonk?</a:t>
            </a:r>
          </a:p>
          <a:p>
            <a:pPr lvl="1"/>
            <a:r>
              <a:rPr lang="en-US" dirty="0">
                <a:latin typeface="Candara" panose="020E0502030303020204" pitchFamily="34" charset="0"/>
              </a:rPr>
              <a:t>Avoiding structure-preserving signatures?</a:t>
            </a:r>
          </a:p>
          <a:p>
            <a:r>
              <a:rPr lang="en-US" dirty="0">
                <a:latin typeface="Candara" panose="020E0502030303020204" pitchFamily="34" charset="0"/>
              </a:rPr>
              <a:t>Implementations?</a:t>
            </a:r>
          </a:p>
          <a:p>
            <a:r>
              <a:rPr lang="en-US" dirty="0">
                <a:latin typeface="Candara" panose="020E0502030303020204" pitchFamily="34" charset="0"/>
              </a:rPr>
              <a:t>Best-of-both-worlds: Everlasting anonymity + Post-Quantum unforgeability?</a:t>
            </a:r>
          </a:p>
        </p:txBody>
      </p:sp>
      <p:sp>
        <p:nvSpPr>
          <p:cNvPr id="4" name="TextBox 3">
            <a:extLst>
              <a:ext uri="{FF2B5EF4-FFF2-40B4-BE49-F238E27FC236}">
                <a16:creationId xmlns:a16="http://schemas.microsoft.com/office/drawing/2014/main" id="{BE368FEB-338E-6E4A-B05F-0D2B22E38137}"/>
              </a:ext>
            </a:extLst>
          </p:cNvPr>
          <p:cNvSpPr txBox="1"/>
          <p:nvPr/>
        </p:nvSpPr>
        <p:spPr>
          <a:xfrm>
            <a:off x="8061960" y="5107880"/>
            <a:ext cx="3732411" cy="1384995"/>
          </a:xfrm>
          <a:prstGeom prst="rect">
            <a:avLst/>
          </a:prstGeom>
          <a:noFill/>
        </p:spPr>
        <p:txBody>
          <a:bodyPr wrap="square" rtlCol="0">
            <a:spAutoFit/>
          </a:bodyPr>
          <a:lstStyle/>
          <a:p>
            <a:r>
              <a:rPr lang="en-US" sz="2800" b="1" dirty="0">
                <a:solidFill>
                  <a:srgbClr val="C00000"/>
                </a:solidFill>
                <a:latin typeface="Candara" panose="020E0502030303020204" pitchFamily="34" charset="0"/>
              </a:rPr>
              <a:t>Thank you!! </a:t>
            </a:r>
            <a:br>
              <a:rPr lang="en-US" sz="2800" b="1" dirty="0">
                <a:solidFill>
                  <a:srgbClr val="C00000"/>
                </a:solidFill>
                <a:latin typeface="Candara" panose="020E0502030303020204" pitchFamily="34" charset="0"/>
              </a:rPr>
            </a:br>
            <a:r>
              <a:rPr lang="en-US" sz="2800" b="1" dirty="0">
                <a:solidFill>
                  <a:srgbClr val="C00000"/>
                </a:solidFill>
                <a:latin typeface="Candara" panose="020E0502030303020204" pitchFamily="34" charset="0"/>
              </a:rPr>
              <a:t>Please check out</a:t>
            </a:r>
            <a:br>
              <a:rPr lang="en-US" sz="2800" b="1" dirty="0">
                <a:solidFill>
                  <a:srgbClr val="C00000"/>
                </a:solidFill>
                <a:latin typeface="Candara" panose="020E0502030303020204" pitchFamily="34" charset="0"/>
              </a:rPr>
            </a:br>
            <a:r>
              <a:rPr lang="en-US" sz="2800" b="1" dirty="0" err="1">
                <a:solidFill>
                  <a:srgbClr val="C00000"/>
                </a:solidFill>
                <a:latin typeface="Candara" panose="020E0502030303020204" pitchFamily="34" charset="0"/>
              </a:rPr>
              <a:t>ePrint</a:t>
            </a:r>
            <a:r>
              <a:rPr lang="en-US" sz="2800" b="1" dirty="0">
                <a:solidFill>
                  <a:srgbClr val="C00000"/>
                </a:solidFill>
                <a:latin typeface="Candara" panose="020E0502030303020204" pitchFamily="34" charset="0"/>
              </a:rPr>
              <a:t>: 2025/1030</a:t>
            </a:r>
          </a:p>
        </p:txBody>
      </p:sp>
    </p:spTree>
    <p:extLst>
      <p:ext uri="{BB962C8B-B14F-4D97-AF65-F5344CB8AC3E}">
        <p14:creationId xmlns:p14="http://schemas.microsoft.com/office/powerpoint/2010/main" val="3932217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andara">
      <a:maj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17873</TotalTime>
  <Words>3663</Words>
  <Application>Microsoft Macintosh PowerPoint</Application>
  <PresentationFormat>Widescreen</PresentationFormat>
  <Paragraphs>453</Paragraphs>
  <Slides>21</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Symbol</vt:lpstr>
      <vt:lpstr>Cambria Math</vt:lpstr>
      <vt:lpstr>Aptos</vt:lpstr>
      <vt:lpstr>Candara</vt:lpstr>
      <vt:lpstr>Office Theme</vt:lpstr>
      <vt:lpstr>Everlasting Anonymous  Rate-Limited Tokens</vt:lpstr>
      <vt:lpstr>Anonymous Tokens</vt:lpstr>
      <vt:lpstr>Rate-Limitation</vt:lpstr>
      <vt:lpstr>Prior Constructions [CHL’05, CHKLM’06]</vt:lpstr>
      <vt:lpstr>Post-Quantum Anonymity vs Unforgeability</vt:lpstr>
      <vt:lpstr>Achieving Post-quantum Anonymity</vt:lpstr>
      <vt:lpstr>Lattice-Based Constructions of similar primitives</vt:lpstr>
      <vt:lpstr>Achieving Post-quantum Anonymity</vt:lpstr>
      <vt:lpstr>Our Results</vt:lpstr>
      <vt:lpstr>Comparison with Lattice-Based Constructions of similar primitives</vt:lpstr>
      <vt:lpstr>Definition of (Everlasting) Anonymity</vt:lpstr>
      <vt:lpstr>Anonymity: Real World</vt:lpstr>
      <vt:lpstr>Anonymity: Ideal World</vt:lpstr>
      <vt:lpstr>Strawman Solution: Random Degree-k Polynomial</vt:lpstr>
      <vt:lpstr>PowerPoint Presentation</vt:lpstr>
      <vt:lpstr>PowerPoint Presentation</vt:lpstr>
      <vt:lpstr>Our approach at a high-level</vt:lpstr>
      <vt:lpstr>Statistically Pseudorandom Function with faster evaluation [Pagh-Pagh’08,BHNK’18]</vt:lpstr>
      <vt:lpstr>Modifications amenable to group-based techniques</vt:lpstr>
      <vt:lpstr>Summary</vt:lpstr>
      <vt:lpstr>Future Directions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Champ Chairattana-apirom</dc:creator>
  <cp:lastModifiedBy>Champ Chairattana-apirom</cp:lastModifiedBy>
  <cp:revision>121</cp:revision>
  <dcterms:created xsi:type="dcterms:W3CDTF">2025-11-22T00:18:34Z</dcterms:created>
  <dcterms:modified xsi:type="dcterms:W3CDTF">2025-12-07T12:59:04Z</dcterms:modified>
</cp:coreProperties>
</file>